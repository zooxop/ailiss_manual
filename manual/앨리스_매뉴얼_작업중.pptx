
<file path=[Content_Types].xml><?xml version="1.0" encoding="utf-8"?>
<Types xmlns="http://schemas.openxmlformats.org/package/2006/content-types">
  <Override PartName="/ppt/slides/slide6.xml" ContentType="application/vnd.openxmlformats-officedocument.presentationml.slide+xml"/>
  <Override PartName="/ppt/slides/slide29.xml" ContentType="application/vnd.openxmlformats-officedocument.presentationml.slide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presProps.xml" ContentType="application/vnd.openxmlformats-officedocument.presentationml.presProps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theme/theme1.xml" ContentType="application/vnd.openxmlformats-officedocument.theme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notesMasters/notesMaster1.xml" ContentType="application/vnd.openxmlformats-officedocument.presentationml.notesMaster+xml"/>
  <Override PartName="/ppt/slideLayouts/slideLayout1.xml" ContentType="application/vnd.openxmlformats-officedocument.presentationml.slideLayout+xml"/>
  <Override PartName="/docProps/app.xml" ContentType="application/vnd.openxmlformats-officedocument.extended-properties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tableStyles.xml" ContentType="application/vnd.openxmlformats-officedocument.presentationml.tableStyles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handoutMasters/handoutMaster1.xml" ContentType="application/vnd.openxmlformats-officedocument.presentationml.handoutMaster+xml"/>
  <Override PartName="/ppt/viewProps.xml" ContentType="application/vnd.openxmlformats-officedocument.presentationml.viewProps+xml"/>
  <Override PartName="/ppt/slideLayouts/slideLayout9.xml" ContentType="application/vnd.openxmlformats-officedocument.presentationml.slideLayout+xml"/>
  <Override PartName="/docProps/core.xml" ContentType="application/vnd.openxmlformats-package.core-properties+xml"/>
  <Override PartName="/ppt/slides/slide5.xml" ContentType="application/vnd.openxmlformats-officedocument.presentationml.slide+xml"/>
  <Override PartName="/ppt/slides/slide19.xml" ContentType="application/vnd.openxmlformats-officedocument.presentationml.slide+xml"/>
  <Override PartName="/ppt/slides/slide28.xml" ContentType="application/vnd.openxmlformats-officedocument.presentationml.slide+xml"/>
  <Override PartName="/ppt/slideLayouts/slideLayout7.xml" ContentType="application/vnd.openxmlformats-officedocument.presentationml.slideLayout+xml"/>
  <Default Extension="png" ContentType="image/png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firstSlideNum="0" saveSubsetFonts="1">
  <p:sldMasterIdLst>
    <p:sldMasterId id="2147483660" r:id="rId1"/>
  </p:sldMasterIdLst>
  <p:notesMasterIdLst>
    <p:notesMasterId r:id="rId31"/>
  </p:notesMasterIdLst>
  <p:handoutMasterIdLst>
    <p:handoutMasterId r:id="rId32"/>
  </p:handoutMasterIdLst>
  <p:sldIdLst>
    <p:sldId id="400" r:id="rId2"/>
    <p:sldId id="258" r:id="rId3"/>
    <p:sldId id="403" r:id="rId4"/>
    <p:sldId id="405" r:id="rId5"/>
    <p:sldId id="406" r:id="rId6"/>
    <p:sldId id="407" r:id="rId7"/>
    <p:sldId id="408" r:id="rId8"/>
    <p:sldId id="416" r:id="rId9"/>
    <p:sldId id="417" r:id="rId10"/>
    <p:sldId id="420" r:id="rId11"/>
    <p:sldId id="418" r:id="rId12"/>
    <p:sldId id="419" r:id="rId13"/>
    <p:sldId id="424" r:id="rId14"/>
    <p:sldId id="421" r:id="rId15"/>
    <p:sldId id="422" r:id="rId16"/>
    <p:sldId id="423" r:id="rId17"/>
    <p:sldId id="426" r:id="rId18"/>
    <p:sldId id="413" r:id="rId19"/>
    <p:sldId id="414" r:id="rId20"/>
    <p:sldId id="425" r:id="rId21"/>
    <p:sldId id="427" r:id="rId22"/>
    <p:sldId id="428" r:id="rId23"/>
    <p:sldId id="433" r:id="rId24"/>
    <p:sldId id="434" r:id="rId25"/>
    <p:sldId id="435" r:id="rId26"/>
    <p:sldId id="429" r:id="rId27"/>
    <p:sldId id="430" r:id="rId28"/>
    <p:sldId id="431" r:id="rId29"/>
    <p:sldId id="432" r:id="rId30"/>
  </p:sldIdLst>
  <p:sldSz cx="9906000" cy="6858000" type="A4"/>
  <p:notesSz cx="9939338" cy="6807200"/>
  <p:defaultTextStyle>
    <a:defPPr>
      <a:defRPr lang="ko-KR"/>
    </a:defPPr>
    <a:lvl1pPr algn="l" rtl="0" fontAlgn="base" latinLnBrk="1">
      <a:spcBef>
        <a:spcPct val="0"/>
      </a:spcBef>
      <a:spcAft>
        <a:spcPct val="0"/>
      </a:spcAft>
      <a:defRPr kumimoji="1" kern="1200">
        <a:solidFill>
          <a:schemeClr val="tx1"/>
        </a:solidFill>
        <a:latin typeface="굴림" charset="-127"/>
        <a:ea typeface="굴림" charset="-127"/>
        <a:cs typeface="+mn-cs"/>
      </a:defRPr>
    </a:lvl1pPr>
    <a:lvl2pPr marL="457200" algn="l" rtl="0" fontAlgn="base" latinLnBrk="1">
      <a:spcBef>
        <a:spcPct val="0"/>
      </a:spcBef>
      <a:spcAft>
        <a:spcPct val="0"/>
      </a:spcAft>
      <a:defRPr kumimoji="1" kern="1200">
        <a:solidFill>
          <a:schemeClr val="tx1"/>
        </a:solidFill>
        <a:latin typeface="굴림" charset="-127"/>
        <a:ea typeface="굴림" charset="-127"/>
        <a:cs typeface="+mn-cs"/>
      </a:defRPr>
    </a:lvl2pPr>
    <a:lvl3pPr marL="914400" algn="l" rtl="0" fontAlgn="base" latinLnBrk="1">
      <a:spcBef>
        <a:spcPct val="0"/>
      </a:spcBef>
      <a:spcAft>
        <a:spcPct val="0"/>
      </a:spcAft>
      <a:defRPr kumimoji="1" kern="1200">
        <a:solidFill>
          <a:schemeClr val="tx1"/>
        </a:solidFill>
        <a:latin typeface="굴림" charset="-127"/>
        <a:ea typeface="굴림" charset="-127"/>
        <a:cs typeface="+mn-cs"/>
      </a:defRPr>
    </a:lvl3pPr>
    <a:lvl4pPr marL="1371600" algn="l" rtl="0" fontAlgn="base" latinLnBrk="1">
      <a:spcBef>
        <a:spcPct val="0"/>
      </a:spcBef>
      <a:spcAft>
        <a:spcPct val="0"/>
      </a:spcAft>
      <a:defRPr kumimoji="1" kern="1200">
        <a:solidFill>
          <a:schemeClr val="tx1"/>
        </a:solidFill>
        <a:latin typeface="굴림" charset="-127"/>
        <a:ea typeface="굴림" charset="-127"/>
        <a:cs typeface="+mn-cs"/>
      </a:defRPr>
    </a:lvl4pPr>
    <a:lvl5pPr marL="1828800" algn="l" rtl="0" fontAlgn="base" latinLnBrk="1">
      <a:spcBef>
        <a:spcPct val="0"/>
      </a:spcBef>
      <a:spcAft>
        <a:spcPct val="0"/>
      </a:spcAft>
      <a:defRPr kumimoji="1" kern="1200">
        <a:solidFill>
          <a:schemeClr val="tx1"/>
        </a:solidFill>
        <a:latin typeface="굴림" charset="-127"/>
        <a:ea typeface="굴림" charset="-127"/>
        <a:cs typeface="+mn-cs"/>
      </a:defRPr>
    </a:lvl5pPr>
    <a:lvl6pPr marL="2286000" algn="l" defTabSz="914400" rtl="0" eaLnBrk="1" latinLnBrk="1" hangingPunct="1">
      <a:defRPr kumimoji="1" kern="1200">
        <a:solidFill>
          <a:schemeClr val="tx1"/>
        </a:solidFill>
        <a:latin typeface="굴림" charset="-127"/>
        <a:ea typeface="굴림" charset="-127"/>
        <a:cs typeface="+mn-cs"/>
      </a:defRPr>
    </a:lvl6pPr>
    <a:lvl7pPr marL="2743200" algn="l" defTabSz="914400" rtl="0" eaLnBrk="1" latinLnBrk="1" hangingPunct="1">
      <a:defRPr kumimoji="1" kern="1200">
        <a:solidFill>
          <a:schemeClr val="tx1"/>
        </a:solidFill>
        <a:latin typeface="굴림" charset="-127"/>
        <a:ea typeface="굴림" charset="-127"/>
        <a:cs typeface="+mn-cs"/>
      </a:defRPr>
    </a:lvl7pPr>
    <a:lvl8pPr marL="3200400" algn="l" defTabSz="914400" rtl="0" eaLnBrk="1" latinLnBrk="1" hangingPunct="1">
      <a:defRPr kumimoji="1" kern="1200">
        <a:solidFill>
          <a:schemeClr val="tx1"/>
        </a:solidFill>
        <a:latin typeface="굴림" charset="-127"/>
        <a:ea typeface="굴림" charset="-127"/>
        <a:cs typeface="+mn-cs"/>
      </a:defRPr>
    </a:lvl8pPr>
    <a:lvl9pPr marL="3657600" algn="l" defTabSz="914400" rtl="0" eaLnBrk="1" latinLnBrk="1" hangingPunct="1">
      <a:defRPr kumimoji="1" kern="1200">
        <a:solidFill>
          <a:schemeClr val="tx1"/>
        </a:solidFill>
        <a:latin typeface="굴림" charset="-127"/>
        <a:ea typeface="굴림" charset="-127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BED395"/>
  </p:clrMru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showOutlineIcons="0" horzBarState="maximized">
    <p:restoredLeft sz="6583" autoAdjust="0"/>
    <p:restoredTop sz="94660" autoAdjust="0"/>
  </p:normalViewPr>
  <p:slideViewPr>
    <p:cSldViewPr>
      <p:cViewPr varScale="1">
        <p:scale>
          <a:sx n="116" d="100"/>
          <a:sy n="116" d="100"/>
        </p:scale>
        <p:origin x="-1710" y="-96"/>
      </p:cViewPr>
      <p:guideLst>
        <p:guide orient="horz" pos="935"/>
        <p:guide pos="2712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notesViewPr>
    <p:cSldViewPr>
      <p:cViewPr varScale="1">
        <p:scale>
          <a:sx n="87" d="100"/>
          <a:sy n="87" d="100"/>
        </p:scale>
        <p:origin x="-1398" y="-84"/>
      </p:cViewPr>
      <p:guideLst>
        <p:guide orient="horz" pos="2144"/>
        <p:guide pos="3131"/>
      </p:guideLst>
    </p:cSldViewPr>
  </p:notesViewPr>
  <p:gridSpacing cx="73736200" cy="7373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handoutMaster" Target="handoutMasters/handout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theme" Target="theme/theme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4306888" cy="33972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 fontAlgn="auto">
              <a:spcBef>
                <a:spcPts val="0"/>
              </a:spcBef>
              <a:spcAft>
                <a:spcPts val="0"/>
              </a:spcAft>
              <a:defRPr kumimoji="0" sz="1200">
                <a:latin typeface="+mn-lt"/>
                <a:ea typeface="+mn-ea"/>
              </a:defRPr>
            </a:lvl1pPr>
          </a:lstStyle>
          <a:p>
            <a:pPr>
              <a:defRPr/>
            </a:pPr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sz="quarter" idx="1"/>
          </p:nvPr>
        </p:nvSpPr>
        <p:spPr>
          <a:xfrm>
            <a:off x="5630863" y="0"/>
            <a:ext cx="4306887" cy="33972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 fontAlgn="auto">
              <a:spcBef>
                <a:spcPts val="0"/>
              </a:spcBef>
              <a:spcAft>
                <a:spcPts val="0"/>
              </a:spcAft>
              <a:defRPr kumimoji="0" sz="1200">
                <a:latin typeface="+mn-lt"/>
                <a:ea typeface="+mn-ea"/>
              </a:defRPr>
            </a:lvl1pPr>
          </a:lstStyle>
          <a:p>
            <a:pPr>
              <a:defRPr/>
            </a:pPr>
            <a:fld id="{664829D3-746C-492A-B535-74211852E1E7}" type="datetimeFigureOut">
              <a:rPr lang="ko-KR" altLang="en-US"/>
              <a:pPr>
                <a:defRPr/>
              </a:pPr>
              <a:t>2017-02-15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2"/>
          </p:nvPr>
        </p:nvSpPr>
        <p:spPr>
          <a:xfrm>
            <a:off x="0" y="6465888"/>
            <a:ext cx="4306888" cy="33972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 fontAlgn="auto">
              <a:spcBef>
                <a:spcPts val="0"/>
              </a:spcBef>
              <a:spcAft>
                <a:spcPts val="0"/>
              </a:spcAft>
              <a:defRPr kumimoji="0" sz="1200">
                <a:latin typeface="+mn-lt"/>
                <a:ea typeface="+mn-ea"/>
              </a:defRPr>
            </a:lvl1pPr>
          </a:lstStyle>
          <a:p>
            <a:pPr>
              <a:defRPr/>
            </a:pPr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3"/>
          </p:nvPr>
        </p:nvSpPr>
        <p:spPr>
          <a:xfrm>
            <a:off x="5630863" y="6465888"/>
            <a:ext cx="4306887" cy="33972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 fontAlgn="auto">
              <a:spcBef>
                <a:spcPts val="0"/>
              </a:spcBef>
              <a:spcAft>
                <a:spcPts val="0"/>
              </a:spcAft>
              <a:defRPr kumimoji="0" sz="1200">
                <a:latin typeface="+mn-lt"/>
                <a:ea typeface="+mn-ea"/>
              </a:defRPr>
            </a:lvl1pPr>
          </a:lstStyle>
          <a:p>
            <a:pPr>
              <a:defRPr/>
            </a:pPr>
            <a:fld id="{3553BE64-0F3E-4521-8FAC-3E16D95B93C6}" type="slidenum">
              <a:rPr lang="ko-KR" altLang="en-US"/>
              <a:pPr>
                <a:defRPr/>
              </a:pPr>
              <a:t>‹#›</a:t>
            </a:fld>
            <a:endParaRPr lang="ko-KR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4306888" cy="33972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 fontAlgn="auto">
              <a:spcBef>
                <a:spcPts val="0"/>
              </a:spcBef>
              <a:spcAft>
                <a:spcPts val="0"/>
              </a:spcAft>
              <a:defRPr kumimoji="0" sz="1200">
                <a:latin typeface="+mn-lt"/>
                <a:ea typeface="+mn-ea"/>
              </a:defRPr>
            </a:lvl1pPr>
          </a:lstStyle>
          <a:p>
            <a:pPr>
              <a:defRPr/>
            </a:pPr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5630863" y="0"/>
            <a:ext cx="4306887" cy="33972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 fontAlgn="auto">
              <a:spcBef>
                <a:spcPts val="0"/>
              </a:spcBef>
              <a:spcAft>
                <a:spcPts val="0"/>
              </a:spcAft>
              <a:defRPr kumimoji="0" sz="1200">
                <a:latin typeface="+mn-lt"/>
                <a:ea typeface="+mn-ea"/>
              </a:defRPr>
            </a:lvl1pPr>
          </a:lstStyle>
          <a:p>
            <a:pPr>
              <a:defRPr/>
            </a:pPr>
            <a:fld id="{201DBAEE-90F3-4D60-8273-847FCCCA3E8E}" type="datetimeFigureOut">
              <a:rPr lang="ko-KR" altLang="en-US"/>
              <a:pPr>
                <a:defRPr/>
              </a:pPr>
              <a:t>2017-02-15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3125788" y="511175"/>
            <a:ext cx="3687762" cy="25527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lvl="0"/>
            <a:endParaRPr lang="ko-KR" altLang="en-US" noProof="0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993775" y="3233738"/>
            <a:ext cx="7951788" cy="306228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 noProof="0" smtClean="0"/>
              <a:t>마스터 텍스트 스타일을 편집합니다</a:t>
            </a:r>
          </a:p>
          <a:p>
            <a:pPr lvl="1"/>
            <a:r>
              <a:rPr lang="ko-KR" altLang="en-US" noProof="0" smtClean="0"/>
              <a:t>둘째 수준</a:t>
            </a:r>
          </a:p>
          <a:p>
            <a:pPr lvl="2"/>
            <a:r>
              <a:rPr lang="ko-KR" altLang="en-US" noProof="0" smtClean="0"/>
              <a:t>셋째 수준</a:t>
            </a:r>
          </a:p>
          <a:p>
            <a:pPr lvl="3"/>
            <a:r>
              <a:rPr lang="ko-KR" altLang="en-US" noProof="0" smtClean="0"/>
              <a:t>넷째 수준</a:t>
            </a:r>
          </a:p>
          <a:p>
            <a:pPr lvl="4"/>
            <a:r>
              <a:rPr lang="ko-KR" altLang="en-US" noProof="0" smtClean="0"/>
              <a:t>다섯째 수준</a:t>
            </a:r>
            <a:endParaRPr lang="ko-KR" altLang="en-US" noProof="0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6465888"/>
            <a:ext cx="4306888" cy="33972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 fontAlgn="auto">
              <a:spcBef>
                <a:spcPts val="0"/>
              </a:spcBef>
              <a:spcAft>
                <a:spcPts val="0"/>
              </a:spcAft>
              <a:defRPr kumimoji="0" sz="1200">
                <a:latin typeface="+mn-lt"/>
                <a:ea typeface="+mn-ea"/>
              </a:defRPr>
            </a:lvl1pPr>
          </a:lstStyle>
          <a:p>
            <a:pPr>
              <a:defRPr/>
            </a:pPr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5630863" y="6465888"/>
            <a:ext cx="4306887" cy="33972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 fontAlgn="auto">
              <a:spcBef>
                <a:spcPts val="0"/>
              </a:spcBef>
              <a:spcAft>
                <a:spcPts val="0"/>
              </a:spcAft>
              <a:defRPr kumimoji="0" sz="1200">
                <a:latin typeface="+mn-lt"/>
                <a:ea typeface="+mn-ea"/>
              </a:defRPr>
            </a:lvl1pPr>
          </a:lstStyle>
          <a:p>
            <a:pPr>
              <a:defRPr/>
            </a:pPr>
            <a:fld id="{3B4F24FA-447D-4D57-A2C3-B49BDDD23AAC}" type="slidenum">
              <a:rPr lang="ko-KR" altLang="en-US"/>
              <a:pPr>
                <a:defRPr/>
              </a:pPr>
              <a:t>‹#›</a:t>
            </a:fld>
            <a:endParaRPr lang="ko-KR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algn="l" rtl="0" eaLnBrk="0" fontAlgn="base" latinLnBrk="1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rtl="0" eaLnBrk="0" fontAlgn="base" latinLnBrk="1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rtl="0" eaLnBrk="0" fontAlgn="base" latinLnBrk="1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rtl="0" eaLnBrk="0" fontAlgn="base" latinLnBrk="1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rtl="0" eaLnBrk="0" fontAlgn="base" latinLnBrk="1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742950" y="2130425"/>
            <a:ext cx="8420100" cy="1470025"/>
          </a:xfrm>
          <a:prstGeom prst="rect">
            <a:avLst/>
          </a:prstGeom>
        </p:spPr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1485900" y="3886200"/>
            <a:ext cx="6934200" cy="1752600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ko-KR" altLang="en-US" smtClean="0"/>
              <a:t>마스터 부제목 스타일 편집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>
          <a:xfrm>
            <a:off x="495300" y="6356350"/>
            <a:ext cx="2311400" cy="365125"/>
          </a:xfrm>
          <a:prstGeom prst="rect">
            <a:avLst/>
          </a:prstGeom>
        </p:spPr>
        <p:txBody>
          <a:bodyPr/>
          <a:lstStyle>
            <a:lvl1pPr fontAlgn="auto">
              <a:spcBef>
                <a:spcPts val="0"/>
              </a:spcBef>
              <a:spcAft>
                <a:spcPts val="0"/>
              </a:spcAft>
              <a:defRPr kumimoji="0">
                <a:latin typeface="+mn-lt"/>
                <a:ea typeface="+mn-ea"/>
              </a:defRPr>
            </a:lvl1pPr>
          </a:lstStyle>
          <a:p>
            <a:pPr>
              <a:defRPr/>
            </a:pPr>
            <a:fld id="{B2373B02-72D4-45CA-8A8B-078A0A57C420}" type="datetimeFigureOut">
              <a:rPr lang="ko-KR" altLang="en-US"/>
              <a:pPr>
                <a:defRPr/>
              </a:pPr>
              <a:t>2017-02-15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>
          <a:xfrm>
            <a:off x="3384550" y="6356350"/>
            <a:ext cx="3136900" cy="365125"/>
          </a:xfrm>
          <a:prstGeom prst="rect">
            <a:avLst/>
          </a:prstGeom>
        </p:spPr>
        <p:txBody>
          <a:bodyPr/>
          <a:lstStyle>
            <a:lvl1pPr fontAlgn="auto">
              <a:spcBef>
                <a:spcPts val="0"/>
              </a:spcBef>
              <a:spcAft>
                <a:spcPts val="0"/>
              </a:spcAft>
              <a:defRPr kumimoji="0">
                <a:latin typeface="+mn-lt"/>
                <a:ea typeface="+mn-ea"/>
              </a:defRPr>
            </a:lvl1pPr>
          </a:lstStyle>
          <a:p>
            <a:pPr>
              <a:defRPr/>
            </a:pPr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5135E2F8-7F66-4A31-BC0B-8350CBE42872}" type="slidenum">
              <a:rPr lang="ko-KR" altLang="en-US"/>
              <a:pPr>
                <a:defRPr/>
              </a:pPr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495300" y="274638"/>
            <a:ext cx="8915400" cy="1143000"/>
          </a:xfrm>
          <a:prstGeom prst="rect">
            <a:avLst/>
          </a:prstGeom>
        </p:spPr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495300" y="1600200"/>
            <a:ext cx="8915400" cy="4525963"/>
          </a:xfrm>
          <a:prstGeom prst="rect">
            <a:avLst/>
          </a:prstGeom>
        </p:spPr>
        <p:txBody>
          <a:bodyPr/>
          <a:lstStyle/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>
          <a:xfrm>
            <a:off x="495300" y="6356350"/>
            <a:ext cx="2311400" cy="365125"/>
          </a:xfrm>
          <a:prstGeom prst="rect">
            <a:avLst/>
          </a:prstGeom>
        </p:spPr>
        <p:txBody>
          <a:bodyPr/>
          <a:lstStyle>
            <a:lvl1pPr fontAlgn="auto">
              <a:spcBef>
                <a:spcPts val="0"/>
              </a:spcBef>
              <a:spcAft>
                <a:spcPts val="0"/>
              </a:spcAft>
              <a:defRPr kumimoji="0">
                <a:latin typeface="+mn-lt"/>
                <a:ea typeface="+mn-ea"/>
              </a:defRPr>
            </a:lvl1pPr>
          </a:lstStyle>
          <a:p>
            <a:pPr>
              <a:defRPr/>
            </a:pPr>
            <a:fld id="{80834DD4-1401-4CFB-B596-A74DBD21BD00}" type="datetimeFigureOut">
              <a:rPr lang="ko-KR" altLang="en-US"/>
              <a:pPr>
                <a:defRPr/>
              </a:pPr>
              <a:t>2017-02-15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>
          <a:xfrm>
            <a:off x="3384550" y="6356350"/>
            <a:ext cx="3136900" cy="365125"/>
          </a:xfrm>
          <a:prstGeom prst="rect">
            <a:avLst/>
          </a:prstGeom>
        </p:spPr>
        <p:txBody>
          <a:bodyPr/>
          <a:lstStyle>
            <a:lvl1pPr fontAlgn="auto">
              <a:spcBef>
                <a:spcPts val="0"/>
              </a:spcBef>
              <a:spcAft>
                <a:spcPts val="0"/>
              </a:spcAft>
              <a:defRPr kumimoji="0">
                <a:latin typeface="+mn-lt"/>
                <a:ea typeface="+mn-ea"/>
              </a:defRPr>
            </a:lvl1pPr>
          </a:lstStyle>
          <a:p>
            <a:pPr>
              <a:defRPr/>
            </a:pPr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FF1D31D9-8EF5-43C9-ABB1-29ECDF9A69AF}" type="slidenum">
              <a:rPr lang="ko-KR" altLang="en-US"/>
              <a:pPr>
                <a:defRPr/>
              </a:pPr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782638" y="4406900"/>
            <a:ext cx="8420100" cy="1362075"/>
          </a:xfrm>
          <a:prstGeom prst="rect">
            <a:avLst/>
          </a:prstGeo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782638" y="2906713"/>
            <a:ext cx="8420100" cy="1500187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>
          <a:xfrm>
            <a:off x="495300" y="6356350"/>
            <a:ext cx="2311400" cy="365125"/>
          </a:xfrm>
          <a:prstGeom prst="rect">
            <a:avLst/>
          </a:prstGeom>
        </p:spPr>
        <p:txBody>
          <a:bodyPr/>
          <a:lstStyle>
            <a:lvl1pPr fontAlgn="auto">
              <a:spcBef>
                <a:spcPts val="0"/>
              </a:spcBef>
              <a:spcAft>
                <a:spcPts val="0"/>
              </a:spcAft>
              <a:defRPr kumimoji="0">
                <a:latin typeface="+mn-lt"/>
                <a:ea typeface="+mn-ea"/>
              </a:defRPr>
            </a:lvl1pPr>
          </a:lstStyle>
          <a:p>
            <a:pPr>
              <a:defRPr/>
            </a:pPr>
            <a:fld id="{B2806167-A31C-4F7D-A890-3769C8F747FC}" type="datetimeFigureOut">
              <a:rPr lang="ko-KR" altLang="en-US"/>
              <a:pPr>
                <a:defRPr/>
              </a:pPr>
              <a:t>2017-02-15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>
          <a:xfrm>
            <a:off x="3384550" y="6356350"/>
            <a:ext cx="3136900" cy="365125"/>
          </a:xfrm>
          <a:prstGeom prst="rect">
            <a:avLst/>
          </a:prstGeom>
        </p:spPr>
        <p:txBody>
          <a:bodyPr/>
          <a:lstStyle>
            <a:lvl1pPr fontAlgn="auto">
              <a:spcBef>
                <a:spcPts val="0"/>
              </a:spcBef>
              <a:spcAft>
                <a:spcPts val="0"/>
              </a:spcAft>
              <a:defRPr kumimoji="0">
                <a:latin typeface="+mn-lt"/>
                <a:ea typeface="+mn-ea"/>
              </a:defRPr>
            </a:lvl1pPr>
          </a:lstStyle>
          <a:p>
            <a:pPr>
              <a:defRPr/>
            </a:pPr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0C462FC1-78CF-4BC4-9B12-73E516CFA427}" type="slidenum">
              <a:rPr lang="ko-KR" altLang="en-US"/>
              <a:pPr>
                <a:defRPr/>
              </a:pPr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495300" y="274638"/>
            <a:ext cx="8915400" cy="1143000"/>
          </a:xfrm>
          <a:prstGeom prst="rect">
            <a:avLst/>
          </a:prstGeom>
        </p:spPr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sz="half" idx="1"/>
          </p:nvPr>
        </p:nvSpPr>
        <p:spPr>
          <a:xfrm>
            <a:off x="495300" y="1600200"/>
            <a:ext cx="4381500" cy="452596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5029200" y="1600200"/>
            <a:ext cx="4381500" cy="452596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>
          <a:xfrm>
            <a:off x="495300" y="6356350"/>
            <a:ext cx="2311400" cy="365125"/>
          </a:xfrm>
          <a:prstGeom prst="rect">
            <a:avLst/>
          </a:prstGeom>
        </p:spPr>
        <p:txBody>
          <a:bodyPr/>
          <a:lstStyle>
            <a:lvl1pPr fontAlgn="auto">
              <a:spcBef>
                <a:spcPts val="0"/>
              </a:spcBef>
              <a:spcAft>
                <a:spcPts val="0"/>
              </a:spcAft>
              <a:defRPr kumimoji="0">
                <a:latin typeface="+mn-lt"/>
                <a:ea typeface="+mn-ea"/>
              </a:defRPr>
            </a:lvl1pPr>
          </a:lstStyle>
          <a:p>
            <a:pPr>
              <a:defRPr/>
            </a:pPr>
            <a:fld id="{C50105EA-A053-46BF-BBDF-744EC21B5AA4}" type="datetimeFigureOut">
              <a:rPr lang="ko-KR" altLang="en-US"/>
              <a:pPr>
                <a:defRPr/>
              </a:pPr>
              <a:t>2017-02-15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>
          <a:xfrm>
            <a:off x="3384550" y="6356350"/>
            <a:ext cx="3136900" cy="365125"/>
          </a:xfrm>
          <a:prstGeom prst="rect">
            <a:avLst/>
          </a:prstGeom>
        </p:spPr>
        <p:txBody>
          <a:bodyPr/>
          <a:lstStyle>
            <a:lvl1pPr fontAlgn="auto">
              <a:spcBef>
                <a:spcPts val="0"/>
              </a:spcBef>
              <a:spcAft>
                <a:spcPts val="0"/>
              </a:spcAft>
              <a:defRPr kumimoji="0">
                <a:latin typeface="+mn-lt"/>
                <a:ea typeface="+mn-ea"/>
              </a:defRPr>
            </a:lvl1pPr>
          </a:lstStyle>
          <a:p>
            <a:pPr>
              <a:defRPr/>
            </a:pPr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88D4188F-8B72-4058-82B7-3C94E91D2577}" type="slidenum">
              <a:rPr lang="ko-KR" altLang="en-US"/>
              <a:pPr>
                <a:defRPr/>
              </a:pPr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495300" y="274638"/>
            <a:ext cx="8915400" cy="1143000"/>
          </a:xfrm>
          <a:prstGeom prst="rect">
            <a:avLst/>
          </a:prstGeom>
        </p:spPr>
        <p:txBody>
          <a:bodyPr/>
          <a:lstStyle>
            <a:lvl1pPr>
              <a:defRPr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495300" y="1535113"/>
            <a:ext cx="4376738" cy="639762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495300" y="2174875"/>
            <a:ext cx="4376738" cy="3951288"/>
          </a:xfrm>
          <a:prstGeom prst="rect">
            <a:avLst/>
          </a:prstGeo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3"/>
          </p:nvPr>
        </p:nvSpPr>
        <p:spPr>
          <a:xfrm>
            <a:off x="5032375" y="1535113"/>
            <a:ext cx="4378325" cy="639762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</p:txBody>
      </p:sp>
      <p:sp>
        <p:nvSpPr>
          <p:cNvPr id="6" name="내용 개체 틀 5"/>
          <p:cNvSpPr>
            <a:spLocks noGrp="1"/>
          </p:cNvSpPr>
          <p:nvPr>
            <p:ph sz="quarter" idx="4"/>
          </p:nvPr>
        </p:nvSpPr>
        <p:spPr>
          <a:xfrm>
            <a:off x="5032375" y="2174875"/>
            <a:ext cx="4378325" cy="3951288"/>
          </a:xfrm>
          <a:prstGeom prst="rect">
            <a:avLst/>
          </a:prstGeo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7" name="날짜 개체 틀 6"/>
          <p:cNvSpPr>
            <a:spLocks noGrp="1"/>
          </p:cNvSpPr>
          <p:nvPr>
            <p:ph type="dt" sz="half" idx="10"/>
          </p:nvPr>
        </p:nvSpPr>
        <p:spPr>
          <a:xfrm>
            <a:off x="495300" y="6356350"/>
            <a:ext cx="2311400" cy="365125"/>
          </a:xfrm>
          <a:prstGeom prst="rect">
            <a:avLst/>
          </a:prstGeom>
        </p:spPr>
        <p:txBody>
          <a:bodyPr/>
          <a:lstStyle>
            <a:lvl1pPr fontAlgn="auto">
              <a:spcBef>
                <a:spcPts val="0"/>
              </a:spcBef>
              <a:spcAft>
                <a:spcPts val="0"/>
              </a:spcAft>
              <a:defRPr kumimoji="0">
                <a:latin typeface="+mn-lt"/>
                <a:ea typeface="+mn-ea"/>
              </a:defRPr>
            </a:lvl1pPr>
          </a:lstStyle>
          <a:p>
            <a:pPr>
              <a:defRPr/>
            </a:pPr>
            <a:fld id="{68138F6C-8FCF-4624-B168-D396D1776FC2}" type="datetimeFigureOut">
              <a:rPr lang="ko-KR" altLang="en-US"/>
              <a:pPr>
                <a:defRPr/>
              </a:pPr>
              <a:t>2017-02-15</a:t>
            </a:fld>
            <a:endParaRPr lang="ko-KR" altLang="en-US"/>
          </a:p>
        </p:txBody>
      </p:sp>
      <p:sp>
        <p:nvSpPr>
          <p:cNvPr id="8" name="바닥글 개체 틀 7"/>
          <p:cNvSpPr>
            <a:spLocks noGrp="1"/>
          </p:cNvSpPr>
          <p:nvPr>
            <p:ph type="ftr" sz="quarter" idx="11"/>
          </p:nvPr>
        </p:nvSpPr>
        <p:spPr>
          <a:xfrm>
            <a:off x="3384550" y="6356350"/>
            <a:ext cx="3136900" cy="365125"/>
          </a:xfrm>
          <a:prstGeom prst="rect">
            <a:avLst/>
          </a:prstGeom>
        </p:spPr>
        <p:txBody>
          <a:bodyPr/>
          <a:lstStyle>
            <a:lvl1pPr fontAlgn="auto">
              <a:spcBef>
                <a:spcPts val="0"/>
              </a:spcBef>
              <a:spcAft>
                <a:spcPts val="0"/>
              </a:spcAft>
              <a:defRPr kumimoji="0">
                <a:latin typeface="+mn-lt"/>
                <a:ea typeface="+mn-ea"/>
              </a:defRPr>
            </a:lvl1pPr>
          </a:lstStyle>
          <a:p>
            <a:pPr>
              <a:defRPr/>
            </a:pPr>
            <a:endParaRPr lang="ko-KR" altLang="en-US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6C7D0227-9D2B-4017-A601-7923C2FE6538}" type="slidenum">
              <a:rPr lang="ko-KR" altLang="en-US"/>
              <a:pPr>
                <a:defRPr/>
              </a:pPr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495300" y="274638"/>
            <a:ext cx="8915400" cy="1143000"/>
          </a:xfrm>
          <a:prstGeom prst="rect">
            <a:avLst/>
          </a:prstGeom>
        </p:spPr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sz="half" idx="10"/>
          </p:nvPr>
        </p:nvSpPr>
        <p:spPr>
          <a:xfrm>
            <a:off x="495300" y="6356350"/>
            <a:ext cx="2311400" cy="365125"/>
          </a:xfrm>
          <a:prstGeom prst="rect">
            <a:avLst/>
          </a:prstGeom>
        </p:spPr>
        <p:txBody>
          <a:bodyPr/>
          <a:lstStyle>
            <a:lvl1pPr fontAlgn="auto">
              <a:spcBef>
                <a:spcPts val="0"/>
              </a:spcBef>
              <a:spcAft>
                <a:spcPts val="0"/>
              </a:spcAft>
              <a:defRPr kumimoji="0">
                <a:latin typeface="+mn-lt"/>
                <a:ea typeface="+mn-ea"/>
              </a:defRPr>
            </a:lvl1pPr>
          </a:lstStyle>
          <a:p>
            <a:pPr>
              <a:defRPr/>
            </a:pPr>
            <a:fld id="{4A3FE590-00FD-4950-9C6B-A62E414FD786}" type="datetimeFigureOut">
              <a:rPr lang="ko-KR" altLang="en-US"/>
              <a:pPr>
                <a:defRPr/>
              </a:pPr>
              <a:t>2017-02-15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11"/>
          </p:nvPr>
        </p:nvSpPr>
        <p:spPr>
          <a:xfrm>
            <a:off x="3384550" y="6356350"/>
            <a:ext cx="3136900" cy="365125"/>
          </a:xfrm>
          <a:prstGeom prst="rect">
            <a:avLst/>
          </a:prstGeom>
        </p:spPr>
        <p:txBody>
          <a:bodyPr/>
          <a:lstStyle>
            <a:lvl1pPr fontAlgn="auto">
              <a:spcBef>
                <a:spcPts val="0"/>
              </a:spcBef>
              <a:spcAft>
                <a:spcPts val="0"/>
              </a:spcAft>
              <a:defRPr kumimoji="0">
                <a:latin typeface="+mn-lt"/>
                <a:ea typeface="+mn-ea"/>
              </a:defRPr>
            </a:lvl1pPr>
          </a:lstStyle>
          <a:p>
            <a:pPr>
              <a:defRPr/>
            </a:pPr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A85F0C53-2369-446E-AFC1-735DF3D8596E}" type="slidenum">
              <a:rPr lang="ko-KR" altLang="en-US"/>
              <a:pPr>
                <a:defRPr/>
              </a:pPr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>
          <a:xfrm>
            <a:off x="495300" y="6356350"/>
            <a:ext cx="2311400" cy="365125"/>
          </a:xfrm>
          <a:prstGeom prst="rect">
            <a:avLst/>
          </a:prstGeom>
        </p:spPr>
        <p:txBody>
          <a:bodyPr/>
          <a:lstStyle>
            <a:lvl1pPr fontAlgn="auto">
              <a:spcBef>
                <a:spcPts val="0"/>
              </a:spcBef>
              <a:spcAft>
                <a:spcPts val="0"/>
              </a:spcAft>
              <a:defRPr kumimoji="0">
                <a:latin typeface="+mn-lt"/>
                <a:ea typeface="+mn-ea"/>
              </a:defRPr>
            </a:lvl1pPr>
          </a:lstStyle>
          <a:p>
            <a:pPr>
              <a:defRPr/>
            </a:pPr>
            <a:fld id="{5902AEA6-957E-4A72-B4A7-0ECB356900BA}" type="datetimeFigureOut">
              <a:rPr lang="ko-KR" altLang="en-US"/>
              <a:pPr>
                <a:defRPr/>
              </a:pPr>
              <a:t>2017-02-15</a:t>
            </a:fld>
            <a:endParaRPr lang="ko-KR" altLang="en-US"/>
          </a:p>
        </p:txBody>
      </p:sp>
      <p:sp>
        <p:nvSpPr>
          <p:cNvPr id="3" name="바닥글 개체 틀 2"/>
          <p:cNvSpPr>
            <a:spLocks noGrp="1"/>
          </p:cNvSpPr>
          <p:nvPr>
            <p:ph type="ftr" sz="quarter" idx="11"/>
          </p:nvPr>
        </p:nvSpPr>
        <p:spPr>
          <a:xfrm>
            <a:off x="3384550" y="6356350"/>
            <a:ext cx="3136900" cy="365125"/>
          </a:xfrm>
          <a:prstGeom prst="rect">
            <a:avLst/>
          </a:prstGeom>
        </p:spPr>
        <p:txBody>
          <a:bodyPr/>
          <a:lstStyle>
            <a:lvl1pPr fontAlgn="auto">
              <a:spcBef>
                <a:spcPts val="0"/>
              </a:spcBef>
              <a:spcAft>
                <a:spcPts val="0"/>
              </a:spcAft>
              <a:defRPr kumimoji="0">
                <a:latin typeface="+mn-lt"/>
                <a:ea typeface="+mn-ea"/>
              </a:defRPr>
            </a:lvl1pPr>
          </a:lstStyle>
          <a:p>
            <a:pPr>
              <a:defRPr/>
            </a:pPr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C399B6E4-9478-48E8-B24E-6A0B5CBBFB2E}" type="slidenum">
              <a:rPr lang="ko-KR" altLang="en-US"/>
              <a:pPr>
                <a:defRPr/>
              </a:pPr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495300" y="273050"/>
            <a:ext cx="3259138" cy="1162050"/>
          </a:xfrm>
          <a:prstGeom prst="rect">
            <a:avLst/>
          </a:prstGeo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3873500" y="273050"/>
            <a:ext cx="5537200" cy="5853113"/>
          </a:xfrm>
          <a:prstGeom prst="rect">
            <a:avLst/>
          </a:prstGeo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495300" y="1435100"/>
            <a:ext cx="3259138" cy="469106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>
          <a:xfrm>
            <a:off x="495300" y="6356350"/>
            <a:ext cx="2311400" cy="365125"/>
          </a:xfrm>
          <a:prstGeom prst="rect">
            <a:avLst/>
          </a:prstGeom>
        </p:spPr>
        <p:txBody>
          <a:bodyPr/>
          <a:lstStyle>
            <a:lvl1pPr fontAlgn="auto">
              <a:spcBef>
                <a:spcPts val="0"/>
              </a:spcBef>
              <a:spcAft>
                <a:spcPts val="0"/>
              </a:spcAft>
              <a:defRPr kumimoji="0">
                <a:latin typeface="+mn-lt"/>
                <a:ea typeface="+mn-ea"/>
              </a:defRPr>
            </a:lvl1pPr>
          </a:lstStyle>
          <a:p>
            <a:pPr>
              <a:defRPr/>
            </a:pPr>
            <a:fld id="{CBB71B16-A0D8-4BDB-BD65-A98DAE00D358}" type="datetimeFigureOut">
              <a:rPr lang="ko-KR" altLang="en-US"/>
              <a:pPr>
                <a:defRPr/>
              </a:pPr>
              <a:t>2017-02-15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>
          <a:xfrm>
            <a:off x="3384550" y="6356350"/>
            <a:ext cx="3136900" cy="365125"/>
          </a:xfrm>
          <a:prstGeom prst="rect">
            <a:avLst/>
          </a:prstGeom>
        </p:spPr>
        <p:txBody>
          <a:bodyPr/>
          <a:lstStyle>
            <a:lvl1pPr fontAlgn="auto">
              <a:spcBef>
                <a:spcPts val="0"/>
              </a:spcBef>
              <a:spcAft>
                <a:spcPts val="0"/>
              </a:spcAft>
              <a:defRPr kumimoji="0">
                <a:latin typeface="+mn-lt"/>
                <a:ea typeface="+mn-ea"/>
              </a:defRPr>
            </a:lvl1pPr>
          </a:lstStyle>
          <a:p>
            <a:pPr>
              <a:defRPr/>
            </a:pPr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5E42934C-85F8-4C50-AE48-8DB4D1EDFA38}" type="slidenum">
              <a:rPr lang="ko-KR" altLang="en-US"/>
              <a:pPr>
                <a:defRPr/>
              </a:pPr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1941513" y="4800600"/>
            <a:ext cx="5943600" cy="566738"/>
          </a:xfrm>
          <a:prstGeom prst="rect">
            <a:avLst/>
          </a:prstGeo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그림 개체 틀 2"/>
          <p:cNvSpPr>
            <a:spLocks noGrp="1"/>
          </p:cNvSpPr>
          <p:nvPr>
            <p:ph type="pic" idx="1"/>
          </p:nvPr>
        </p:nvSpPr>
        <p:spPr>
          <a:xfrm>
            <a:off x="1941513" y="612775"/>
            <a:ext cx="5943600" cy="411480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ko-KR" altLang="en-US" noProof="0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1941513" y="5367338"/>
            <a:ext cx="5943600" cy="804862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>
          <a:xfrm>
            <a:off x="495300" y="6356350"/>
            <a:ext cx="2311400" cy="365125"/>
          </a:xfrm>
          <a:prstGeom prst="rect">
            <a:avLst/>
          </a:prstGeom>
        </p:spPr>
        <p:txBody>
          <a:bodyPr/>
          <a:lstStyle>
            <a:lvl1pPr fontAlgn="auto">
              <a:spcBef>
                <a:spcPts val="0"/>
              </a:spcBef>
              <a:spcAft>
                <a:spcPts val="0"/>
              </a:spcAft>
              <a:defRPr kumimoji="0">
                <a:latin typeface="+mn-lt"/>
                <a:ea typeface="+mn-ea"/>
              </a:defRPr>
            </a:lvl1pPr>
          </a:lstStyle>
          <a:p>
            <a:pPr>
              <a:defRPr/>
            </a:pPr>
            <a:fld id="{54ECFBF2-A9E3-4487-AA31-3A8D1205B6BF}" type="datetimeFigureOut">
              <a:rPr lang="ko-KR" altLang="en-US"/>
              <a:pPr>
                <a:defRPr/>
              </a:pPr>
              <a:t>2017-02-15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>
          <a:xfrm>
            <a:off x="3384550" y="6356350"/>
            <a:ext cx="3136900" cy="365125"/>
          </a:xfrm>
          <a:prstGeom prst="rect">
            <a:avLst/>
          </a:prstGeom>
        </p:spPr>
        <p:txBody>
          <a:bodyPr/>
          <a:lstStyle>
            <a:lvl1pPr fontAlgn="auto">
              <a:spcBef>
                <a:spcPts val="0"/>
              </a:spcBef>
              <a:spcAft>
                <a:spcPts val="0"/>
              </a:spcAft>
              <a:defRPr kumimoji="0">
                <a:latin typeface="+mn-lt"/>
                <a:ea typeface="+mn-ea"/>
              </a:defRPr>
            </a:lvl1pPr>
          </a:lstStyle>
          <a:p>
            <a:pPr>
              <a:defRPr/>
            </a:pPr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01FE57CE-58D3-41A0-9D38-D19A3179B0EE}" type="slidenum">
              <a:rPr lang="ko-KR" altLang="en-US"/>
              <a:pPr>
                <a:defRPr/>
              </a:pPr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image" Target="../media/image1.jpeg"/><Relationship Id="rId5" Type="http://schemas.openxmlformats.org/officeDocument/2006/relationships/slideLayout" Target="../slideLayouts/slideLayout5.xml"/><Relationship Id="rId10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blipFill dpi="0" rotWithShape="1">
          <a:blip r:embed="rId11">
            <a:lum/>
          </a:blip>
          <a:srcRect/>
          <a:stretch>
            <a:fillRect t="-2000" b="-2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3800475" y="6492875"/>
            <a:ext cx="2311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 fontAlgn="auto">
              <a:spcBef>
                <a:spcPts val="0"/>
              </a:spcBef>
              <a:spcAft>
                <a:spcPts val="0"/>
              </a:spcAft>
              <a:defRPr kumimoji="0" sz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</a:defRPr>
            </a:lvl1pPr>
          </a:lstStyle>
          <a:p>
            <a:pPr>
              <a:defRPr/>
            </a:pPr>
            <a:fld id="{1F93DC16-645E-42DB-8B9D-584A40751F41}" type="slidenum">
              <a:rPr lang="ko-KR" altLang="en-US"/>
              <a:pPr>
                <a:defRPr/>
              </a:pPr>
              <a:t>‹#›</a:t>
            </a:fld>
            <a:endParaRPr lang="ko-KR" altLang="en-US" dirty="0"/>
          </a:p>
        </p:txBody>
      </p:sp>
      <p:sp>
        <p:nvSpPr>
          <p:cNvPr id="7" name="슬라이드 번호 개체 틀 5"/>
          <p:cNvSpPr txBox="1">
            <a:spLocks/>
          </p:cNvSpPr>
          <p:nvPr/>
        </p:nvSpPr>
        <p:spPr>
          <a:xfrm>
            <a:off x="3800475" y="6492875"/>
            <a:ext cx="2311400" cy="365125"/>
          </a:xfrm>
          <a:prstGeom prst="rect">
            <a:avLst/>
          </a:prstGeom>
        </p:spPr>
        <p:txBody>
          <a:bodyPr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fld id="{F471B887-FDF0-4FEA-B10D-CD7A5AB2A954}" type="slidenum">
              <a:rPr kumimoji="0" lang="ko-KR" altLang="en-US">
                <a:latin typeface="+mn-lt"/>
                <a:ea typeface="+mn-ea"/>
              </a:rPr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kumimoji="0" lang="ko-KR" altLang="en-US" dirty="0">
              <a:latin typeface="+mn-lt"/>
              <a:ea typeface="+mn-ea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985" r:id="rId1"/>
    <p:sldLayoutId id="2147483986" r:id="rId2"/>
    <p:sldLayoutId id="2147483987" r:id="rId3"/>
    <p:sldLayoutId id="2147483988" r:id="rId4"/>
    <p:sldLayoutId id="2147483989" r:id="rId5"/>
    <p:sldLayoutId id="2147483990" r:id="rId6"/>
    <p:sldLayoutId id="2147483991" r:id="rId7"/>
    <p:sldLayoutId id="2147483992" r:id="rId8"/>
    <p:sldLayoutId id="2147483993" r:id="rId9"/>
  </p:sldLayoutIdLst>
  <p:txStyles>
    <p:titleStyle>
      <a:lvl1pPr algn="ctr" rtl="0" eaLnBrk="0" fontAlgn="base" latinLnBrk="1" hangingPunct="0"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  <a:lvl2pPr algn="ctr" rtl="0" eaLnBrk="0" fontAlgn="base" latinLnBrk="1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맑은 고딕" pitchFamily="50" charset="-127"/>
          <a:ea typeface="맑은 고딕" pitchFamily="50" charset="-127"/>
        </a:defRPr>
      </a:lvl2pPr>
      <a:lvl3pPr algn="ctr" rtl="0" eaLnBrk="0" fontAlgn="base" latinLnBrk="1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맑은 고딕" pitchFamily="50" charset="-127"/>
          <a:ea typeface="맑은 고딕" pitchFamily="50" charset="-127"/>
        </a:defRPr>
      </a:lvl3pPr>
      <a:lvl4pPr algn="ctr" rtl="0" eaLnBrk="0" fontAlgn="base" latinLnBrk="1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맑은 고딕" pitchFamily="50" charset="-127"/>
          <a:ea typeface="맑은 고딕" pitchFamily="50" charset="-127"/>
        </a:defRPr>
      </a:lvl4pPr>
      <a:lvl5pPr algn="ctr" rtl="0" eaLnBrk="0" fontAlgn="base" latinLnBrk="1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맑은 고딕" pitchFamily="50" charset="-127"/>
          <a:ea typeface="맑은 고딕" pitchFamily="50" charset="-127"/>
        </a:defRPr>
      </a:lvl5pPr>
      <a:lvl6pPr marL="457200" algn="ctr" rtl="0" fontAlgn="base" latinLnBrk="1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맑은 고딕" pitchFamily="50" charset="-127"/>
          <a:ea typeface="맑은 고딕" pitchFamily="50" charset="-127"/>
        </a:defRPr>
      </a:lvl6pPr>
      <a:lvl7pPr marL="914400" algn="ctr" rtl="0" fontAlgn="base" latinLnBrk="1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맑은 고딕" pitchFamily="50" charset="-127"/>
          <a:ea typeface="맑은 고딕" pitchFamily="50" charset="-127"/>
        </a:defRPr>
      </a:lvl7pPr>
      <a:lvl8pPr marL="1371600" algn="ctr" rtl="0" fontAlgn="base" latinLnBrk="1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맑은 고딕" pitchFamily="50" charset="-127"/>
          <a:ea typeface="맑은 고딕" pitchFamily="50" charset="-127"/>
        </a:defRPr>
      </a:lvl8pPr>
      <a:lvl9pPr marL="1828800" algn="ctr" rtl="0" fontAlgn="base" latinLnBrk="1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맑은 고딕" pitchFamily="50" charset="-127"/>
          <a:ea typeface="맑은 고딕" pitchFamily="50" charset="-127"/>
        </a:defRPr>
      </a:lvl9pPr>
    </p:titleStyle>
    <p:bodyStyle>
      <a:lvl1pPr marL="342900" indent="-342900" algn="l" rtl="0" eaLnBrk="0" fontAlgn="base" latinLnBrk="1" hangingPunct="0">
        <a:spcBef>
          <a:spcPct val="20000"/>
        </a:spcBef>
        <a:spcAft>
          <a:spcPct val="0"/>
        </a:spcAft>
        <a:buFont typeface="Arial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0" fontAlgn="base" latinLnBrk="1" hangingPunct="0">
        <a:spcBef>
          <a:spcPct val="20000"/>
        </a:spcBef>
        <a:spcAft>
          <a:spcPct val="0"/>
        </a:spcAft>
        <a:buFont typeface="Arial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rtl="0" eaLnBrk="0" fontAlgn="base" latinLnBrk="1" hangingPunct="0">
        <a:spcBef>
          <a:spcPct val="20000"/>
        </a:spcBef>
        <a:spcAft>
          <a:spcPct val="0"/>
        </a:spcAft>
        <a:buFont typeface="Arial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rtl="0" eaLnBrk="0" fontAlgn="base" latinLnBrk="1" hangingPunct="0">
        <a:spcBef>
          <a:spcPct val="20000"/>
        </a:spcBef>
        <a:spcAft>
          <a:spcPct val="0"/>
        </a:spcAft>
        <a:buFont typeface="Arial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rtl="0" eaLnBrk="0" fontAlgn="base" latinLnBrk="1" hangingPunct="0">
        <a:spcBef>
          <a:spcPct val="20000"/>
        </a:spcBef>
        <a:spcAft>
          <a:spcPct val="0"/>
        </a:spcAft>
        <a:buFont typeface="Arial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6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8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1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4.png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7" Type="http://schemas.openxmlformats.org/officeDocument/2006/relationships/image" Target="../media/image32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1.png"/><Relationship Id="rId5" Type="http://schemas.openxmlformats.org/officeDocument/2006/relationships/image" Target="../media/image30.png"/><Relationship Id="rId4" Type="http://schemas.openxmlformats.org/officeDocument/2006/relationships/image" Target="../media/image29.png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8.png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직사각형 4"/>
          <p:cNvSpPr/>
          <p:nvPr/>
        </p:nvSpPr>
        <p:spPr>
          <a:xfrm flipH="1">
            <a:off x="0" y="0"/>
            <a:ext cx="9906000" cy="6858000"/>
          </a:xfrm>
          <a:prstGeom prst="rect">
            <a:avLst/>
          </a:prstGeom>
          <a:solidFill>
            <a:srgbClr val="BED39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/>
          </a:p>
        </p:txBody>
      </p:sp>
      <p:sp>
        <p:nvSpPr>
          <p:cNvPr id="11267" name="TextBox 13"/>
          <p:cNvSpPr txBox="1">
            <a:spLocks noChangeArrowheads="1"/>
          </p:cNvSpPr>
          <p:nvPr/>
        </p:nvSpPr>
        <p:spPr bwMode="auto">
          <a:xfrm>
            <a:off x="3440113" y="2636838"/>
            <a:ext cx="5522912" cy="8540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pPr marL="457200" indent="-457200">
              <a:lnSpc>
                <a:spcPct val="150000"/>
              </a:lnSpc>
            </a:pPr>
            <a:r>
              <a:rPr kumimoji="0" lang="en-US" altLang="ko-KR" sz="3600" b="1">
                <a:solidFill>
                  <a:schemeClr val="bg1"/>
                </a:solidFill>
                <a:latin typeface="나눔고딕OTF" pitchFamily="34" charset="-127"/>
                <a:ea typeface="나눔고딕OTF" pitchFamily="34" charset="-127"/>
              </a:rPr>
              <a:t>Ⅰ. </a:t>
            </a:r>
            <a:r>
              <a:rPr kumimoji="0" lang="ko-KR" altLang="en-US" sz="3600" b="1">
                <a:solidFill>
                  <a:schemeClr val="bg1"/>
                </a:solidFill>
                <a:latin typeface="나눔고딕OTF" pitchFamily="34" charset="-127"/>
                <a:ea typeface="나눔고딕OTF" pitchFamily="34" charset="-127"/>
              </a:rPr>
              <a:t>프로그램 실행 </a:t>
            </a:r>
            <a:r>
              <a:rPr kumimoji="0" lang="en-US" altLang="ko-KR" sz="3600" b="1">
                <a:solidFill>
                  <a:schemeClr val="bg1"/>
                </a:solidFill>
                <a:latin typeface="나눔고딕OTF" pitchFamily="34" charset="-127"/>
                <a:ea typeface="나눔고딕OTF" pitchFamily="34" charset="-127"/>
              </a:rPr>
              <a:t>&amp; </a:t>
            </a:r>
            <a:r>
              <a:rPr kumimoji="0" lang="ko-KR" altLang="en-US" sz="3600" b="1">
                <a:solidFill>
                  <a:schemeClr val="bg1"/>
                </a:solidFill>
                <a:latin typeface="나눔고딕OTF" pitchFamily="34" charset="-127"/>
                <a:ea typeface="나눔고딕OTF" pitchFamily="34" charset="-127"/>
              </a:rPr>
              <a:t>로그인</a:t>
            </a:r>
            <a:endParaRPr kumimoji="0" lang="en-US" altLang="ko-KR" sz="3600">
              <a:solidFill>
                <a:schemeClr val="bg1"/>
              </a:solidFill>
              <a:latin typeface="나눔고딕OTF" pitchFamily="34" charset="-127"/>
              <a:ea typeface="나눔고딕OTF" pitchFamily="34" charset="-127"/>
            </a:endParaRPr>
          </a:p>
        </p:txBody>
      </p:sp>
      <p:pic>
        <p:nvPicPr>
          <p:cNvPr id="11268" name="그림 7" descr="앨리스화면.png"/>
          <p:cNvPicPr>
            <a:picLocks noChangeAspect="1"/>
          </p:cNvPicPr>
          <p:nvPr/>
        </p:nvPicPr>
        <p:blipFill>
          <a:blip r:embed="rId2"/>
          <a:srcRect l="13019" t="12311" r="2361" b="5617"/>
          <a:stretch>
            <a:fillRect/>
          </a:stretch>
        </p:blipFill>
        <p:spPr bwMode="auto">
          <a:xfrm>
            <a:off x="1639888" y="2708275"/>
            <a:ext cx="1944687" cy="996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/>
          <p:cNvSpPr txBox="1"/>
          <p:nvPr/>
        </p:nvSpPr>
        <p:spPr>
          <a:xfrm>
            <a:off x="1497013" y="282575"/>
            <a:ext cx="2492375" cy="3683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kumimoji="0" lang="ko-KR" altLang="en-US" dirty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프로그램 실행 </a:t>
            </a:r>
            <a:r>
              <a:rPr kumimoji="0" lang="en-US" altLang="ko-KR" dirty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&amp; </a:t>
            </a:r>
            <a:r>
              <a:rPr kumimoji="0" lang="ko-KR" altLang="en-US" dirty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로그인</a:t>
            </a:r>
          </a:p>
        </p:txBody>
      </p:sp>
      <p:sp>
        <p:nvSpPr>
          <p:cNvPr id="12291" name="TextBox 59"/>
          <p:cNvSpPr txBox="1">
            <a:spLocks noChangeArrowheads="1"/>
          </p:cNvSpPr>
          <p:nvPr/>
        </p:nvSpPr>
        <p:spPr bwMode="auto">
          <a:xfrm>
            <a:off x="415925" y="1052513"/>
            <a:ext cx="9074150" cy="2762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kumimoji="0" lang="en-US" altLang="ko-KR" sz="1200">
                <a:latin typeface="나눔고딕OTF" pitchFamily="34" charset="-127"/>
                <a:ea typeface="나눔고딕OTF" pitchFamily="34" charset="-127"/>
              </a:rPr>
              <a:t>- Health </a:t>
            </a:r>
            <a:r>
              <a:rPr kumimoji="0" lang="ko-KR" altLang="en-US" sz="1200">
                <a:latin typeface="나눔고딕OTF" pitchFamily="34" charset="-127"/>
                <a:ea typeface="나눔고딕OTF" pitchFamily="34" charset="-127"/>
              </a:rPr>
              <a:t>아이콘을 더블클릭하면 앨리스</a:t>
            </a:r>
            <a:r>
              <a:rPr kumimoji="0" lang="en-US" altLang="ko-KR" sz="1200">
                <a:latin typeface="나눔고딕OTF" pitchFamily="34" charset="-127"/>
                <a:ea typeface="나눔고딕OTF" pitchFamily="34" charset="-127"/>
              </a:rPr>
              <a:t>(AILISS) </a:t>
            </a:r>
            <a:r>
              <a:rPr kumimoji="0" lang="ko-KR" altLang="en-US" sz="1200">
                <a:latin typeface="나눔고딕OTF" pitchFamily="34" charset="-127"/>
                <a:ea typeface="나눔고딕OTF" pitchFamily="34" charset="-127"/>
              </a:rPr>
              <a:t>프로그램이 실행됩니다</a:t>
            </a:r>
            <a:r>
              <a:rPr kumimoji="0" lang="en-US" altLang="ko-KR" sz="1200">
                <a:latin typeface="나눔고딕OTF" pitchFamily="34" charset="-127"/>
                <a:ea typeface="나눔고딕OTF" pitchFamily="34" charset="-127"/>
              </a:rPr>
              <a:t>.</a:t>
            </a:r>
            <a:r>
              <a:rPr kumimoji="0" lang="ko-KR" altLang="en-US" sz="1200">
                <a:latin typeface="나눔고딕OTF" pitchFamily="34" charset="-127"/>
                <a:ea typeface="나눔고딕OTF" pitchFamily="34" charset="-127"/>
              </a:rPr>
              <a:t> </a:t>
            </a:r>
            <a:endParaRPr kumimoji="0" lang="en-US" altLang="ko-KR" sz="1200">
              <a:latin typeface="나눔고딕OTF" pitchFamily="34" charset="-127"/>
              <a:ea typeface="나눔고딕OTF" pitchFamily="34" charset="-127"/>
            </a:endParaRPr>
          </a:p>
        </p:txBody>
      </p:sp>
      <p:pic>
        <p:nvPicPr>
          <p:cNvPr id="12292" name="Picture 2"/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1809750" y="2000250"/>
            <a:ext cx="3322638" cy="18129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12293" name="TextBox 4"/>
          <p:cNvSpPr txBox="1">
            <a:spLocks noChangeArrowheads="1"/>
          </p:cNvSpPr>
          <p:nvPr/>
        </p:nvSpPr>
        <p:spPr bwMode="auto">
          <a:xfrm>
            <a:off x="5524500" y="1593850"/>
            <a:ext cx="4108450" cy="265944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 marL="228600" indent="-228600">
              <a:lnSpc>
                <a:spcPct val="120000"/>
              </a:lnSpc>
              <a:buFontTx/>
              <a:buAutoNum type="arabicParenR"/>
            </a:pPr>
            <a:r>
              <a:rPr kumimoji="0" lang="ko-KR" altLang="en-US" sz="1000" b="1" dirty="0">
                <a:latin typeface="나눔고딕OTF" pitchFamily="34" charset="-127"/>
                <a:ea typeface="나눔고딕OTF" pitchFamily="34" charset="-127"/>
              </a:rPr>
              <a:t>자동 업데이트</a:t>
            </a:r>
            <a:endParaRPr kumimoji="0" lang="en-US" altLang="ko-KR" sz="1000" b="1" dirty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b="1" dirty="0">
                <a:latin typeface="나눔고딕OTF" pitchFamily="34" charset="-127"/>
                <a:ea typeface="나눔고딕OTF" pitchFamily="34" charset="-127"/>
              </a:rPr>
              <a:t>   </a:t>
            </a: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000" dirty="0">
                <a:latin typeface="나눔고딕OTF" pitchFamily="34" charset="-127"/>
                <a:ea typeface="나눔고딕OTF" pitchFamily="34" charset="-127"/>
              </a:rPr>
              <a:t>프로그램을 실행할 때</a:t>
            </a: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 dirty="0">
                <a:latin typeface="나눔고딕OTF" pitchFamily="34" charset="-127"/>
                <a:ea typeface="나눔고딕OTF" pitchFamily="34" charset="-127"/>
              </a:rPr>
              <a:t>자동 업데이트를 실시합니다</a:t>
            </a: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err="1">
                <a:latin typeface="나눔고딕OTF" pitchFamily="34" charset="-127"/>
                <a:ea typeface="나눔고딕OTF" pitchFamily="34" charset="-127"/>
              </a:rPr>
              <a:t>앨리스</a:t>
            </a:r>
            <a:r>
              <a:rPr kumimoji="0" lang="ko-KR" altLang="en-US" sz="1000" dirty="0">
                <a:latin typeface="나눔고딕OTF" pitchFamily="34" charset="-127"/>
                <a:ea typeface="나눔고딕OTF" pitchFamily="34" charset="-127"/>
              </a:rPr>
              <a:t> 프로그램</a:t>
            </a: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 dirty="0">
                <a:latin typeface="나눔고딕OTF" pitchFamily="34" charset="-127"/>
                <a:ea typeface="나눔고딕OTF" pitchFamily="34" charset="-127"/>
              </a:rPr>
              <a:t>결과지 양식 추가 및 수정 등 프로그램과 관련된 항목들 대부분이 여기서 업데이트 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* 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업데이트가 완료된 후에 로그인해 주시기 바랍니다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.</a:t>
            </a:r>
            <a:endParaRPr kumimoji="0" lang="en-US" altLang="ko-KR" sz="1000" dirty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   </a:t>
            </a:r>
            <a:r>
              <a:rPr kumimoji="0" lang="en-US" altLang="ko-KR" sz="1000" dirty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* PC</a:t>
            </a:r>
            <a:r>
              <a:rPr kumimoji="0" lang="ko-KR" altLang="en-US" sz="1000" dirty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에 설치되어 있는 백신</a:t>
            </a:r>
            <a:r>
              <a:rPr kumimoji="0" lang="en-US" altLang="ko-KR" sz="1000" dirty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 (ex: </a:t>
            </a:r>
            <a:r>
              <a:rPr kumimoji="0" lang="en-US" altLang="ko-KR" sz="1000" dirty="0" err="1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Ahnlab</a:t>
            </a:r>
            <a:r>
              <a:rPr kumimoji="0" lang="en-US" altLang="ko-KR" sz="1000" dirty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en-US" altLang="ko-KR" sz="1000" dirty="0" err="1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SafeTransaction</a:t>
            </a:r>
            <a:r>
              <a:rPr kumimoji="0" lang="en-US" altLang="ko-KR" sz="1000" dirty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, V3</a:t>
            </a:r>
            <a:r>
              <a:rPr kumimoji="0" lang="ko-KR" altLang="en-US" sz="1000" dirty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등</a:t>
            </a:r>
            <a:r>
              <a:rPr kumimoji="0" lang="en-US" altLang="ko-KR" sz="1000" dirty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)</a:t>
            </a:r>
            <a:r>
              <a:rPr kumimoji="0" lang="ko-KR" altLang="en-US" sz="1000" dirty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에</a:t>
            </a:r>
            <a:r>
              <a:rPr kumimoji="0" lang="en-US" altLang="ko-KR" sz="1000" dirty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ko-KR" altLang="en-US" sz="1000" dirty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의해 자동 업데이트 프로그램이 정상적으로 실행되지 않을 수 있습니다</a:t>
            </a:r>
            <a:r>
              <a:rPr kumimoji="0" lang="en-US" altLang="ko-KR" sz="1000" dirty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  <a:buFontTx/>
              <a:buAutoNum type="arabicParenR" startAt="2"/>
            </a:pPr>
            <a:r>
              <a:rPr kumimoji="0" lang="ko-KR" altLang="en-US" sz="1000" b="1" dirty="0">
                <a:latin typeface="나눔고딕OTF" pitchFamily="34" charset="-127"/>
                <a:ea typeface="나눔고딕OTF" pitchFamily="34" charset="-127"/>
              </a:rPr>
              <a:t>로그인</a:t>
            </a:r>
            <a:endParaRPr kumimoji="0" lang="en-US" altLang="ko-KR" sz="1000" b="1" dirty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   </a:t>
            </a: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000" dirty="0">
                <a:latin typeface="나눔고딕OTF" pitchFamily="34" charset="-127"/>
                <a:ea typeface="나눔고딕OTF" pitchFamily="34" charset="-127"/>
              </a:rPr>
              <a:t>업데이트가 완료되면</a:t>
            </a: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 dirty="0">
                <a:latin typeface="나눔고딕OTF" pitchFamily="34" charset="-127"/>
                <a:ea typeface="나눔고딕OTF" pitchFamily="34" charset="-127"/>
              </a:rPr>
              <a:t>로그인 화면이 표시됩니다</a:t>
            </a: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.</a:t>
            </a:r>
            <a:endParaRPr kumimoji="0" lang="en-US" altLang="ko-KR" sz="1000" dirty="0">
              <a:solidFill>
                <a:srgbClr val="FF0000"/>
              </a:solidFill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   </a:t>
            </a: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000" dirty="0">
                <a:latin typeface="나눔고딕OTF" pitchFamily="34" charset="-127"/>
                <a:ea typeface="나눔고딕OTF" pitchFamily="34" charset="-127"/>
              </a:rPr>
              <a:t>설정되어 있는 아이디와 패스워드를 입력하면 </a:t>
            </a:r>
            <a:r>
              <a:rPr kumimoji="0" lang="ko-KR" altLang="en-US" sz="1000" dirty="0" err="1">
                <a:latin typeface="나눔고딕OTF" pitchFamily="34" charset="-127"/>
                <a:ea typeface="나눔고딕OTF" pitchFamily="34" charset="-127"/>
              </a:rPr>
              <a:t>앨리스</a:t>
            </a:r>
            <a:r>
              <a:rPr kumimoji="0" lang="ko-KR" altLang="en-US" sz="1000" dirty="0">
                <a:latin typeface="나눔고딕OTF" pitchFamily="34" charset="-127"/>
                <a:ea typeface="나눔고딕OTF" pitchFamily="34" charset="-127"/>
              </a:rPr>
              <a:t> 프로그램에 접속할 수 있습니다</a:t>
            </a: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   - “</a:t>
            </a:r>
            <a:r>
              <a:rPr kumimoji="0" lang="ko-KR" altLang="en-US" sz="1000" dirty="0">
                <a:latin typeface="나눔고딕OTF" pitchFamily="34" charset="-127"/>
                <a:ea typeface="나눔고딕OTF" pitchFamily="34" charset="-127"/>
              </a:rPr>
              <a:t>주요변경사항</a:t>
            </a: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” </a:t>
            </a:r>
            <a:r>
              <a:rPr kumimoji="0" lang="ko-KR" altLang="en-US" sz="1000" dirty="0">
                <a:latin typeface="나눔고딕OTF" pitchFamily="34" charset="-127"/>
                <a:ea typeface="나눔고딕OTF" pitchFamily="34" charset="-127"/>
              </a:rPr>
              <a:t>버튼을 클릭하면</a:t>
            </a: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 dirty="0" err="1">
                <a:latin typeface="나눔고딕OTF" pitchFamily="34" charset="-127"/>
                <a:ea typeface="나눔고딕OTF" pitchFamily="34" charset="-127"/>
              </a:rPr>
              <a:t>앨리스</a:t>
            </a:r>
            <a:r>
              <a:rPr kumimoji="0" lang="ko-KR" altLang="en-US" sz="1000" dirty="0">
                <a:latin typeface="나눔고딕OTF" pitchFamily="34" charset="-127"/>
                <a:ea typeface="나눔고딕OTF" pitchFamily="34" charset="-127"/>
              </a:rPr>
              <a:t> 프로그램의 변경 사항을 확인할 수 있습니다</a:t>
            </a: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.</a:t>
            </a:r>
          </a:p>
        </p:txBody>
      </p:sp>
      <p:pic>
        <p:nvPicPr>
          <p:cNvPr id="12294" name="Picture 2"/>
          <p:cNvPicPr>
            <a:picLocks noChangeAspect="1" noChangeArrowheads="1"/>
          </p:cNvPicPr>
          <p:nvPr/>
        </p:nvPicPr>
        <p:blipFill>
          <a:blip r:embed="rId3"/>
          <a:srcRect/>
          <a:stretch>
            <a:fillRect/>
          </a:stretch>
        </p:blipFill>
        <p:spPr bwMode="auto">
          <a:xfrm>
            <a:off x="2070100" y="4330700"/>
            <a:ext cx="2786063" cy="1955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12295" name="Picture 14"/>
          <p:cNvPicPr>
            <a:picLocks noChangeAspect="1" noChangeArrowheads="1"/>
          </p:cNvPicPr>
          <p:nvPr/>
        </p:nvPicPr>
        <p:blipFill>
          <a:blip r:embed="rId4"/>
          <a:srcRect/>
          <a:stretch>
            <a:fillRect/>
          </a:stretch>
        </p:blipFill>
        <p:spPr bwMode="auto">
          <a:xfrm>
            <a:off x="523875" y="2428875"/>
            <a:ext cx="762000" cy="8953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cxnSp>
        <p:nvCxnSpPr>
          <p:cNvPr id="9" name="직선 화살표 연결선 8"/>
          <p:cNvCxnSpPr/>
          <p:nvPr/>
        </p:nvCxnSpPr>
        <p:spPr>
          <a:xfrm>
            <a:off x="1381125" y="2928938"/>
            <a:ext cx="357188" cy="1587"/>
          </a:xfrm>
          <a:prstGeom prst="straightConnector1">
            <a:avLst/>
          </a:prstGeom>
          <a:ln w="19050">
            <a:solidFill>
              <a:srgbClr val="7030A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직선 화살표 연결선 9"/>
          <p:cNvCxnSpPr/>
          <p:nvPr/>
        </p:nvCxnSpPr>
        <p:spPr>
          <a:xfrm rot="5400000">
            <a:off x="3284538" y="4070350"/>
            <a:ext cx="357188" cy="1587"/>
          </a:xfrm>
          <a:prstGeom prst="straightConnector1">
            <a:avLst/>
          </a:prstGeom>
          <a:ln w="19050">
            <a:solidFill>
              <a:srgbClr val="7030A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298" name="TextBox 4"/>
          <p:cNvSpPr txBox="1">
            <a:spLocks noChangeArrowheads="1"/>
          </p:cNvSpPr>
          <p:nvPr/>
        </p:nvSpPr>
        <p:spPr bwMode="auto">
          <a:xfrm>
            <a:off x="381000" y="785813"/>
            <a:ext cx="2192338" cy="3079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kumimoji="0" lang="en-US" altLang="ko-KR" sz="1400" b="1">
                <a:latin typeface="나눔고딕OTF" pitchFamily="34" charset="-127"/>
                <a:ea typeface="나눔고딕OTF" pitchFamily="34" charset="-127"/>
              </a:rPr>
              <a:t>1. </a:t>
            </a:r>
            <a:r>
              <a:rPr kumimoji="0" lang="ko-KR" altLang="en-US" sz="1400" b="1">
                <a:latin typeface="나눔고딕OTF" pitchFamily="34" charset="-127"/>
                <a:ea typeface="나눔고딕OTF" pitchFamily="34" charset="-127"/>
              </a:rPr>
              <a:t>프로그램 실행 </a:t>
            </a:r>
            <a:r>
              <a:rPr kumimoji="0" lang="en-US" altLang="ko-KR" sz="1400" b="1">
                <a:latin typeface="나눔고딕OTF" pitchFamily="34" charset="-127"/>
                <a:ea typeface="나눔고딕OTF" pitchFamily="34" charset="-127"/>
              </a:rPr>
              <a:t>&amp; </a:t>
            </a:r>
            <a:r>
              <a:rPr kumimoji="0" lang="ko-KR" altLang="en-US" sz="1400" b="1">
                <a:latin typeface="나눔고딕OTF" pitchFamily="34" charset="-127"/>
                <a:ea typeface="나눔고딕OTF" pitchFamily="34" charset="-127"/>
              </a:rPr>
              <a:t>로그인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/>
          <p:cNvSpPr txBox="1"/>
          <p:nvPr/>
        </p:nvSpPr>
        <p:spPr>
          <a:xfrm>
            <a:off x="1497013" y="282575"/>
            <a:ext cx="2492375" cy="3683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kumimoji="0" lang="ko-KR" altLang="en-US" dirty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프로그램 실행 </a:t>
            </a:r>
            <a:r>
              <a:rPr kumimoji="0" lang="en-US" altLang="ko-KR" dirty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&amp; </a:t>
            </a:r>
            <a:r>
              <a:rPr kumimoji="0" lang="ko-KR" altLang="en-US" dirty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로그인</a:t>
            </a:r>
          </a:p>
        </p:txBody>
      </p:sp>
      <p:pic>
        <p:nvPicPr>
          <p:cNvPr id="13315" name="그림 11" descr="제목 없음.png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1490663" y="1357313"/>
            <a:ext cx="6929437" cy="496093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cxnSp>
        <p:nvCxnSpPr>
          <p:cNvPr id="13" name="직선 화살표 연결선 12"/>
          <p:cNvCxnSpPr>
            <a:endCxn id="13323" idx="0"/>
          </p:cNvCxnSpPr>
          <p:nvPr/>
        </p:nvCxnSpPr>
        <p:spPr>
          <a:xfrm rot="5400000">
            <a:off x="6142038" y="2765425"/>
            <a:ext cx="1355725" cy="3175"/>
          </a:xfrm>
          <a:prstGeom prst="straightConnector1">
            <a:avLst/>
          </a:prstGeom>
          <a:ln w="19050">
            <a:solidFill>
              <a:srgbClr val="7030A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317" name="TextBox 4"/>
          <p:cNvSpPr txBox="1">
            <a:spLocks noChangeArrowheads="1"/>
          </p:cNvSpPr>
          <p:nvPr/>
        </p:nvSpPr>
        <p:spPr bwMode="auto">
          <a:xfrm>
            <a:off x="381000" y="785813"/>
            <a:ext cx="1120775" cy="3079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kumimoji="0" lang="en-US" altLang="ko-KR" sz="1400" b="1">
                <a:latin typeface="나눔고딕OTF" pitchFamily="34" charset="-127"/>
                <a:ea typeface="나눔고딕OTF" pitchFamily="34" charset="-127"/>
              </a:rPr>
              <a:t>2. </a:t>
            </a:r>
            <a:r>
              <a:rPr kumimoji="0" lang="ko-KR" altLang="en-US" sz="1400" b="1">
                <a:latin typeface="나눔고딕OTF" pitchFamily="34" charset="-127"/>
                <a:ea typeface="나눔고딕OTF" pitchFamily="34" charset="-127"/>
              </a:rPr>
              <a:t>메인 화면</a:t>
            </a:r>
          </a:p>
        </p:txBody>
      </p:sp>
      <p:sp>
        <p:nvSpPr>
          <p:cNvPr id="13318" name="TextBox 59"/>
          <p:cNvSpPr txBox="1">
            <a:spLocks noChangeArrowheads="1"/>
          </p:cNvSpPr>
          <p:nvPr/>
        </p:nvSpPr>
        <p:spPr bwMode="auto">
          <a:xfrm>
            <a:off x="415925" y="1052513"/>
            <a:ext cx="9074150" cy="2762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kumimoji="0" lang="en-US" altLang="ko-KR" sz="1200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200">
                <a:latin typeface="나눔고딕OTF" pitchFamily="34" charset="-127"/>
                <a:ea typeface="나눔고딕OTF" pitchFamily="34" charset="-127"/>
              </a:rPr>
              <a:t>앨리스 실행 시 초기 메인화면입니다</a:t>
            </a:r>
            <a:r>
              <a:rPr kumimoji="0" lang="en-US" altLang="ko-KR" sz="1200">
                <a:latin typeface="나눔고딕OTF" pitchFamily="34" charset="-127"/>
                <a:ea typeface="나눔고딕OTF" pitchFamily="34" charset="-127"/>
              </a:rPr>
              <a:t>.</a:t>
            </a:r>
          </a:p>
        </p:txBody>
      </p:sp>
      <p:sp>
        <p:nvSpPr>
          <p:cNvPr id="16" name="직사각형 15"/>
          <p:cNvSpPr/>
          <p:nvPr/>
        </p:nvSpPr>
        <p:spPr>
          <a:xfrm>
            <a:off x="1533525" y="1571625"/>
            <a:ext cx="6475413" cy="142875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7" name="직사각형 16"/>
          <p:cNvSpPr/>
          <p:nvPr/>
        </p:nvSpPr>
        <p:spPr>
          <a:xfrm>
            <a:off x="1524000" y="1714500"/>
            <a:ext cx="6119813" cy="390525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>
              <a:latin typeface="나눔고딕OTF" pitchFamily="34" charset="-127"/>
              <a:ea typeface="나눔고딕OTF" pitchFamily="34" charset="-127"/>
            </a:endParaRPr>
          </a:p>
        </p:txBody>
      </p:sp>
      <p:cxnSp>
        <p:nvCxnSpPr>
          <p:cNvPr id="18" name="직선 화살표 연결선 17"/>
          <p:cNvCxnSpPr/>
          <p:nvPr/>
        </p:nvCxnSpPr>
        <p:spPr>
          <a:xfrm rot="16200000" flipH="1">
            <a:off x="4425156" y="2243932"/>
            <a:ext cx="1071563" cy="12700"/>
          </a:xfrm>
          <a:prstGeom prst="straightConnector1">
            <a:avLst/>
          </a:prstGeom>
          <a:ln w="19050">
            <a:solidFill>
              <a:srgbClr val="7030A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322" name="TextBox 59"/>
          <p:cNvSpPr txBox="1">
            <a:spLocks noChangeArrowheads="1"/>
          </p:cNvSpPr>
          <p:nvPr/>
        </p:nvSpPr>
        <p:spPr bwMode="auto">
          <a:xfrm>
            <a:off x="4171950" y="2786063"/>
            <a:ext cx="1924050" cy="461962"/>
          </a:xfrm>
          <a:prstGeom prst="rect">
            <a:avLst/>
          </a:prstGeom>
          <a:noFill/>
          <a:ln w="9525">
            <a:solidFill>
              <a:srgbClr val="FF0000"/>
            </a:solidFill>
            <a:miter lim="800000"/>
            <a:headEnd/>
            <a:tailEnd/>
          </a:ln>
        </p:spPr>
        <p:txBody>
          <a:bodyPr>
            <a:spAutoFit/>
          </a:bodyPr>
          <a:lstStyle/>
          <a:p>
            <a:pPr algn="ctr"/>
            <a:r>
              <a:rPr kumimoji="0" lang="ko-KR" altLang="en-US" sz="1200">
                <a:latin typeface="나눔고딕OTF" pitchFamily="34" charset="-127"/>
                <a:ea typeface="나눔고딕OTF" pitchFamily="34" charset="-127"/>
              </a:rPr>
              <a:t>검진 유형 별 작업메뉴 </a:t>
            </a:r>
            <a:endParaRPr kumimoji="0" lang="en-US" altLang="ko-KR" sz="1200">
              <a:latin typeface="나눔고딕OTF" pitchFamily="34" charset="-127"/>
              <a:ea typeface="나눔고딕OTF" pitchFamily="34" charset="-127"/>
            </a:endParaRPr>
          </a:p>
          <a:p>
            <a:pPr algn="ctr"/>
            <a:r>
              <a:rPr kumimoji="0" lang="ko-KR" altLang="en-US" sz="1200">
                <a:latin typeface="나눔고딕OTF" pitchFamily="34" charset="-127"/>
                <a:ea typeface="나눔고딕OTF" pitchFamily="34" charset="-127"/>
              </a:rPr>
              <a:t>및 프로그램 관리</a:t>
            </a:r>
            <a:endParaRPr kumimoji="0" lang="en-US" altLang="ko-KR" sz="120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3323" name="TextBox 59"/>
          <p:cNvSpPr txBox="1">
            <a:spLocks noChangeArrowheads="1"/>
          </p:cNvSpPr>
          <p:nvPr/>
        </p:nvSpPr>
        <p:spPr bwMode="auto">
          <a:xfrm>
            <a:off x="5821363" y="3444875"/>
            <a:ext cx="1993900" cy="277813"/>
          </a:xfrm>
          <a:prstGeom prst="rect">
            <a:avLst/>
          </a:prstGeom>
          <a:noFill/>
          <a:ln w="9525">
            <a:solidFill>
              <a:srgbClr val="FF0000"/>
            </a:solidFill>
            <a:miter lim="800000"/>
            <a:headEnd/>
            <a:tailEnd/>
          </a:ln>
        </p:spPr>
        <p:txBody>
          <a:bodyPr>
            <a:spAutoFit/>
          </a:bodyPr>
          <a:lstStyle/>
          <a:p>
            <a:pPr algn="ctr"/>
            <a:r>
              <a:rPr kumimoji="0" lang="ko-KR" altLang="en-US" sz="1200">
                <a:latin typeface="나눔고딕OTF" pitchFamily="34" charset="-127"/>
                <a:ea typeface="나눔고딕OTF" pitchFamily="34" charset="-127"/>
              </a:rPr>
              <a:t>검진 결과 입력 및 판정</a:t>
            </a:r>
            <a:endParaRPr kumimoji="0" lang="en-US" altLang="ko-KR" sz="120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3324" name="TextBox 59"/>
          <p:cNvSpPr txBox="1">
            <a:spLocks noChangeArrowheads="1"/>
          </p:cNvSpPr>
          <p:nvPr/>
        </p:nvSpPr>
        <p:spPr bwMode="auto">
          <a:xfrm>
            <a:off x="5024438" y="4357688"/>
            <a:ext cx="1995487" cy="276225"/>
          </a:xfrm>
          <a:prstGeom prst="rect">
            <a:avLst/>
          </a:prstGeom>
          <a:noFill/>
          <a:ln w="9525">
            <a:solidFill>
              <a:srgbClr val="FF0000"/>
            </a:solidFill>
            <a:miter lim="800000"/>
            <a:headEnd/>
            <a:tailEnd/>
          </a:ln>
        </p:spPr>
        <p:txBody>
          <a:bodyPr>
            <a:spAutoFit/>
          </a:bodyPr>
          <a:lstStyle/>
          <a:p>
            <a:pPr algn="ctr"/>
            <a:r>
              <a:rPr kumimoji="0" lang="ko-KR" altLang="en-US" sz="1200">
                <a:latin typeface="나눔고딕OTF" pitchFamily="34" charset="-127"/>
                <a:ea typeface="나눔고딕OTF" pitchFamily="34" charset="-127"/>
              </a:rPr>
              <a:t>결과 조회 화면</a:t>
            </a:r>
            <a:endParaRPr kumimoji="0" lang="en-US" altLang="ko-KR" sz="120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3325" name="TextBox 59"/>
          <p:cNvSpPr txBox="1">
            <a:spLocks noChangeArrowheads="1"/>
          </p:cNvSpPr>
          <p:nvPr/>
        </p:nvSpPr>
        <p:spPr bwMode="auto">
          <a:xfrm>
            <a:off x="1666875" y="4357688"/>
            <a:ext cx="1995488" cy="276225"/>
          </a:xfrm>
          <a:prstGeom prst="rect">
            <a:avLst/>
          </a:prstGeom>
          <a:noFill/>
          <a:ln w="9525">
            <a:solidFill>
              <a:srgbClr val="FF0000"/>
            </a:solidFill>
            <a:miter lim="800000"/>
            <a:headEnd/>
            <a:tailEnd/>
          </a:ln>
        </p:spPr>
        <p:txBody>
          <a:bodyPr>
            <a:spAutoFit/>
          </a:bodyPr>
          <a:lstStyle/>
          <a:p>
            <a:pPr algn="ctr"/>
            <a:r>
              <a:rPr kumimoji="0" lang="ko-KR" altLang="en-US" sz="1200">
                <a:latin typeface="나눔고딕OTF" pitchFamily="34" charset="-127"/>
                <a:ea typeface="나눔고딕OTF" pitchFamily="34" charset="-127"/>
              </a:rPr>
              <a:t>접수자 조회 화면</a:t>
            </a:r>
            <a:endParaRPr kumimoji="0" lang="en-US" altLang="ko-KR" sz="1200">
              <a:latin typeface="나눔고딕OTF" pitchFamily="34" charset="-127"/>
              <a:ea typeface="나눔고딕OTF" pitchFamily="34" charset="-127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직사각형 4"/>
          <p:cNvSpPr/>
          <p:nvPr/>
        </p:nvSpPr>
        <p:spPr>
          <a:xfrm flipH="1">
            <a:off x="0" y="0"/>
            <a:ext cx="9906000" cy="6858000"/>
          </a:xfrm>
          <a:prstGeom prst="rect">
            <a:avLst/>
          </a:prstGeom>
          <a:solidFill>
            <a:srgbClr val="BED39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/>
          </a:p>
        </p:txBody>
      </p:sp>
      <p:sp>
        <p:nvSpPr>
          <p:cNvPr id="14339" name="TextBox 13"/>
          <p:cNvSpPr txBox="1">
            <a:spLocks noChangeArrowheads="1"/>
          </p:cNvSpPr>
          <p:nvPr/>
        </p:nvSpPr>
        <p:spPr bwMode="auto">
          <a:xfrm>
            <a:off x="3440113" y="2636838"/>
            <a:ext cx="5337175" cy="9239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pPr marL="457200" indent="-457200">
              <a:lnSpc>
                <a:spcPct val="150000"/>
              </a:lnSpc>
            </a:pPr>
            <a:r>
              <a:rPr kumimoji="0" lang="en-US" altLang="ko-KR" sz="3600" b="1">
                <a:solidFill>
                  <a:schemeClr val="bg1"/>
                </a:solidFill>
                <a:latin typeface="나눔고딕OTF" pitchFamily="34" charset="-127"/>
                <a:ea typeface="나눔고딕OTF" pitchFamily="34" charset="-127"/>
              </a:rPr>
              <a:t>Ⅱ. </a:t>
            </a:r>
            <a:r>
              <a:rPr kumimoji="0" lang="ko-KR" altLang="en-US" sz="3600" b="1">
                <a:solidFill>
                  <a:schemeClr val="bg1"/>
                </a:solidFill>
                <a:latin typeface="나눔고딕OTF" pitchFamily="34" charset="-127"/>
                <a:ea typeface="나눔고딕OTF" pitchFamily="34" charset="-127"/>
              </a:rPr>
              <a:t>접수</a:t>
            </a:r>
            <a:r>
              <a:rPr kumimoji="0" lang="en-US" altLang="ko-KR" sz="3600" b="1">
                <a:solidFill>
                  <a:schemeClr val="bg1"/>
                </a:solidFill>
                <a:latin typeface="나눔고딕OTF" pitchFamily="34" charset="-127"/>
                <a:ea typeface="나눔고딕OTF" pitchFamily="34" charset="-127"/>
              </a:rPr>
              <a:t>,</a:t>
            </a:r>
            <a:r>
              <a:rPr kumimoji="0" lang="ko-KR" altLang="en-US" sz="3600" b="1">
                <a:solidFill>
                  <a:schemeClr val="bg1"/>
                </a:solidFill>
                <a:latin typeface="나눔고딕OTF" pitchFamily="34" charset="-127"/>
                <a:ea typeface="나눔고딕OTF" pitchFamily="34" charset="-127"/>
              </a:rPr>
              <a:t>조회</a:t>
            </a:r>
            <a:r>
              <a:rPr kumimoji="0" lang="en-US" altLang="ko-KR" sz="3600" b="1">
                <a:solidFill>
                  <a:schemeClr val="bg1"/>
                </a:solidFill>
                <a:latin typeface="나눔고딕OTF" pitchFamily="34" charset="-127"/>
                <a:ea typeface="나눔고딕OTF" pitchFamily="34" charset="-127"/>
              </a:rPr>
              <a:t>,</a:t>
            </a:r>
            <a:r>
              <a:rPr kumimoji="0" lang="ko-KR" altLang="en-US" sz="3600" b="1">
                <a:solidFill>
                  <a:schemeClr val="bg1"/>
                </a:solidFill>
                <a:latin typeface="나눔고딕OTF" pitchFamily="34" charset="-127"/>
                <a:ea typeface="나눔고딕OTF" pitchFamily="34" charset="-127"/>
              </a:rPr>
              <a:t>결과 및 판정</a:t>
            </a:r>
            <a:endParaRPr kumimoji="0" lang="en-US" altLang="ko-KR" sz="3600">
              <a:solidFill>
                <a:schemeClr val="bg1"/>
              </a:solidFill>
              <a:latin typeface="나눔고딕OTF" pitchFamily="34" charset="-127"/>
              <a:ea typeface="나눔고딕OTF" pitchFamily="34" charset="-127"/>
            </a:endParaRPr>
          </a:p>
        </p:txBody>
      </p:sp>
      <p:pic>
        <p:nvPicPr>
          <p:cNvPr id="14340" name="그림 7" descr="앨리스화면.png"/>
          <p:cNvPicPr>
            <a:picLocks noChangeAspect="1"/>
          </p:cNvPicPr>
          <p:nvPr/>
        </p:nvPicPr>
        <p:blipFill>
          <a:blip r:embed="rId2"/>
          <a:srcRect l="13019" t="12311" r="2361" b="5617"/>
          <a:stretch>
            <a:fillRect/>
          </a:stretch>
        </p:blipFill>
        <p:spPr bwMode="auto">
          <a:xfrm>
            <a:off x="1639888" y="2708275"/>
            <a:ext cx="1944687" cy="996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/>
          <p:cNvSpPr txBox="1"/>
          <p:nvPr/>
        </p:nvSpPr>
        <p:spPr>
          <a:xfrm>
            <a:off x="1497013" y="282575"/>
            <a:ext cx="617537" cy="3698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kumimoji="0" lang="ko-KR" altLang="en-US" dirty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접수</a:t>
            </a:r>
          </a:p>
        </p:txBody>
      </p:sp>
      <p:sp>
        <p:nvSpPr>
          <p:cNvPr id="15363" name="TextBox 4"/>
          <p:cNvSpPr txBox="1">
            <a:spLocks noChangeArrowheads="1"/>
          </p:cNvSpPr>
          <p:nvPr/>
        </p:nvSpPr>
        <p:spPr bwMode="auto">
          <a:xfrm>
            <a:off x="381000" y="785813"/>
            <a:ext cx="1022350" cy="3079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kumimoji="0" lang="en-US" altLang="ko-KR" sz="1400" b="1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400" b="1">
                <a:latin typeface="나눔고딕OTF" pitchFamily="34" charset="-127"/>
                <a:ea typeface="나눔고딕OTF" pitchFamily="34" charset="-127"/>
              </a:rPr>
              <a:t>접수 화면</a:t>
            </a:r>
          </a:p>
        </p:txBody>
      </p:sp>
      <p:sp>
        <p:nvSpPr>
          <p:cNvPr id="15364" name="TextBox 59"/>
          <p:cNvSpPr txBox="1">
            <a:spLocks noChangeArrowheads="1"/>
          </p:cNvSpPr>
          <p:nvPr/>
        </p:nvSpPr>
        <p:spPr bwMode="auto">
          <a:xfrm>
            <a:off x="415925" y="1052513"/>
            <a:ext cx="4965700" cy="2762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kumimoji="0" lang="en-US" altLang="ko-KR" sz="1200">
                <a:latin typeface="나눔고딕OTF" pitchFamily="34" charset="-127"/>
                <a:ea typeface="나눔고딕OTF" pitchFamily="34" charset="-127"/>
              </a:rPr>
              <a:t> - </a:t>
            </a:r>
            <a:r>
              <a:rPr kumimoji="0" lang="ko-KR" altLang="en-US" sz="1200">
                <a:latin typeface="나눔고딕OTF" pitchFamily="34" charset="-127"/>
                <a:ea typeface="나눔고딕OTF" pitchFamily="34" charset="-127"/>
              </a:rPr>
              <a:t>메인화면에서 </a:t>
            </a:r>
            <a:r>
              <a:rPr kumimoji="0" lang="en-US" altLang="ko-KR" sz="1200">
                <a:latin typeface="나눔고딕OTF" pitchFamily="34" charset="-127"/>
                <a:ea typeface="나눔고딕OTF" pitchFamily="34" charset="-127"/>
              </a:rPr>
              <a:t>“</a:t>
            </a:r>
            <a:r>
              <a:rPr kumimoji="0" lang="ko-KR" altLang="en-US" sz="1200">
                <a:latin typeface="나눔고딕OTF" pitchFamily="34" charset="-127"/>
                <a:ea typeface="나눔고딕OTF" pitchFamily="34" charset="-127"/>
              </a:rPr>
              <a:t>접수</a:t>
            </a:r>
            <a:r>
              <a:rPr kumimoji="0" lang="en-US" altLang="ko-KR" sz="1200">
                <a:latin typeface="나눔고딕OTF" pitchFamily="34" charset="-127"/>
                <a:ea typeface="나눔고딕OTF" pitchFamily="34" charset="-127"/>
              </a:rPr>
              <a:t>(F3)” </a:t>
            </a:r>
            <a:r>
              <a:rPr kumimoji="0" lang="ko-KR" altLang="en-US" sz="1200">
                <a:latin typeface="나눔고딕OTF" pitchFamily="34" charset="-127"/>
                <a:ea typeface="나눔고딕OTF" pitchFamily="34" charset="-127"/>
              </a:rPr>
              <a:t>버튼을 누르면 아래 화면이 나타납니다</a:t>
            </a:r>
            <a:r>
              <a:rPr kumimoji="0" lang="en-US" altLang="ko-KR" sz="1200">
                <a:latin typeface="나눔고딕OTF" pitchFamily="34" charset="-127"/>
                <a:ea typeface="나눔고딕OTF" pitchFamily="34" charset="-127"/>
              </a:rPr>
              <a:t>.</a:t>
            </a:r>
          </a:p>
        </p:txBody>
      </p:sp>
      <p:pic>
        <p:nvPicPr>
          <p:cNvPr id="15365" name="Picture 2"/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595313" y="1500188"/>
            <a:ext cx="5929312" cy="47053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20" name="직사각형 19"/>
          <p:cNvSpPr/>
          <p:nvPr/>
        </p:nvSpPr>
        <p:spPr>
          <a:xfrm>
            <a:off x="666750" y="1714500"/>
            <a:ext cx="1285875" cy="642938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21" name="타원 20"/>
          <p:cNvSpPr/>
          <p:nvPr/>
        </p:nvSpPr>
        <p:spPr>
          <a:xfrm>
            <a:off x="452438" y="1571625"/>
            <a:ext cx="285750" cy="285750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600" dirty="0">
                <a:solidFill>
                  <a:schemeClr val="tx1"/>
                </a:solidFill>
              </a:rPr>
              <a:t>1</a:t>
            </a:r>
            <a:endParaRPr lang="ko-KR" altLang="en-US" sz="1600" dirty="0">
              <a:solidFill>
                <a:schemeClr val="tx1"/>
              </a:solidFill>
            </a:endParaRPr>
          </a:p>
        </p:txBody>
      </p:sp>
      <p:sp>
        <p:nvSpPr>
          <p:cNvPr id="22" name="직사각형 21"/>
          <p:cNvSpPr/>
          <p:nvPr/>
        </p:nvSpPr>
        <p:spPr>
          <a:xfrm>
            <a:off x="2095500" y="1714500"/>
            <a:ext cx="2428875" cy="2786063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23" name="타원 22"/>
          <p:cNvSpPr/>
          <p:nvPr/>
        </p:nvSpPr>
        <p:spPr>
          <a:xfrm>
            <a:off x="1952625" y="1500188"/>
            <a:ext cx="285750" cy="263525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600" dirty="0">
                <a:solidFill>
                  <a:schemeClr val="tx1"/>
                </a:solidFill>
              </a:rPr>
              <a:t>2</a:t>
            </a:r>
            <a:endParaRPr lang="ko-KR" altLang="en-US" sz="1600" dirty="0">
              <a:solidFill>
                <a:schemeClr val="tx1"/>
              </a:solidFill>
            </a:endParaRPr>
          </a:p>
        </p:txBody>
      </p:sp>
      <p:grpSp>
        <p:nvGrpSpPr>
          <p:cNvPr id="13" name="그룹 12"/>
          <p:cNvGrpSpPr/>
          <p:nvPr/>
        </p:nvGrpSpPr>
        <p:grpSpPr>
          <a:xfrm>
            <a:off x="6524625" y="1593850"/>
            <a:ext cx="3108325" cy="3970318"/>
            <a:chOff x="6524625" y="1593850"/>
            <a:chExt cx="3108325" cy="3970318"/>
          </a:xfrm>
        </p:grpSpPr>
        <p:sp>
          <p:nvSpPr>
            <p:cNvPr id="15370" name="TextBox 4"/>
            <p:cNvSpPr txBox="1">
              <a:spLocks noChangeArrowheads="1"/>
            </p:cNvSpPr>
            <p:nvPr/>
          </p:nvSpPr>
          <p:spPr bwMode="auto">
            <a:xfrm>
              <a:off x="6524625" y="1593850"/>
              <a:ext cx="3108325" cy="3970318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>
              <a:spAutoFit/>
            </a:bodyPr>
            <a:lstStyle/>
            <a:p>
              <a:pPr marL="228600" indent="-228600">
                <a:lnSpc>
                  <a:spcPct val="120000"/>
                </a:lnSpc>
                <a:buFontTx/>
                <a:buAutoNum type="arabicParenR"/>
              </a:pPr>
              <a:r>
                <a:rPr kumimoji="0" lang="ko-KR" altLang="en-US" sz="1000" b="1" dirty="0">
                  <a:latin typeface="나눔고딕OTF" pitchFamily="34" charset="-127"/>
                  <a:ea typeface="나눔고딕OTF" pitchFamily="34" charset="-127"/>
                </a:rPr>
                <a:t>검진 구분 선택</a:t>
              </a:r>
              <a:endParaRPr kumimoji="0" lang="en-US" altLang="ko-KR" sz="1000" b="1" dirty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b="1" dirty="0">
                  <a:latin typeface="나눔고딕OTF" pitchFamily="34" charset="-127"/>
                  <a:ea typeface="나눔고딕OTF" pitchFamily="34" charset="-127"/>
                </a:rPr>
                <a:t>   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- 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접수 입력 시 가장 먼저 선택합니다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b="1" dirty="0">
                  <a:latin typeface="나눔고딕OTF" pitchFamily="34" charset="-127"/>
                  <a:ea typeface="나눔고딕OTF" pitchFamily="34" charset="-127"/>
                </a:rPr>
                <a:t>   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- 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중복 선택이 가능합니다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b="1" dirty="0">
                  <a:latin typeface="나눔고딕OTF" pitchFamily="34" charset="-127"/>
                  <a:ea typeface="나눔고딕OTF" pitchFamily="34" charset="-127"/>
                </a:rPr>
                <a:t>   </a:t>
              </a:r>
              <a:r>
                <a:rPr kumimoji="0" lang="en-US" altLang="ko-KR" sz="1000" dirty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- </a:t>
              </a:r>
              <a:r>
                <a:rPr kumimoji="0" lang="ko-KR" altLang="en-US" sz="1000" dirty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생애검진 환자는 다른 검진과 함께 생애검진을 선택해야 합니다</a:t>
              </a:r>
              <a:r>
                <a:rPr kumimoji="0" lang="en-US" altLang="ko-KR" sz="1000" dirty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. </a:t>
              </a:r>
              <a:r>
                <a:rPr kumimoji="0" lang="ko-KR" altLang="en-US" sz="1000" dirty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생애검진만 선택하면 안됩니다</a:t>
              </a:r>
              <a:r>
                <a:rPr kumimoji="0" lang="en-US" altLang="ko-KR" sz="1000" dirty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b="1" dirty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   </a:t>
              </a:r>
              <a:r>
                <a:rPr kumimoji="0" lang="en-US" altLang="ko-KR" sz="1000" dirty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ex) </a:t>
              </a:r>
              <a:r>
                <a:rPr kumimoji="0" lang="ko-KR" altLang="en-US" sz="1000" dirty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건강검진 </a:t>
              </a:r>
              <a:r>
                <a:rPr kumimoji="0" lang="en-US" altLang="ko-KR" sz="1000" dirty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+ </a:t>
              </a:r>
              <a:r>
                <a:rPr kumimoji="0" lang="ko-KR" altLang="en-US" sz="1000" dirty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생애검진</a:t>
              </a:r>
              <a:r>
                <a:rPr kumimoji="0" lang="en-US" altLang="ko-KR" sz="1000" dirty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, </a:t>
              </a:r>
              <a:r>
                <a:rPr kumimoji="0" lang="ko-KR" altLang="en-US" sz="1000" dirty="0" err="1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암검진</a:t>
              </a:r>
              <a:r>
                <a:rPr kumimoji="0" lang="ko-KR" altLang="en-US" sz="1000" dirty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 </a:t>
              </a:r>
              <a:r>
                <a:rPr kumimoji="0" lang="en-US" altLang="ko-KR" sz="1000" dirty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+ </a:t>
              </a:r>
              <a:r>
                <a:rPr kumimoji="0" lang="ko-KR" altLang="en-US" sz="1000" dirty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생애검진</a:t>
              </a:r>
              <a:endParaRPr kumimoji="0" lang="en-US" altLang="ko-KR" sz="1000" dirty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>
                <a:latin typeface="나눔고딕OTF ExtraBold" pitchFamily="34" charset="-127"/>
                <a:ea typeface="나눔고딕OTF ExtraBold" pitchFamily="34" charset="-127"/>
              </a:endParaRPr>
            </a:p>
            <a:p>
              <a:pPr marL="228600" indent="-228600">
                <a:lnSpc>
                  <a:spcPct val="120000"/>
                </a:lnSpc>
                <a:buFontTx/>
                <a:buAutoNum type="arabicParenR" startAt="2"/>
              </a:pPr>
              <a:r>
                <a:rPr kumimoji="0" lang="ko-KR" altLang="en-US" sz="1000" b="1" dirty="0" err="1">
                  <a:latin typeface="나눔고딕OTF" pitchFamily="34" charset="-127"/>
                  <a:ea typeface="나눔고딕OTF" pitchFamily="34" charset="-127"/>
                </a:rPr>
                <a:t>인적사항</a:t>
              </a:r>
              <a:r>
                <a:rPr kumimoji="0" lang="ko-KR" altLang="en-US" sz="1000" b="1" dirty="0">
                  <a:latin typeface="나눔고딕OTF" pitchFamily="34" charset="-127"/>
                  <a:ea typeface="나눔고딕OTF" pitchFamily="34" charset="-127"/>
                </a:rPr>
                <a:t> 입력</a:t>
              </a:r>
              <a:endParaRPr kumimoji="0" lang="en-US" altLang="ko-KR" sz="1000" b="1" dirty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>
                  <a:latin typeface="나눔고딕OTF Light" pitchFamily="34" charset="-127"/>
                  <a:ea typeface="나눔고딕OTF Light" pitchFamily="34" charset="-127"/>
                </a:rPr>
                <a:t>   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- 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검진일자를 입력하면 </a:t>
              </a:r>
              <a:r>
                <a:rPr kumimoji="0" lang="ko-KR" altLang="en-US" sz="1000" dirty="0" err="1">
                  <a:latin typeface="나눔고딕OTF" pitchFamily="34" charset="-127"/>
                  <a:ea typeface="나눔고딕OTF" pitchFamily="34" charset="-127"/>
                </a:rPr>
                <a:t>검체번호는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 자동으로 생성됩니다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   - 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수진자명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, 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주민번호는 직접 입력하거나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, 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검진 이력이 있는 수진자의 경우     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 버튼을 눌러서   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검색할 수 있습니다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   - 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보험번호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, 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직역 등 </a:t>
              </a:r>
              <a:r>
                <a:rPr kumimoji="0" lang="ko-KR" altLang="en-US" sz="1000" dirty="0">
                  <a:solidFill>
                    <a:schemeClr val="accent1"/>
                  </a:solidFill>
                  <a:latin typeface="나눔고딕OTF" pitchFamily="34" charset="-127"/>
                  <a:ea typeface="나눔고딕OTF" pitchFamily="34" charset="-127"/>
                </a:rPr>
                <a:t>파란색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으로 표시된 항목은 건강검진 청구 시 필요한 항목입니다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. 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공단검진 환자는 검진일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, 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성명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, 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주민번호만 입력한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뒤 </a:t>
              </a:r>
              <a:endParaRPr kumimoji="0" lang="en-US" altLang="ko-KR" sz="1000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 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           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버튼을 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클릭하면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 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공단 웹 페이지에서 조회되는 항목이 자동으로 입력됩니다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>
                  <a:solidFill>
                    <a:schemeClr val="accent1"/>
                  </a:solidFill>
                  <a:latin typeface="나눔고딕OTF" pitchFamily="34" charset="-127"/>
                  <a:ea typeface="나눔고딕OTF" pitchFamily="34" charset="-127"/>
                </a:rPr>
                <a:t>   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- 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종합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, 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채용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, 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기타검진은 검진일자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, 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수진자명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, 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사업장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,</a:t>
              </a: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	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주민번호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,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 청구구분 까지만 입력해도 접수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 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가능합니다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</p:txBody>
        </p:sp>
        <p:pic>
          <p:nvPicPr>
            <p:cNvPr id="15371" name="Picture 2"/>
            <p:cNvPicPr>
              <a:picLocks noChangeAspect="1" noChangeArrowheads="1"/>
            </p:cNvPicPr>
            <p:nvPr/>
          </p:nvPicPr>
          <p:blipFill>
            <a:blip r:embed="rId3"/>
            <a:srcRect/>
            <a:stretch>
              <a:fillRect/>
            </a:stretch>
          </p:blipFill>
          <p:spPr bwMode="auto">
            <a:xfrm>
              <a:off x="8024834" y="3635076"/>
              <a:ext cx="209550" cy="209550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</p:pic>
        <p:pic>
          <p:nvPicPr>
            <p:cNvPr id="15372" name="Picture 3"/>
            <p:cNvPicPr>
              <a:picLocks noChangeAspect="1" noChangeArrowheads="1"/>
            </p:cNvPicPr>
            <p:nvPr/>
          </p:nvPicPr>
          <p:blipFill>
            <a:blip r:embed="rId4"/>
            <a:srcRect/>
            <a:stretch>
              <a:fillRect/>
            </a:stretch>
          </p:blipFill>
          <p:spPr bwMode="auto">
            <a:xfrm>
              <a:off x="6738953" y="4572008"/>
              <a:ext cx="428625" cy="173038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</p:pic>
      </p:grp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/>
          <p:cNvSpPr txBox="1"/>
          <p:nvPr/>
        </p:nvSpPr>
        <p:spPr>
          <a:xfrm>
            <a:off x="1497013" y="282575"/>
            <a:ext cx="617537" cy="3698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kumimoji="0" lang="ko-KR" altLang="en-US" dirty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접수</a:t>
            </a:r>
          </a:p>
        </p:txBody>
      </p:sp>
      <p:sp>
        <p:nvSpPr>
          <p:cNvPr id="16387" name="TextBox 4"/>
          <p:cNvSpPr txBox="1">
            <a:spLocks noChangeArrowheads="1"/>
          </p:cNvSpPr>
          <p:nvPr/>
        </p:nvSpPr>
        <p:spPr bwMode="auto">
          <a:xfrm>
            <a:off x="381000" y="785813"/>
            <a:ext cx="1022350" cy="3079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kumimoji="0" lang="en-US" altLang="ko-KR" sz="1400" b="1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400" b="1">
                <a:latin typeface="나눔고딕OTF" pitchFamily="34" charset="-127"/>
                <a:ea typeface="나눔고딕OTF" pitchFamily="34" charset="-127"/>
              </a:rPr>
              <a:t>접수 화면</a:t>
            </a:r>
          </a:p>
        </p:txBody>
      </p:sp>
      <p:pic>
        <p:nvPicPr>
          <p:cNvPr id="16388" name="Picture 2"/>
          <p:cNvPicPr>
            <a:picLocks noChangeAspect="1" noChangeArrowheads="1"/>
          </p:cNvPicPr>
          <p:nvPr/>
        </p:nvPicPr>
        <p:blipFill>
          <a:blip r:embed="rId2"/>
          <a:srcRect l="21686" r="31325" b="43826"/>
          <a:stretch>
            <a:fillRect/>
          </a:stretch>
        </p:blipFill>
        <p:spPr bwMode="auto">
          <a:xfrm>
            <a:off x="523875" y="1728788"/>
            <a:ext cx="3071813" cy="29146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22" name="직사각형 21"/>
          <p:cNvSpPr/>
          <p:nvPr/>
        </p:nvSpPr>
        <p:spPr>
          <a:xfrm>
            <a:off x="738188" y="2586038"/>
            <a:ext cx="571500" cy="28575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6390" name="TextBox 4"/>
          <p:cNvSpPr txBox="1">
            <a:spLocks noChangeArrowheads="1"/>
          </p:cNvSpPr>
          <p:nvPr/>
        </p:nvSpPr>
        <p:spPr bwMode="auto">
          <a:xfrm>
            <a:off x="6524625" y="1822450"/>
            <a:ext cx="3108325" cy="119221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 marL="228600" indent="-228600">
              <a:lnSpc>
                <a:spcPct val="120000"/>
              </a:lnSpc>
            </a:pP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주소 검색은 접수 화면의 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“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주소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” 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칸을 클릭하면 다음 주소검색 화면이 표시됩니다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주소를 검색한 뒤 상세주소만 추가로 입력해주시면 됩니다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   </a:t>
            </a:r>
            <a:r>
              <a:rPr kumimoji="0" lang="en-US" altLang="ko-KR" sz="100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* </a:t>
            </a:r>
            <a:r>
              <a:rPr kumimoji="0" lang="ko-KR" altLang="en-US" sz="100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주소 최대 길이는 한글</a:t>
            </a:r>
            <a:r>
              <a:rPr kumimoji="0" lang="en-US" altLang="ko-KR" sz="100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(</a:t>
            </a:r>
            <a:r>
              <a:rPr kumimoji="0" lang="ko-KR" altLang="en-US" sz="100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공백포함</a:t>
            </a:r>
            <a:r>
              <a:rPr kumimoji="0" lang="en-US" altLang="ko-KR" sz="100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) 80</a:t>
            </a:r>
            <a:r>
              <a:rPr kumimoji="0" lang="ko-KR" altLang="en-US" sz="100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자 입니다</a:t>
            </a:r>
            <a:r>
              <a:rPr kumimoji="0" lang="en-US" altLang="ko-KR" sz="100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 </a:t>
            </a:r>
          </a:p>
        </p:txBody>
      </p:sp>
      <p:sp>
        <p:nvSpPr>
          <p:cNvPr id="31" name="직사각형 30"/>
          <p:cNvSpPr/>
          <p:nvPr/>
        </p:nvSpPr>
        <p:spPr>
          <a:xfrm>
            <a:off x="1381125" y="3014663"/>
            <a:ext cx="785813" cy="285750"/>
          </a:xfrm>
          <a:prstGeom prst="rect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ko-KR" altLang="en-US" sz="1400" b="1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클릭</a:t>
            </a:r>
          </a:p>
        </p:txBody>
      </p:sp>
      <p:cxnSp>
        <p:nvCxnSpPr>
          <p:cNvPr id="37" name="Shape 36"/>
          <p:cNvCxnSpPr>
            <a:stCxn id="31" idx="1"/>
            <a:endCxn id="22" idx="2"/>
          </p:cNvCxnSpPr>
          <p:nvPr/>
        </p:nvCxnSpPr>
        <p:spPr>
          <a:xfrm rot="10800000">
            <a:off x="1023938" y="2871788"/>
            <a:ext cx="357187" cy="285750"/>
          </a:xfrm>
          <a:prstGeom prst="bentConnector2">
            <a:avLst/>
          </a:prstGeom>
          <a:ln w="25400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6393" name="Picture 2"/>
          <p:cNvPicPr>
            <a:picLocks noChangeAspect="1" noChangeArrowheads="1"/>
          </p:cNvPicPr>
          <p:nvPr/>
        </p:nvPicPr>
        <p:blipFill>
          <a:blip r:embed="rId3"/>
          <a:srcRect/>
          <a:stretch>
            <a:fillRect/>
          </a:stretch>
        </p:blipFill>
        <p:spPr bwMode="auto">
          <a:xfrm>
            <a:off x="3708400" y="1728788"/>
            <a:ext cx="2887663" cy="28813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cxnSp>
        <p:nvCxnSpPr>
          <p:cNvPr id="39" name="Shape 38"/>
          <p:cNvCxnSpPr>
            <a:stCxn id="22" idx="0"/>
          </p:cNvCxnSpPr>
          <p:nvPr/>
        </p:nvCxnSpPr>
        <p:spPr>
          <a:xfrm rot="16200000" flipH="1">
            <a:off x="2074863" y="1535113"/>
            <a:ext cx="582612" cy="2684462"/>
          </a:xfrm>
          <a:prstGeom prst="bentConnector4">
            <a:avLst>
              <a:gd name="adj1" fmla="val -39184"/>
              <a:gd name="adj2" fmla="val 55321"/>
            </a:avLst>
          </a:prstGeom>
          <a:ln w="25400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직사각형 12"/>
          <p:cNvSpPr/>
          <p:nvPr/>
        </p:nvSpPr>
        <p:spPr>
          <a:xfrm>
            <a:off x="2667000" y="3800475"/>
            <a:ext cx="727075" cy="398463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6396" name="TextBox 4"/>
          <p:cNvSpPr txBox="1">
            <a:spLocks noChangeArrowheads="1"/>
          </p:cNvSpPr>
          <p:nvPr/>
        </p:nvSpPr>
        <p:spPr bwMode="auto">
          <a:xfrm>
            <a:off x="6524625" y="3371850"/>
            <a:ext cx="3179763" cy="12001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   - 2</a:t>
            </a:r>
            <a:r>
              <a:rPr kumimoji="0" lang="ko-KR" altLang="en-US" sz="1000" dirty="0">
                <a:latin typeface="나눔고딕OTF" pitchFamily="34" charset="-127"/>
                <a:ea typeface="나눔고딕OTF" pitchFamily="34" charset="-127"/>
              </a:rPr>
              <a:t>회 검진 </a:t>
            </a: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: </a:t>
            </a:r>
            <a:r>
              <a:rPr kumimoji="0" lang="ko-KR" altLang="en-US" sz="1000" dirty="0" err="1">
                <a:latin typeface="나눔고딕OTF" pitchFamily="34" charset="-127"/>
                <a:ea typeface="나눔고딕OTF" pitchFamily="34" charset="-127"/>
              </a:rPr>
              <a:t>메르스로</a:t>
            </a:r>
            <a:r>
              <a:rPr kumimoji="0" lang="ko-KR" altLang="en-US" sz="1000" dirty="0">
                <a:latin typeface="나눔고딕OTF" pitchFamily="34" charset="-127"/>
                <a:ea typeface="나눔고딕OTF" pitchFamily="34" charset="-127"/>
              </a:rPr>
              <a:t> 인한 검진 </a:t>
            </a: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2</a:t>
            </a:r>
            <a:r>
              <a:rPr kumimoji="0" lang="ko-KR" altLang="en-US" sz="1000" dirty="0" err="1">
                <a:latin typeface="나눔고딕OTF" pitchFamily="34" charset="-127"/>
                <a:ea typeface="나눔고딕OTF" pitchFamily="34" charset="-127"/>
              </a:rPr>
              <a:t>회차인</a:t>
            </a:r>
            <a:r>
              <a:rPr kumimoji="0" lang="ko-KR" altLang="en-US" sz="1000" dirty="0">
                <a:latin typeface="나눔고딕OTF" pitchFamily="34" charset="-127"/>
                <a:ea typeface="나눔고딕OTF" pitchFamily="34" charset="-127"/>
              </a:rPr>
              <a:t> 경우 체크</a:t>
            </a: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   - 2</a:t>
            </a:r>
            <a:r>
              <a:rPr kumimoji="0" lang="ko-KR" altLang="en-US" sz="1000" dirty="0" err="1">
                <a:latin typeface="나눔고딕OTF" pitchFamily="34" charset="-127"/>
                <a:ea typeface="나눔고딕OTF" pitchFamily="34" charset="-127"/>
              </a:rPr>
              <a:t>차검진만</a:t>
            </a:r>
            <a:r>
              <a:rPr kumimoji="0" lang="ko-KR" altLang="en-US" sz="1000" dirty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: 1</a:t>
            </a:r>
            <a:r>
              <a:rPr kumimoji="0" lang="ko-KR" altLang="en-US" sz="1000" dirty="0" err="1">
                <a:latin typeface="나눔고딕OTF" pitchFamily="34" charset="-127"/>
                <a:ea typeface="나눔고딕OTF" pitchFamily="34" charset="-127"/>
              </a:rPr>
              <a:t>차검진과</a:t>
            </a:r>
            <a:r>
              <a:rPr kumimoji="0" lang="ko-KR" altLang="en-US" sz="1000" dirty="0">
                <a:latin typeface="나눔고딕OTF" pitchFamily="34" charset="-127"/>
                <a:ea typeface="나눔고딕OTF" pitchFamily="34" charset="-127"/>
              </a:rPr>
              <a:t> 분리하여 접수하는 경우</a:t>
            </a: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, 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	</a:t>
            </a:r>
            <a:r>
              <a:rPr kumimoji="0" lang="ko-KR" altLang="en-US" sz="1000" dirty="0">
                <a:latin typeface="나눔고딕OTF" pitchFamily="34" charset="-127"/>
                <a:ea typeface="나눔고딕OTF" pitchFamily="34" charset="-127"/>
              </a:rPr>
              <a:t>타 병원에서 </a:t>
            </a: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1</a:t>
            </a:r>
            <a:r>
              <a:rPr kumimoji="0" lang="ko-KR" altLang="en-US" sz="1000" dirty="0" err="1">
                <a:latin typeface="나눔고딕OTF" pitchFamily="34" charset="-127"/>
                <a:ea typeface="나눔고딕OTF" pitchFamily="34" charset="-127"/>
              </a:rPr>
              <a:t>차검진을</a:t>
            </a:r>
            <a:r>
              <a:rPr kumimoji="0" lang="ko-KR" altLang="en-US" sz="1000" dirty="0">
                <a:latin typeface="나눔고딕OTF" pitchFamily="34" charset="-127"/>
                <a:ea typeface="나눔고딕OTF" pitchFamily="34" charset="-127"/>
              </a:rPr>
              <a:t> 한 수진자의 경우 체크</a:t>
            </a: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err="1">
                <a:latin typeface="나눔고딕OTF" pitchFamily="34" charset="-127"/>
                <a:ea typeface="나눔고딕OTF" pitchFamily="34" charset="-127"/>
              </a:rPr>
              <a:t>암추가검진</a:t>
            </a:r>
            <a:r>
              <a:rPr kumimoji="0" lang="ko-KR" altLang="en-US" sz="1000" dirty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: </a:t>
            </a:r>
            <a:r>
              <a:rPr kumimoji="0" lang="ko-KR" altLang="en-US" sz="1000" dirty="0" err="1">
                <a:latin typeface="나눔고딕OTF" pitchFamily="34" charset="-127"/>
                <a:ea typeface="나눔고딕OTF" pitchFamily="34" charset="-127"/>
              </a:rPr>
              <a:t>암검진을</a:t>
            </a:r>
            <a:r>
              <a:rPr kumimoji="0" lang="ko-KR" altLang="en-US" sz="1000" dirty="0">
                <a:latin typeface="나눔고딕OTF" pitchFamily="34" charset="-127"/>
                <a:ea typeface="나눔고딕OTF" pitchFamily="34" charset="-127"/>
              </a:rPr>
              <a:t> 하여 추가지급 청구서가</a:t>
            </a:r>
            <a:endParaRPr kumimoji="0" lang="en-US" altLang="ko-KR" sz="1000" dirty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	</a:t>
            </a:r>
            <a:r>
              <a:rPr kumimoji="0" lang="ko-KR" altLang="en-US" sz="1000" dirty="0">
                <a:latin typeface="나눔고딕OTF" pitchFamily="34" charset="-127"/>
                <a:ea typeface="나눔고딕OTF" pitchFamily="34" charset="-127"/>
              </a:rPr>
              <a:t>필요한 경우 체크</a:t>
            </a: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   </a:t>
            </a:r>
            <a:r>
              <a:rPr kumimoji="0" lang="en-US" altLang="ko-KR" sz="1000" dirty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* 1</a:t>
            </a:r>
            <a:r>
              <a:rPr kumimoji="0" lang="ko-KR" altLang="en-US" sz="1000" dirty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차 </a:t>
            </a:r>
            <a:r>
              <a:rPr kumimoji="0" lang="ko-KR" altLang="en-US" sz="1000" dirty="0" err="1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암검진을</a:t>
            </a:r>
            <a:r>
              <a:rPr kumimoji="0" lang="ko-KR" altLang="en-US" sz="1000" dirty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 타 병원에서 하고 온 경우에는 체크 </a:t>
            </a:r>
            <a:r>
              <a:rPr kumimoji="0" lang="en-US" altLang="ko-KR" sz="1000" dirty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X.</a:t>
            </a:r>
          </a:p>
        </p:txBody>
      </p:sp>
      <p:cxnSp>
        <p:nvCxnSpPr>
          <p:cNvPr id="15" name="Shape 14"/>
          <p:cNvCxnSpPr/>
          <p:nvPr/>
        </p:nvCxnSpPr>
        <p:spPr>
          <a:xfrm rot="5400000" flipH="1" flipV="1">
            <a:off x="4706938" y="2327275"/>
            <a:ext cx="255587" cy="3636963"/>
          </a:xfrm>
          <a:prstGeom prst="bentConnector4">
            <a:avLst>
              <a:gd name="adj1" fmla="val -89337"/>
              <a:gd name="adj2" fmla="val 54997"/>
            </a:avLst>
          </a:prstGeom>
          <a:ln w="25400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410" name="Picture 7"/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452438" y="1433513"/>
            <a:ext cx="4476750" cy="456723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6" name="TextBox 5"/>
          <p:cNvSpPr txBox="1"/>
          <p:nvPr/>
        </p:nvSpPr>
        <p:spPr>
          <a:xfrm>
            <a:off x="1497013" y="282575"/>
            <a:ext cx="617537" cy="3698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kumimoji="0" lang="ko-KR" altLang="en-US" dirty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접수</a:t>
            </a:r>
            <a:endParaRPr kumimoji="0" lang="en-US" altLang="ko-KR" dirty="0">
              <a:solidFill>
                <a:schemeClr val="bg1">
                  <a:lumMod val="50000"/>
                </a:schemeClr>
              </a:solidFill>
              <a:latin typeface="나눔고딕OTF ExtraBold" pitchFamily="34" charset="-127"/>
              <a:ea typeface="나눔고딕OTF ExtraBold" pitchFamily="34" charset="-127"/>
            </a:endParaRPr>
          </a:p>
        </p:txBody>
      </p:sp>
      <p:sp>
        <p:nvSpPr>
          <p:cNvPr id="17412" name="TextBox 4"/>
          <p:cNvSpPr txBox="1">
            <a:spLocks noChangeArrowheads="1"/>
          </p:cNvSpPr>
          <p:nvPr/>
        </p:nvSpPr>
        <p:spPr bwMode="auto">
          <a:xfrm>
            <a:off x="381000" y="785813"/>
            <a:ext cx="1022350" cy="3079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kumimoji="0" lang="en-US" altLang="ko-KR" sz="1400" b="1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400" b="1">
                <a:latin typeface="나눔고딕OTF" pitchFamily="34" charset="-127"/>
                <a:ea typeface="나눔고딕OTF" pitchFamily="34" charset="-127"/>
              </a:rPr>
              <a:t>접수 화면</a:t>
            </a:r>
          </a:p>
        </p:txBody>
      </p:sp>
      <p:sp>
        <p:nvSpPr>
          <p:cNvPr id="8" name="직사각형 7"/>
          <p:cNvSpPr/>
          <p:nvPr/>
        </p:nvSpPr>
        <p:spPr>
          <a:xfrm>
            <a:off x="2944813" y="1428750"/>
            <a:ext cx="1936750" cy="4429125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9" name="타원 8"/>
          <p:cNvSpPr/>
          <p:nvPr/>
        </p:nvSpPr>
        <p:spPr>
          <a:xfrm>
            <a:off x="2730500" y="1214438"/>
            <a:ext cx="285750" cy="285750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600" dirty="0">
                <a:solidFill>
                  <a:schemeClr val="tx1"/>
                </a:solidFill>
              </a:rPr>
              <a:t>3</a:t>
            </a:r>
            <a:endParaRPr lang="ko-KR" altLang="en-US" sz="1600" dirty="0">
              <a:solidFill>
                <a:schemeClr val="tx1"/>
              </a:solidFill>
            </a:endParaRPr>
          </a:p>
        </p:txBody>
      </p:sp>
      <p:sp>
        <p:nvSpPr>
          <p:cNvPr id="11" name="직사각형 10"/>
          <p:cNvSpPr/>
          <p:nvPr/>
        </p:nvSpPr>
        <p:spPr>
          <a:xfrm>
            <a:off x="452438" y="4714875"/>
            <a:ext cx="2428875" cy="785813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2" name="타원 11"/>
          <p:cNvSpPr/>
          <p:nvPr/>
        </p:nvSpPr>
        <p:spPr>
          <a:xfrm>
            <a:off x="309563" y="4500563"/>
            <a:ext cx="285750" cy="285750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600" dirty="0">
                <a:solidFill>
                  <a:schemeClr val="tx1"/>
                </a:solidFill>
              </a:rPr>
              <a:t>4</a:t>
            </a:r>
            <a:endParaRPr lang="ko-KR" altLang="en-US" sz="1600" dirty="0">
              <a:solidFill>
                <a:schemeClr val="tx1"/>
              </a:solidFill>
            </a:endParaRPr>
          </a:p>
        </p:txBody>
      </p:sp>
      <p:grpSp>
        <p:nvGrpSpPr>
          <p:cNvPr id="14" name="그룹 13"/>
          <p:cNvGrpSpPr/>
          <p:nvPr/>
        </p:nvGrpSpPr>
        <p:grpSpPr>
          <a:xfrm>
            <a:off x="5310188" y="1500188"/>
            <a:ext cx="4322762" cy="3416300"/>
            <a:chOff x="5310188" y="1500188"/>
            <a:chExt cx="4322762" cy="3416300"/>
          </a:xfrm>
        </p:grpSpPr>
        <p:sp>
          <p:nvSpPr>
            <p:cNvPr id="17413" name="TextBox 4"/>
            <p:cNvSpPr txBox="1">
              <a:spLocks noChangeArrowheads="1"/>
            </p:cNvSpPr>
            <p:nvPr/>
          </p:nvSpPr>
          <p:spPr bwMode="auto">
            <a:xfrm>
              <a:off x="5310188" y="1500188"/>
              <a:ext cx="4322762" cy="3416300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>
              <a:spAutoFit/>
            </a:bodyPr>
            <a:lstStyle/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b="1" dirty="0">
                  <a:latin typeface="나눔고딕OTF" pitchFamily="34" charset="-127"/>
                  <a:ea typeface="나눔고딕OTF" pitchFamily="34" charset="-127"/>
                </a:rPr>
                <a:t>3)   </a:t>
              </a:r>
              <a:r>
                <a:rPr kumimoji="0" lang="ko-KR" altLang="en-US" sz="1000" b="1" dirty="0">
                  <a:latin typeface="나눔고딕OTF" pitchFamily="34" charset="-127"/>
                  <a:ea typeface="나눔고딕OTF" pitchFamily="34" charset="-127"/>
                </a:rPr>
                <a:t>검사항목 선택</a:t>
              </a:r>
              <a:endParaRPr kumimoji="0" lang="en-US" altLang="ko-KR" sz="1000" b="1" dirty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   - 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오른쪽 화면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(3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번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)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에 미리 설정해놓은 묶음 항목들이 표시됩니다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   - 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기본적으로 묶음항목이 표시되고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, 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상단에 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“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검사항목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” 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버튼을 클릭하면</a:t>
              </a:r>
              <a:endParaRPr kumimoji="0" lang="en-US" altLang="ko-KR" sz="1000" dirty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	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검사 항목이 표시됩니다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b="1" dirty="0">
                  <a:latin typeface="나눔고딕OTF" pitchFamily="34" charset="-127"/>
                  <a:ea typeface="나눔고딕OTF" pitchFamily="34" charset="-127"/>
                </a:rPr>
                <a:t>4)   </a:t>
              </a:r>
              <a:r>
                <a:rPr kumimoji="0" lang="ko-KR" altLang="en-US" sz="1000" b="1" dirty="0">
                  <a:latin typeface="나눔고딕OTF" pitchFamily="34" charset="-127"/>
                  <a:ea typeface="나눔고딕OTF" pitchFamily="34" charset="-127"/>
                </a:rPr>
                <a:t>선택 항목 관리</a:t>
              </a:r>
              <a:endParaRPr kumimoji="0" lang="en-US" altLang="ko-KR" sz="1000" b="1" dirty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   - 3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번의 항목을 더블클릭 하면 화면 아래쪽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(4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번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)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에 해당 항목이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 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표시되며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,</a:t>
              </a: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	</a:t>
              </a:r>
              <a:r>
                <a:rPr kumimoji="0" lang="ko-KR" altLang="en-US" sz="1000" dirty="0" err="1">
                  <a:latin typeface="나눔고딕OTF" pitchFamily="34" charset="-127"/>
                  <a:ea typeface="나눔고딕OTF" pitchFamily="34" charset="-127"/>
                </a:rPr>
                <a:t>수진자에게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 항목이 등록됩니다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   - 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해당 항목을 오른쪽 클릭하면 삭제할 수 있습니다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   - 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검사항목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(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오더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)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 까지 입력한 다음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, 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저장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(F2)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를 클릭하여 접수를 완료합니다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>
                <a:latin typeface="나눔고딕OTF" pitchFamily="34" charset="-127"/>
                <a:ea typeface="나눔고딕OTF" pitchFamily="34" charset="-127"/>
              </a:endParaRPr>
            </a:p>
          </p:txBody>
        </p:sp>
        <p:pic>
          <p:nvPicPr>
            <p:cNvPr id="17418" name="Picture 11"/>
            <p:cNvPicPr>
              <a:picLocks noChangeAspect="1" noChangeArrowheads="1"/>
            </p:cNvPicPr>
            <p:nvPr/>
          </p:nvPicPr>
          <p:blipFill>
            <a:blip r:embed="rId3"/>
            <a:srcRect/>
            <a:stretch>
              <a:fillRect/>
            </a:stretch>
          </p:blipFill>
          <p:spPr bwMode="auto">
            <a:xfrm>
              <a:off x="5595938" y="3286124"/>
              <a:ext cx="2552700" cy="933450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</p:spPr>
        </p:pic>
      </p:grpSp>
      <p:sp>
        <p:nvSpPr>
          <p:cNvPr id="13" name="직사각형 12"/>
          <p:cNvSpPr/>
          <p:nvPr/>
        </p:nvSpPr>
        <p:spPr>
          <a:xfrm>
            <a:off x="2309813" y="3857625"/>
            <a:ext cx="571500" cy="214313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>
              <a:latin typeface="나눔고딕OTF" pitchFamily="34" charset="-127"/>
              <a:ea typeface="나눔고딕OTF" pitchFamily="34" charset="-127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434" name="Picture 12"/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595313" y="1500188"/>
            <a:ext cx="5929312" cy="42386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6" name="TextBox 5"/>
          <p:cNvSpPr txBox="1"/>
          <p:nvPr/>
        </p:nvSpPr>
        <p:spPr>
          <a:xfrm>
            <a:off x="1497013" y="282575"/>
            <a:ext cx="1547812" cy="3698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kumimoji="0" lang="ko-KR" altLang="en-US" dirty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접수내역 조회</a:t>
            </a:r>
          </a:p>
        </p:txBody>
      </p:sp>
      <p:sp>
        <p:nvSpPr>
          <p:cNvPr id="18436" name="TextBox 4"/>
          <p:cNvSpPr txBox="1">
            <a:spLocks noChangeArrowheads="1"/>
          </p:cNvSpPr>
          <p:nvPr/>
        </p:nvSpPr>
        <p:spPr bwMode="auto">
          <a:xfrm>
            <a:off x="381000" y="785813"/>
            <a:ext cx="1022350" cy="3079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kumimoji="0" lang="en-US" altLang="ko-KR" sz="1400" b="1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400" b="1">
                <a:latin typeface="나눔고딕OTF" pitchFamily="34" charset="-127"/>
                <a:ea typeface="나눔고딕OTF" pitchFamily="34" charset="-127"/>
              </a:rPr>
              <a:t>메인 화면</a:t>
            </a:r>
          </a:p>
        </p:txBody>
      </p:sp>
      <p:sp>
        <p:nvSpPr>
          <p:cNvPr id="18437" name="TextBox 59"/>
          <p:cNvSpPr txBox="1">
            <a:spLocks noChangeArrowheads="1"/>
          </p:cNvSpPr>
          <p:nvPr/>
        </p:nvSpPr>
        <p:spPr bwMode="auto">
          <a:xfrm>
            <a:off x="415925" y="1052513"/>
            <a:ext cx="4965700" cy="2762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kumimoji="0" lang="en-US" altLang="ko-KR" sz="1200">
                <a:latin typeface="나눔고딕OTF" pitchFamily="34" charset="-127"/>
                <a:ea typeface="나눔고딕OTF" pitchFamily="34" charset="-127"/>
              </a:rPr>
              <a:t> - </a:t>
            </a:r>
            <a:r>
              <a:rPr kumimoji="0" lang="ko-KR" altLang="en-US" sz="1200">
                <a:latin typeface="나눔고딕OTF" pitchFamily="34" charset="-127"/>
                <a:ea typeface="나눔고딕OTF" pitchFamily="34" charset="-127"/>
              </a:rPr>
              <a:t>메인화면에서 접수내역을 조회할 수 있습니다</a:t>
            </a:r>
            <a:r>
              <a:rPr kumimoji="0" lang="en-US" altLang="ko-KR" sz="1200">
                <a:latin typeface="나눔고딕OTF" pitchFamily="34" charset="-127"/>
                <a:ea typeface="나눔고딕OTF" pitchFamily="34" charset="-127"/>
              </a:rPr>
              <a:t>.</a:t>
            </a:r>
          </a:p>
        </p:txBody>
      </p:sp>
      <p:sp>
        <p:nvSpPr>
          <p:cNvPr id="20" name="직사각형 19"/>
          <p:cNvSpPr/>
          <p:nvPr/>
        </p:nvSpPr>
        <p:spPr>
          <a:xfrm>
            <a:off x="635000" y="2000250"/>
            <a:ext cx="2103438" cy="1214438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21" name="타원 20"/>
          <p:cNvSpPr/>
          <p:nvPr/>
        </p:nvSpPr>
        <p:spPr>
          <a:xfrm>
            <a:off x="523875" y="1714500"/>
            <a:ext cx="285750" cy="285750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600" dirty="0">
                <a:solidFill>
                  <a:schemeClr val="tx1"/>
                </a:solidFill>
              </a:rPr>
              <a:t>1</a:t>
            </a:r>
            <a:endParaRPr lang="ko-KR" altLang="en-US" sz="1600" dirty="0">
              <a:solidFill>
                <a:schemeClr val="tx1"/>
              </a:solidFill>
            </a:endParaRPr>
          </a:p>
        </p:txBody>
      </p:sp>
      <p:sp>
        <p:nvSpPr>
          <p:cNvPr id="18440" name="TextBox 4"/>
          <p:cNvSpPr txBox="1">
            <a:spLocks noChangeArrowheads="1"/>
          </p:cNvSpPr>
          <p:nvPr/>
        </p:nvSpPr>
        <p:spPr bwMode="auto">
          <a:xfrm>
            <a:off x="6524625" y="1593850"/>
            <a:ext cx="3108325" cy="23082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 marL="228600" indent="-228600">
              <a:lnSpc>
                <a:spcPct val="120000"/>
              </a:lnSpc>
              <a:buFontTx/>
              <a:buAutoNum type="arabicParenR"/>
            </a:pPr>
            <a:r>
              <a:rPr kumimoji="0" lang="ko-KR" altLang="en-US" sz="1000" b="1">
                <a:latin typeface="나눔고딕OTF" pitchFamily="34" charset="-127"/>
                <a:ea typeface="나눔고딕OTF" pitchFamily="34" charset="-127"/>
              </a:rPr>
              <a:t>조회 조건 설정</a:t>
            </a:r>
            <a:endParaRPr kumimoji="0" lang="en-US" altLang="ko-KR" sz="1000" b="1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b="1">
                <a:latin typeface="나눔고딕OTF" pitchFamily="34" charset="-127"/>
                <a:ea typeface="나눔고딕OTF" pitchFamily="34" charset="-127"/>
              </a:rPr>
              <a:t>   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검진구분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검진기간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사업장 등을 입력하여 설정</a:t>
            </a:r>
            <a:endParaRPr kumimoji="0" lang="en-US" altLang="ko-KR" sz="100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	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범위 내에서 조회하거나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성명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차트번호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주민번호를 입력하여 특정 검진자를 검색합니다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b="1">
                <a:latin typeface="나눔고딕OTF" pitchFamily="34" charset="-127"/>
                <a:ea typeface="나눔고딕OTF" pitchFamily="34" charset="-127"/>
              </a:rPr>
              <a:t>   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찾기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(F6) 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버튼 혹은 엔터키를 입력하면 조회합니다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endParaRPr kumimoji="0" lang="en-US" altLang="ko-KR" sz="100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  <a:buFontTx/>
              <a:buAutoNum type="arabicParenR" startAt="2"/>
            </a:pPr>
            <a:r>
              <a:rPr kumimoji="0" lang="ko-KR" altLang="en-US" sz="1000" b="1">
                <a:latin typeface="나눔고딕OTF" pitchFamily="34" charset="-127"/>
                <a:ea typeface="나눔고딕OTF" pitchFamily="34" charset="-127"/>
              </a:rPr>
              <a:t>조회 내역</a:t>
            </a:r>
            <a:endParaRPr kumimoji="0" lang="en-US" altLang="ko-KR" sz="1000" b="1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조회 조건에 해당하는 검진자 내역이 표시됩니다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검진자를 선택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(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마우스 클릭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)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하면 우측에 검진자의 오더가 표시됩니다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검진자를 더블클릭 하거나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상단에 수정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(F4)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버튼을 클릭하면 인적정보 수정창이 나타납니다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.</a:t>
            </a:r>
          </a:p>
        </p:txBody>
      </p:sp>
      <p:sp>
        <p:nvSpPr>
          <p:cNvPr id="14" name="직사각형 13"/>
          <p:cNvSpPr/>
          <p:nvPr/>
        </p:nvSpPr>
        <p:spPr>
          <a:xfrm>
            <a:off x="635000" y="3214688"/>
            <a:ext cx="2103438" cy="2338387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5" name="타원 14"/>
          <p:cNvSpPr/>
          <p:nvPr/>
        </p:nvSpPr>
        <p:spPr>
          <a:xfrm>
            <a:off x="523875" y="3643313"/>
            <a:ext cx="285750" cy="285750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600" dirty="0">
                <a:solidFill>
                  <a:schemeClr val="tx1"/>
                </a:solidFill>
              </a:rPr>
              <a:t>2</a:t>
            </a:r>
            <a:endParaRPr lang="ko-KR" altLang="en-US" sz="1600" dirty="0">
              <a:solidFill>
                <a:schemeClr val="tx1"/>
              </a:solidFill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458" name="Picture 12"/>
          <p:cNvPicPr>
            <a:picLocks noChangeAspect="1" noChangeArrowheads="1"/>
          </p:cNvPicPr>
          <p:nvPr/>
        </p:nvPicPr>
        <p:blipFill>
          <a:blip r:embed="rId2"/>
          <a:srcRect l="36079"/>
          <a:stretch>
            <a:fillRect/>
          </a:stretch>
        </p:blipFill>
        <p:spPr bwMode="auto">
          <a:xfrm>
            <a:off x="595313" y="1500188"/>
            <a:ext cx="3771900" cy="4238625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</p:spPr>
      </p:pic>
      <p:sp>
        <p:nvSpPr>
          <p:cNvPr id="6" name="TextBox 5"/>
          <p:cNvSpPr txBox="1"/>
          <p:nvPr/>
        </p:nvSpPr>
        <p:spPr>
          <a:xfrm>
            <a:off x="1497013" y="282575"/>
            <a:ext cx="1114425" cy="3698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kumimoji="0" lang="ko-KR" altLang="en-US" dirty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결과 입력</a:t>
            </a:r>
          </a:p>
        </p:txBody>
      </p:sp>
      <p:sp>
        <p:nvSpPr>
          <p:cNvPr id="19460" name="TextBox 4"/>
          <p:cNvSpPr txBox="1">
            <a:spLocks noChangeArrowheads="1"/>
          </p:cNvSpPr>
          <p:nvPr/>
        </p:nvSpPr>
        <p:spPr bwMode="auto">
          <a:xfrm>
            <a:off x="381000" y="785813"/>
            <a:ext cx="1022350" cy="3079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kumimoji="0" lang="en-US" altLang="ko-KR" sz="1400" b="1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400" b="1">
                <a:latin typeface="나눔고딕OTF" pitchFamily="34" charset="-127"/>
                <a:ea typeface="나눔고딕OTF" pitchFamily="34" charset="-127"/>
              </a:rPr>
              <a:t>메인 화면</a:t>
            </a:r>
          </a:p>
        </p:txBody>
      </p:sp>
      <p:sp>
        <p:nvSpPr>
          <p:cNvPr id="20" name="직사각형 19"/>
          <p:cNvSpPr/>
          <p:nvPr/>
        </p:nvSpPr>
        <p:spPr>
          <a:xfrm>
            <a:off x="595313" y="2000250"/>
            <a:ext cx="3714750" cy="3571875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9462" name="TextBox 4"/>
          <p:cNvSpPr txBox="1">
            <a:spLocks noChangeArrowheads="1"/>
          </p:cNvSpPr>
          <p:nvPr/>
        </p:nvSpPr>
        <p:spPr bwMode="auto">
          <a:xfrm>
            <a:off x="4738688" y="1000125"/>
            <a:ext cx="4894262" cy="37861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 marL="228600" indent="-228600">
              <a:lnSpc>
                <a:spcPct val="120000"/>
              </a:lnSpc>
              <a:buFontTx/>
              <a:buAutoNum type="arabicParenR"/>
            </a:pPr>
            <a:r>
              <a:rPr kumimoji="0" lang="ko-KR" altLang="en-US" sz="1000" b="1" dirty="0">
                <a:latin typeface="나눔고딕OTF" pitchFamily="34" charset="-127"/>
                <a:ea typeface="나눔고딕OTF" pitchFamily="34" charset="-127"/>
              </a:rPr>
              <a:t>결과 입력 </a:t>
            </a:r>
            <a:r>
              <a:rPr kumimoji="0" lang="en-US" altLang="ko-KR" sz="1000" b="1" dirty="0">
                <a:latin typeface="나눔고딕OTF" pitchFamily="34" charset="-127"/>
                <a:ea typeface="나눔고딕OTF" pitchFamily="34" charset="-127"/>
              </a:rPr>
              <a:t>(</a:t>
            </a:r>
            <a:r>
              <a:rPr kumimoji="0" lang="ko-KR" altLang="en-US" sz="1000" b="1" dirty="0">
                <a:latin typeface="나눔고딕OTF" pitchFamily="34" charset="-127"/>
                <a:ea typeface="나눔고딕OTF" pitchFamily="34" charset="-127"/>
              </a:rPr>
              <a:t>혈액 검사</a:t>
            </a:r>
            <a:r>
              <a:rPr kumimoji="0" lang="en-US" altLang="ko-KR" sz="1000" b="1" dirty="0">
                <a:latin typeface="나눔고딕OTF" pitchFamily="34" charset="-127"/>
                <a:ea typeface="나눔고딕OTF" pitchFamily="34" charset="-127"/>
              </a:rPr>
              <a:t>)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b="1" dirty="0">
                <a:latin typeface="나눔고딕OTF" pitchFamily="34" charset="-127"/>
                <a:ea typeface="나눔고딕OTF" pitchFamily="34" charset="-127"/>
              </a:rPr>
              <a:t>   </a:t>
            </a: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000" dirty="0">
                <a:latin typeface="나눔고딕OTF" pitchFamily="34" charset="-127"/>
                <a:ea typeface="나눔고딕OTF" pitchFamily="34" charset="-127"/>
              </a:rPr>
              <a:t>조회 화면에서 선택한 검진자의 검진 결과를 입력할 수 있습니다</a:t>
            </a: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   - “</a:t>
            </a:r>
            <a:r>
              <a:rPr kumimoji="0" lang="ko-KR" altLang="en-US" sz="1000" dirty="0">
                <a:latin typeface="나눔고딕OTF" pitchFamily="34" charset="-127"/>
                <a:ea typeface="나눔고딕OTF" pitchFamily="34" charset="-127"/>
              </a:rPr>
              <a:t>결과값</a:t>
            </a: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” </a:t>
            </a:r>
            <a:r>
              <a:rPr kumimoji="0" lang="ko-KR" altLang="en-US" sz="1000" dirty="0">
                <a:latin typeface="나눔고딕OTF" pitchFamily="34" charset="-127"/>
                <a:ea typeface="나눔고딕OTF" pitchFamily="34" charset="-127"/>
              </a:rPr>
              <a:t>열에 검사 별 결과값을 입력합니다</a:t>
            </a: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>
                <a:latin typeface="나눔고딕OTF" pitchFamily="34" charset="-127"/>
                <a:ea typeface="나눔고딕OTF" pitchFamily="34" charset="-127"/>
              </a:rPr>
              <a:t>검사항목의 결과 형태에 따라</a:t>
            </a: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 dirty="0">
                <a:latin typeface="나눔고딕OTF" pitchFamily="34" charset="-127"/>
                <a:ea typeface="나눔고딕OTF" pitchFamily="34" charset="-127"/>
              </a:rPr>
              <a:t>입력방법이 다릅니다</a:t>
            </a: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>
                <a:latin typeface="나눔고딕OTF" pitchFamily="34" charset="-127"/>
                <a:ea typeface="나눔고딕OTF" pitchFamily="34" charset="-127"/>
              </a:rPr>
              <a:t>결과형태가 </a:t>
            </a:r>
            <a:r>
              <a:rPr kumimoji="0" lang="ko-KR" altLang="en-US" sz="1000" dirty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숫자</a:t>
            </a:r>
            <a:r>
              <a:rPr kumimoji="0" lang="ko-KR" altLang="en-US" sz="1000" dirty="0">
                <a:latin typeface="나눔고딕OTF" pitchFamily="34" charset="-127"/>
                <a:ea typeface="나눔고딕OTF" pitchFamily="34" charset="-127"/>
              </a:rPr>
              <a:t>인 경우 </a:t>
            </a: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: </a:t>
            </a:r>
            <a:r>
              <a:rPr kumimoji="0" lang="ko-KR" altLang="en-US" sz="1000" dirty="0">
                <a:latin typeface="나눔고딕OTF" pitchFamily="34" charset="-127"/>
                <a:ea typeface="나눔고딕OTF" pitchFamily="34" charset="-127"/>
              </a:rPr>
              <a:t>결과값을 숫자로 입력한 뒤</a:t>
            </a: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 dirty="0" err="1">
                <a:latin typeface="나눔고딕OTF" pitchFamily="34" charset="-127"/>
                <a:ea typeface="나눔고딕OTF" pitchFamily="34" charset="-127"/>
              </a:rPr>
              <a:t>엔터를</a:t>
            </a:r>
            <a:r>
              <a:rPr kumimoji="0" lang="ko-KR" altLang="en-US" sz="1000" dirty="0">
                <a:latin typeface="나눔고딕OTF" pitchFamily="34" charset="-127"/>
                <a:ea typeface="나눔고딕OTF" pitchFamily="34" charset="-127"/>
              </a:rPr>
              <a:t> 입력하면 결과값이 각각 저장되고</a:t>
            </a: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 dirty="0">
                <a:latin typeface="나눔고딕OTF" pitchFamily="34" charset="-127"/>
                <a:ea typeface="나눔고딕OTF" pitchFamily="34" charset="-127"/>
              </a:rPr>
              <a:t>다음 항목으로 커서가 옮겨갑니다</a:t>
            </a: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>
                <a:latin typeface="나눔고딕OTF" pitchFamily="34" charset="-127"/>
                <a:ea typeface="나눔고딕OTF" pitchFamily="34" charset="-127"/>
              </a:rPr>
              <a:t>결과형태가 </a:t>
            </a:r>
            <a:r>
              <a:rPr kumimoji="0" lang="ko-KR" altLang="en-US" sz="1000" dirty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문자</a:t>
            </a:r>
            <a:r>
              <a:rPr kumimoji="0" lang="ko-KR" altLang="en-US" sz="1000" dirty="0">
                <a:latin typeface="나눔고딕OTF" pitchFamily="34" charset="-127"/>
                <a:ea typeface="나눔고딕OTF" pitchFamily="34" charset="-127"/>
              </a:rPr>
              <a:t>인 경우 </a:t>
            </a: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: </a:t>
            </a:r>
            <a:r>
              <a:rPr kumimoji="0" lang="ko-KR" altLang="en-US" sz="1000" dirty="0">
                <a:latin typeface="나눔고딕OTF" pitchFamily="34" charset="-127"/>
                <a:ea typeface="나눔고딕OTF" pitchFamily="34" charset="-127"/>
              </a:rPr>
              <a:t>코드관리 </a:t>
            </a: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– </a:t>
            </a:r>
            <a:r>
              <a:rPr kumimoji="0" lang="ko-KR" altLang="en-US" sz="1000" dirty="0">
                <a:latin typeface="나눔고딕OTF" pitchFamily="34" charset="-127"/>
                <a:ea typeface="나눔고딕OTF" pitchFamily="34" charset="-127"/>
              </a:rPr>
              <a:t>검사항목코드 메뉴에서 설정한 결과값 코드를  입력합니다</a:t>
            </a: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endParaRPr kumimoji="0" lang="en-US" altLang="ko-KR" sz="1000" dirty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endParaRPr kumimoji="0" lang="en-US" altLang="ko-KR" sz="1000" dirty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endParaRPr kumimoji="0" lang="en-US" altLang="ko-KR" sz="1000" dirty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endParaRPr kumimoji="0" lang="en-US" altLang="ko-KR" sz="1000" dirty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endParaRPr kumimoji="0" lang="en-US" altLang="ko-KR" sz="1000" dirty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endParaRPr kumimoji="0" lang="en-US" altLang="ko-KR" sz="1000" dirty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endParaRPr kumimoji="0" lang="en-US" altLang="ko-KR" sz="1000" dirty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endParaRPr kumimoji="0" lang="en-US" altLang="ko-KR" sz="1000" dirty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endParaRPr kumimoji="0" lang="en-US" altLang="ko-KR" sz="1000" dirty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   - ex) </a:t>
            </a:r>
            <a:r>
              <a:rPr kumimoji="0" lang="ko-KR" altLang="en-US" sz="1000" dirty="0">
                <a:latin typeface="나눔고딕OTF" pitchFamily="34" charset="-127"/>
                <a:ea typeface="나눔고딕OTF" pitchFamily="34" charset="-127"/>
              </a:rPr>
              <a:t>흉부</a:t>
            </a: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X</a:t>
            </a:r>
            <a:r>
              <a:rPr kumimoji="0" lang="ko-KR" altLang="en-US" sz="1000" dirty="0">
                <a:latin typeface="나눔고딕OTF" pitchFamily="34" charset="-127"/>
                <a:ea typeface="나눔고딕OTF" pitchFamily="34" charset="-127"/>
              </a:rPr>
              <a:t>선 결과에 </a:t>
            </a: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“</a:t>
            </a:r>
            <a:r>
              <a:rPr kumimoji="0" lang="en-US" altLang="ko-KR" sz="1000" dirty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2</a:t>
            </a: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”</a:t>
            </a:r>
            <a:r>
              <a:rPr kumimoji="0" lang="ko-KR" altLang="en-US" sz="1000" dirty="0">
                <a:latin typeface="나눔고딕OTF" pitchFamily="34" charset="-127"/>
                <a:ea typeface="나눔고딕OTF" pitchFamily="34" charset="-127"/>
              </a:rPr>
              <a:t>를 입력하고 </a:t>
            </a:r>
            <a:r>
              <a:rPr kumimoji="0" lang="ko-KR" altLang="en-US" sz="1000" dirty="0" err="1">
                <a:latin typeface="나눔고딕OTF" pitchFamily="34" charset="-127"/>
                <a:ea typeface="나눔고딕OTF" pitchFamily="34" charset="-127"/>
              </a:rPr>
              <a:t>엔터를</a:t>
            </a:r>
            <a:r>
              <a:rPr kumimoji="0" lang="ko-KR" altLang="en-US" sz="1000" dirty="0">
                <a:latin typeface="나눔고딕OTF" pitchFamily="34" charset="-127"/>
                <a:ea typeface="나눔고딕OTF" pitchFamily="34" charset="-127"/>
              </a:rPr>
              <a:t> 누르면</a:t>
            </a: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 dirty="0">
                <a:latin typeface="나눔고딕OTF" pitchFamily="34" charset="-127"/>
                <a:ea typeface="나눔고딕OTF" pitchFamily="34" charset="-127"/>
              </a:rPr>
              <a:t>자동으로 </a:t>
            </a: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“</a:t>
            </a:r>
            <a:r>
              <a:rPr kumimoji="0" lang="ko-KR" altLang="en-US" sz="1000" dirty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사진불량</a:t>
            </a: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” </a:t>
            </a:r>
            <a:r>
              <a:rPr kumimoji="0" lang="ko-KR" altLang="en-US" sz="1000" dirty="0">
                <a:latin typeface="나눔고딕OTF" pitchFamily="34" charset="-127"/>
                <a:ea typeface="나눔고딕OTF" pitchFamily="34" charset="-127"/>
              </a:rPr>
              <a:t>으로 입력</a:t>
            </a: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 dirty="0">
                <a:latin typeface="나눔고딕OTF" pitchFamily="34" charset="-127"/>
                <a:ea typeface="나눔고딕OTF" pitchFamily="34" charset="-127"/>
              </a:rPr>
              <a:t>저장됩니다</a:t>
            </a: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>
                <a:latin typeface="나눔고딕OTF" pitchFamily="34" charset="-127"/>
                <a:ea typeface="나눔고딕OTF" pitchFamily="34" charset="-127"/>
              </a:rPr>
              <a:t>결과 </a:t>
            </a:r>
            <a:r>
              <a:rPr kumimoji="0" lang="ko-KR" altLang="en-US" sz="1000" dirty="0" err="1">
                <a:latin typeface="나눔고딕OTF" pitchFamily="34" charset="-127"/>
                <a:ea typeface="나눔고딕OTF" pitchFamily="34" charset="-127"/>
              </a:rPr>
              <a:t>입력창에서</a:t>
            </a:r>
            <a:r>
              <a:rPr kumimoji="0" lang="ko-KR" altLang="en-US" sz="1000" dirty="0">
                <a:latin typeface="나눔고딕OTF" pitchFamily="34" charset="-127"/>
                <a:ea typeface="나눔고딕OTF" pitchFamily="34" charset="-127"/>
              </a:rPr>
              <a:t> 검사 항목명을 클릭하면</a:t>
            </a: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 dirty="0">
                <a:latin typeface="나눔고딕OTF" pitchFamily="34" charset="-127"/>
                <a:ea typeface="나눔고딕OTF" pitchFamily="34" charset="-127"/>
              </a:rPr>
              <a:t>결과 코드를 확인하고 입력할 수 있습니다</a:t>
            </a: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.</a:t>
            </a:r>
          </a:p>
        </p:txBody>
      </p:sp>
      <p:pic>
        <p:nvPicPr>
          <p:cNvPr id="19463" name="Picture 3"/>
          <p:cNvPicPr>
            <a:picLocks noChangeAspect="1" noChangeArrowheads="1"/>
          </p:cNvPicPr>
          <p:nvPr/>
        </p:nvPicPr>
        <p:blipFill>
          <a:blip r:embed="rId3"/>
          <a:srcRect/>
          <a:stretch>
            <a:fillRect/>
          </a:stretch>
        </p:blipFill>
        <p:spPr bwMode="auto">
          <a:xfrm>
            <a:off x="4881563" y="2538413"/>
            <a:ext cx="4624387" cy="15716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13" name="직사각형 12"/>
          <p:cNvSpPr/>
          <p:nvPr/>
        </p:nvSpPr>
        <p:spPr>
          <a:xfrm>
            <a:off x="5784850" y="3087688"/>
            <a:ext cx="160338" cy="85725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9465" name="TextBox 17"/>
          <p:cNvSpPr txBox="1">
            <a:spLocks noChangeArrowheads="1"/>
          </p:cNvSpPr>
          <p:nvPr/>
        </p:nvSpPr>
        <p:spPr bwMode="auto">
          <a:xfrm>
            <a:off x="6810375" y="3692525"/>
            <a:ext cx="1000125" cy="307975"/>
          </a:xfrm>
          <a:prstGeom prst="rect">
            <a:avLst/>
          </a:prstGeom>
          <a:solidFill>
            <a:srgbClr val="FFFF00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>
            <a:spAutoFit/>
          </a:bodyPr>
          <a:lstStyle/>
          <a:p>
            <a:pPr algn="ctr"/>
            <a:r>
              <a:rPr lang="ko-KR" altLang="en-US" sz="1400" b="1">
                <a:latin typeface="나눔고딕OTF" pitchFamily="34" charset="-127"/>
                <a:ea typeface="나눔고딕OTF" pitchFamily="34" charset="-127"/>
              </a:rPr>
              <a:t>결과코드</a:t>
            </a:r>
          </a:p>
        </p:txBody>
      </p:sp>
      <p:cxnSp>
        <p:nvCxnSpPr>
          <p:cNvPr id="22" name="꺾인 연결선 21"/>
          <p:cNvCxnSpPr>
            <a:stCxn id="13" idx="3"/>
            <a:endCxn id="19465" idx="1"/>
          </p:cNvCxnSpPr>
          <p:nvPr/>
        </p:nvCxnSpPr>
        <p:spPr>
          <a:xfrm>
            <a:off x="5945188" y="3516313"/>
            <a:ext cx="865187" cy="330200"/>
          </a:xfrm>
          <a:prstGeom prst="bentConnector3">
            <a:avLst>
              <a:gd name="adj1" fmla="val 50000"/>
            </a:avLst>
          </a:prstGeom>
          <a:ln w="19050">
            <a:solidFill>
              <a:srgbClr val="7030A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9467" name="Picture 4"/>
          <p:cNvPicPr>
            <a:picLocks noChangeAspect="1" noChangeArrowheads="1"/>
          </p:cNvPicPr>
          <p:nvPr/>
        </p:nvPicPr>
        <p:blipFill>
          <a:blip r:embed="rId4"/>
          <a:srcRect/>
          <a:stretch>
            <a:fillRect/>
          </a:stretch>
        </p:blipFill>
        <p:spPr bwMode="auto">
          <a:xfrm>
            <a:off x="5111771" y="4740275"/>
            <a:ext cx="1555750" cy="1701800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</p:spPr>
      </p:pic>
      <p:sp>
        <p:nvSpPr>
          <p:cNvPr id="23" name="직사각형 22"/>
          <p:cNvSpPr/>
          <p:nvPr/>
        </p:nvSpPr>
        <p:spPr>
          <a:xfrm>
            <a:off x="5103833" y="6270625"/>
            <a:ext cx="642938" cy="142875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9469" name="TextBox 25"/>
          <p:cNvSpPr txBox="1">
            <a:spLocks noChangeArrowheads="1"/>
          </p:cNvSpPr>
          <p:nvPr/>
        </p:nvSpPr>
        <p:spPr bwMode="auto">
          <a:xfrm>
            <a:off x="7381896" y="5929313"/>
            <a:ext cx="500062" cy="246062"/>
          </a:xfrm>
          <a:prstGeom prst="rect">
            <a:avLst/>
          </a:prstGeom>
          <a:solidFill>
            <a:srgbClr val="FFFF00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>
            <a:spAutoFit/>
          </a:bodyPr>
          <a:lstStyle/>
          <a:p>
            <a:pPr algn="ctr"/>
            <a:r>
              <a:rPr lang="ko-KR" altLang="en-US" sz="1000" b="1">
                <a:latin typeface="나눔고딕OTF" pitchFamily="34" charset="-127"/>
                <a:ea typeface="나눔고딕OTF" pitchFamily="34" charset="-127"/>
              </a:rPr>
              <a:t>클릭</a:t>
            </a:r>
            <a:endParaRPr lang="en-US" altLang="ko-KR" sz="1000" b="1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27" name="직사각형 26"/>
          <p:cNvSpPr/>
          <p:nvPr/>
        </p:nvSpPr>
        <p:spPr>
          <a:xfrm>
            <a:off x="5810271" y="4770438"/>
            <a:ext cx="785812" cy="1444625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>
              <a:latin typeface="나눔고딕OTF" pitchFamily="34" charset="-127"/>
              <a:ea typeface="나눔고딕OTF" pitchFamily="34" charset="-127"/>
            </a:endParaRPr>
          </a:p>
        </p:txBody>
      </p:sp>
      <p:cxnSp>
        <p:nvCxnSpPr>
          <p:cNvPr id="29" name="Shape 28"/>
          <p:cNvCxnSpPr>
            <a:stCxn id="23" idx="3"/>
            <a:endCxn id="19469" idx="2"/>
          </p:cNvCxnSpPr>
          <p:nvPr/>
        </p:nvCxnSpPr>
        <p:spPr>
          <a:xfrm flipV="1">
            <a:off x="5746771" y="6175375"/>
            <a:ext cx="1885950" cy="166688"/>
          </a:xfrm>
          <a:prstGeom prst="bentConnector2">
            <a:avLst/>
          </a:prstGeom>
          <a:ln w="19050">
            <a:solidFill>
              <a:srgbClr val="7030A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Shape 31"/>
          <p:cNvCxnSpPr>
            <a:stCxn id="19469" idx="0"/>
            <a:endCxn id="27" idx="3"/>
          </p:cNvCxnSpPr>
          <p:nvPr/>
        </p:nvCxnSpPr>
        <p:spPr>
          <a:xfrm rot="16200000" flipV="1">
            <a:off x="6896120" y="5192713"/>
            <a:ext cx="436563" cy="1036638"/>
          </a:xfrm>
          <a:prstGeom prst="bentConnector2">
            <a:avLst/>
          </a:prstGeom>
          <a:ln w="19050">
            <a:solidFill>
              <a:srgbClr val="7030A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473" name="TextBox 4"/>
          <p:cNvSpPr txBox="1">
            <a:spLocks noChangeArrowheads="1"/>
          </p:cNvSpPr>
          <p:nvPr/>
        </p:nvSpPr>
        <p:spPr bwMode="auto">
          <a:xfrm>
            <a:off x="6596063" y="4786313"/>
            <a:ext cx="3000375" cy="2698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 marL="228600" indent="-228600">
              <a:lnSpc>
                <a:spcPct val="120000"/>
              </a:lnSpc>
            </a:pP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표시된 코드를 더블클릭해서 입력할 수 있습니다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.</a:t>
            </a:r>
          </a:p>
        </p:txBody>
      </p:sp>
      <p:sp>
        <p:nvSpPr>
          <p:cNvPr id="19474" name="TextBox 59"/>
          <p:cNvSpPr txBox="1">
            <a:spLocks noChangeArrowheads="1"/>
          </p:cNvSpPr>
          <p:nvPr/>
        </p:nvSpPr>
        <p:spPr bwMode="auto">
          <a:xfrm>
            <a:off x="415925" y="1052513"/>
            <a:ext cx="4037013" cy="2762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kumimoji="0" lang="en-US" altLang="ko-KR" sz="1200">
                <a:latin typeface="나눔고딕OTF" pitchFamily="34" charset="-127"/>
                <a:ea typeface="나눔고딕OTF" pitchFamily="34" charset="-127"/>
              </a:rPr>
              <a:t> - </a:t>
            </a:r>
            <a:r>
              <a:rPr kumimoji="0" lang="ko-KR" altLang="en-US" sz="1200">
                <a:latin typeface="나눔고딕OTF" pitchFamily="34" charset="-127"/>
                <a:ea typeface="나눔고딕OTF" pitchFamily="34" charset="-127"/>
              </a:rPr>
              <a:t>결과입력 </a:t>
            </a:r>
            <a:r>
              <a:rPr kumimoji="0" lang="en-US" altLang="ko-KR" sz="1200">
                <a:latin typeface="나눔고딕OTF" pitchFamily="34" charset="-127"/>
                <a:ea typeface="나눔고딕OTF" pitchFamily="34" charset="-127"/>
              </a:rPr>
              <a:t>(</a:t>
            </a:r>
            <a:r>
              <a:rPr kumimoji="0" lang="ko-KR" altLang="en-US" sz="1200">
                <a:latin typeface="나눔고딕OTF" pitchFamily="34" charset="-127"/>
                <a:ea typeface="나눔고딕OTF" pitchFamily="34" charset="-127"/>
              </a:rPr>
              <a:t>혈액검사 입력</a:t>
            </a:r>
            <a:r>
              <a:rPr kumimoji="0" lang="en-US" altLang="ko-KR" sz="1200">
                <a:latin typeface="나눔고딕OTF" pitchFamily="34" charset="-127"/>
                <a:ea typeface="나눔고딕OTF" pitchFamily="34" charset="-127"/>
              </a:rPr>
              <a:t>)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458" name="Picture 12"/>
          <p:cNvPicPr>
            <a:picLocks noChangeAspect="1" noChangeArrowheads="1"/>
          </p:cNvPicPr>
          <p:nvPr/>
        </p:nvPicPr>
        <p:blipFill>
          <a:blip r:embed="rId2"/>
          <a:srcRect l="36079"/>
          <a:stretch>
            <a:fillRect/>
          </a:stretch>
        </p:blipFill>
        <p:spPr bwMode="auto">
          <a:xfrm>
            <a:off x="595313" y="1500188"/>
            <a:ext cx="3771900" cy="4238625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</p:spPr>
      </p:pic>
      <p:sp>
        <p:nvSpPr>
          <p:cNvPr id="6" name="TextBox 5"/>
          <p:cNvSpPr txBox="1"/>
          <p:nvPr/>
        </p:nvSpPr>
        <p:spPr>
          <a:xfrm>
            <a:off x="1497013" y="282575"/>
            <a:ext cx="1114425" cy="3698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kumimoji="0" lang="ko-KR" altLang="en-US" dirty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결과 입력</a:t>
            </a:r>
          </a:p>
        </p:txBody>
      </p:sp>
      <p:sp>
        <p:nvSpPr>
          <p:cNvPr id="19460" name="TextBox 4"/>
          <p:cNvSpPr txBox="1">
            <a:spLocks noChangeArrowheads="1"/>
          </p:cNvSpPr>
          <p:nvPr/>
        </p:nvSpPr>
        <p:spPr bwMode="auto">
          <a:xfrm>
            <a:off x="381000" y="785813"/>
            <a:ext cx="1022350" cy="3079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kumimoji="0" lang="en-US" altLang="ko-KR" sz="1400" b="1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400" b="1">
                <a:latin typeface="나눔고딕OTF" pitchFamily="34" charset="-127"/>
                <a:ea typeface="나눔고딕OTF" pitchFamily="34" charset="-127"/>
              </a:rPr>
              <a:t>메인 화면</a:t>
            </a:r>
          </a:p>
        </p:txBody>
      </p:sp>
      <p:sp>
        <p:nvSpPr>
          <p:cNvPr id="20" name="직사각형 19"/>
          <p:cNvSpPr/>
          <p:nvPr/>
        </p:nvSpPr>
        <p:spPr>
          <a:xfrm>
            <a:off x="1738289" y="2000251"/>
            <a:ext cx="1571637" cy="142865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9474" name="TextBox 59"/>
          <p:cNvSpPr txBox="1">
            <a:spLocks noChangeArrowheads="1"/>
          </p:cNvSpPr>
          <p:nvPr/>
        </p:nvSpPr>
        <p:spPr bwMode="auto">
          <a:xfrm>
            <a:off x="415925" y="1052513"/>
            <a:ext cx="4037013" cy="2762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kumimoji="0" lang="en-US" altLang="ko-KR" sz="1200">
                <a:latin typeface="나눔고딕OTF" pitchFamily="34" charset="-127"/>
                <a:ea typeface="나눔고딕OTF" pitchFamily="34" charset="-127"/>
              </a:rPr>
              <a:t> - </a:t>
            </a:r>
            <a:r>
              <a:rPr kumimoji="0" lang="ko-KR" altLang="en-US" sz="1200">
                <a:latin typeface="나눔고딕OTF" pitchFamily="34" charset="-127"/>
                <a:ea typeface="나눔고딕OTF" pitchFamily="34" charset="-127"/>
              </a:rPr>
              <a:t>결과입력 </a:t>
            </a:r>
            <a:r>
              <a:rPr kumimoji="0" lang="en-US" altLang="ko-KR" sz="1200">
                <a:latin typeface="나눔고딕OTF" pitchFamily="34" charset="-127"/>
                <a:ea typeface="나눔고딕OTF" pitchFamily="34" charset="-127"/>
              </a:rPr>
              <a:t>(</a:t>
            </a:r>
            <a:r>
              <a:rPr kumimoji="0" lang="ko-KR" altLang="en-US" sz="1200">
                <a:latin typeface="나눔고딕OTF" pitchFamily="34" charset="-127"/>
                <a:ea typeface="나눔고딕OTF" pitchFamily="34" charset="-127"/>
              </a:rPr>
              <a:t>혈액검사 입력</a:t>
            </a:r>
            <a:r>
              <a:rPr kumimoji="0" lang="en-US" altLang="ko-KR" sz="1200">
                <a:latin typeface="나눔고딕OTF" pitchFamily="34" charset="-127"/>
                <a:ea typeface="나눔고딕OTF" pitchFamily="34" charset="-127"/>
              </a:rPr>
              <a:t>)</a:t>
            </a:r>
          </a:p>
        </p:txBody>
      </p:sp>
      <p:grpSp>
        <p:nvGrpSpPr>
          <p:cNvPr id="14" name="그룹 13"/>
          <p:cNvGrpSpPr/>
          <p:nvPr/>
        </p:nvGrpSpPr>
        <p:grpSpPr>
          <a:xfrm>
            <a:off x="4738688" y="1000125"/>
            <a:ext cx="4894262" cy="4154984"/>
            <a:chOff x="4738688" y="1000125"/>
            <a:chExt cx="4894262" cy="4154984"/>
          </a:xfrm>
        </p:grpSpPr>
        <p:sp>
          <p:nvSpPr>
            <p:cNvPr id="19462" name="TextBox 4"/>
            <p:cNvSpPr txBox="1">
              <a:spLocks noChangeArrowheads="1"/>
            </p:cNvSpPr>
            <p:nvPr/>
          </p:nvSpPr>
          <p:spPr bwMode="auto">
            <a:xfrm>
              <a:off x="4738688" y="1000125"/>
              <a:ext cx="4894262" cy="4154984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>
              <a:spAutoFit/>
            </a:bodyPr>
            <a:lstStyle/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-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선택한 검진자의 검진 항목을 추가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혹은 삭제할 수 있습니다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- </a:t>
              </a:r>
              <a:r>
                <a:rPr kumimoji="0" lang="ko-KR" altLang="en-US" sz="1000" dirty="0" err="1" smtClean="0">
                  <a:latin typeface="나눔고딕OTF" pitchFamily="34" charset="-127"/>
                  <a:ea typeface="나눔고딕OTF" pitchFamily="34" charset="-127"/>
                </a:rPr>
                <a:t>검진자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 조회 화면에서 </a:t>
              </a:r>
              <a:r>
                <a:rPr kumimoji="0" lang="ko-KR" altLang="en-US" sz="1000" dirty="0" err="1" smtClean="0">
                  <a:latin typeface="나눔고딕OTF" pitchFamily="34" charset="-127"/>
                  <a:ea typeface="나눔고딕OTF" pitchFamily="34" charset="-127"/>
                </a:rPr>
                <a:t>검진자를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 체크 합니다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-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결과 </a:t>
              </a:r>
              <a:r>
                <a:rPr kumimoji="0" lang="ko-KR" altLang="en-US" sz="1000" dirty="0" err="1" smtClean="0">
                  <a:latin typeface="나눔고딕OTF" pitchFamily="34" charset="-127"/>
                  <a:ea typeface="나눔고딕OTF" pitchFamily="34" charset="-127"/>
                </a:rPr>
                <a:t>입력창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 상단에 추가코드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,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추가검사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,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항목삭제 버튼을 이용하여 검사항목을 설정합니다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-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추가코드 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: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묶음코드를 조회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,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추가합니다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-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추가검사 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: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개별코드를 조회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,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추가합니다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-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항목삭제 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: </a:t>
              </a:r>
              <a:r>
                <a:rPr kumimoji="0" lang="ko-KR" altLang="en-US" sz="1000" dirty="0" err="1" smtClean="0">
                  <a:latin typeface="나눔고딕OTF" pitchFamily="34" charset="-127"/>
                  <a:ea typeface="나눔고딕OTF" pitchFamily="34" charset="-127"/>
                </a:rPr>
                <a:t>검진자에게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 들어가있는 검사항목 개별코드를 삭제합니다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-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전체삭제 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: </a:t>
              </a:r>
              <a:r>
                <a:rPr kumimoji="0" lang="ko-KR" altLang="en-US" sz="1000" dirty="0" err="1" smtClean="0">
                  <a:latin typeface="나눔고딕OTF" pitchFamily="34" charset="-127"/>
                  <a:ea typeface="나눔고딕OTF" pitchFamily="34" charset="-127"/>
                </a:rPr>
                <a:t>검진자에게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 들어가있는 검사항목 전체를 삭제합니다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-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검진자의 방사선 촬영 방법을 변경할 수 있습니다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- </a:t>
              </a:r>
              <a:r>
                <a:rPr kumimoji="0" lang="ko-KR" altLang="en-US" sz="1000" dirty="0" err="1" smtClean="0">
                  <a:latin typeface="나눔고딕OTF" pitchFamily="34" charset="-127"/>
                  <a:ea typeface="나눔고딕OTF" pitchFamily="34" charset="-127"/>
                </a:rPr>
                <a:t>검진자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 조회 화면에서 </a:t>
              </a:r>
              <a:r>
                <a:rPr kumimoji="0" lang="ko-KR" altLang="en-US" sz="1000" dirty="0" err="1" smtClean="0">
                  <a:latin typeface="나눔고딕OTF" pitchFamily="34" charset="-127"/>
                  <a:ea typeface="나눔고딕OTF" pitchFamily="34" charset="-127"/>
                </a:rPr>
                <a:t>검진자를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 체크한 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,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방사선 촬영 유형을 선택하고 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“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적용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”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버튼을 클릭하면 저장됩니다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>
                <a:latin typeface="나눔고딕OTF" pitchFamily="34" charset="-127"/>
                <a:ea typeface="나눔고딕OTF" pitchFamily="34" charset="-127"/>
              </a:endParaRPr>
            </a:p>
          </p:txBody>
        </p:sp>
        <p:pic>
          <p:nvPicPr>
            <p:cNvPr id="1026" name="Picture 2"/>
            <p:cNvPicPr>
              <a:picLocks noChangeAspect="1" noChangeArrowheads="1"/>
            </p:cNvPicPr>
            <p:nvPr/>
          </p:nvPicPr>
          <p:blipFill>
            <a:blip r:embed="rId3"/>
            <a:srcRect/>
            <a:stretch>
              <a:fillRect/>
            </a:stretch>
          </p:blipFill>
          <p:spPr bwMode="auto">
            <a:xfrm>
              <a:off x="5046448" y="1285860"/>
              <a:ext cx="2000250" cy="409575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</p:pic>
        <p:sp>
          <p:nvSpPr>
            <p:cNvPr id="9" name="직사각형 8"/>
            <p:cNvSpPr/>
            <p:nvPr/>
          </p:nvSpPr>
          <p:spPr>
            <a:xfrm>
              <a:off x="4999724" y="1420498"/>
              <a:ext cx="285752" cy="285752"/>
            </a:xfrm>
            <a:prstGeom prst="rect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kumimoji="0" lang="ko-KR" altLang="en-US">
                <a:latin typeface="나눔고딕OTF" pitchFamily="34" charset="-127"/>
                <a:ea typeface="나눔고딕OTF" pitchFamily="34" charset="-127"/>
              </a:endParaRPr>
            </a:p>
          </p:txBody>
        </p:sp>
        <p:pic>
          <p:nvPicPr>
            <p:cNvPr id="10" name="그림 9" descr="캡처.PNG"/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5024438" y="3500438"/>
              <a:ext cx="1629002" cy="876422"/>
            </a:xfrm>
            <a:prstGeom prst="rect">
              <a:avLst/>
            </a:prstGeom>
            <a:ln>
              <a:solidFill>
                <a:schemeClr val="tx1"/>
              </a:solidFill>
            </a:ln>
          </p:spPr>
        </p:pic>
      </p:grpSp>
      <p:sp>
        <p:nvSpPr>
          <p:cNvPr id="11" name="직사각형 10"/>
          <p:cNvSpPr/>
          <p:nvPr/>
        </p:nvSpPr>
        <p:spPr>
          <a:xfrm>
            <a:off x="3342878" y="1983764"/>
            <a:ext cx="967180" cy="23079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>
              <a:latin typeface="나눔고딕OTF" pitchFamily="34" charset="-127"/>
              <a:ea typeface="나눔고딕OTF" pitchFamily="34" charset="-127"/>
            </a:endParaRPr>
          </a:p>
        </p:txBody>
      </p:sp>
      <p:cxnSp>
        <p:nvCxnSpPr>
          <p:cNvPr id="13" name="Shape 12"/>
          <p:cNvCxnSpPr>
            <a:stCxn id="11" idx="2"/>
            <a:endCxn id="10" idx="1"/>
          </p:cNvCxnSpPr>
          <p:nvPr/>
        </p:nvCxnSpPr>
        <p:spPr>
          <a:xfrm rot="16200000" flipH="1">
            <a:off x="3563406" y="2477616"/>
            <a:ext cx="1724095" cy="1197970"/>
          </a:xfrm>
          <a:prstGeom prst="bentConnector2">
            <a:avLst/>
          </a:prstGeom>
          <a:ln w="19050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82" name="Picture 8"/>
          <p:cNvPicPr>
            <a:picLocks noChangeAspect="1" noChangeArrowheads="1"/>
          </p:cNvPicPr>
          <p:nvPr/>
        </p:nvPicPr>
        <p:blipFill>
          <a:blip r:embed="rId2"/>
          <a:srcRect l="35715"/>
          <a:stretch>
            <a:fillRect/>
          </a:stretch>
        </p:blipFill>
        <p:spPr bwMode="auto">
          <a:xfrm>
            <a:off x="561975" y="1479550"/>
            <a:ext cx="3857625" cy="4298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6" name="TextBox 5"/>
          <p:cNvSpPr txBox="1"/>
          <p:nvPr/>
        </p:nvSpPr>
        <p:spPr>
          <a:xfrm>
            <a:off x="1497013" y="282575"/>
            <a:ext cx="1114425" cy="3698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kumimoji="0" lang="ko-KR" altLang="en-US" dirty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결과 입력</a:t>
            </a:r>
          </a:p>
        </p:txBody>
      </p:sp>
      <p:sp>
        <p:nvSpPr>
          <p:cNvPr id="20484" name="TextBox 4"/>
          <p:cNvSpPr txBox="1">
            <a:spLocks noChangeArrowheads="1"/>
          </p:cNvSpPr>
          <p:nvPr/>
        </p:nvSpPr>
        <p:spPr bwMode="auto">
          <a:xfrm>
            <a:off x="381000" y="785813"/>
            <a:ext cx="1022350" cy="3079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kumimoji="0" lang="en-US" altLang="ko-KR" sz="1400" b="1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400" b="1">
                <a:latin typeface="나눔고딕OTF" pitchFamily="34" charset="-127"/>
                <a:ea typeface="나눔고딕OTF" pitchFamily="34" charset="-127"/>
              </a:rPr>
              <a:t>메인 화면</a:t>
            </a:r>
          </a:p>
        </p:txBody>
      </p:sp>
      <p:sp>
        <p:nvSpPr>
          <p:cNvPr id="20" name="직사각형 19"/>
          <p:cNvSpPr/>
          <p:nvPr/>
        </p:nvSpPr>
        <p:spPr>
          <a:xfrm>
            <a:off x="595313" y="2000250"/>
            <a:ext cx="3786187" cy="3571875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20487" name="TextBox 59"/>
          <p:cNvSpPr txBox="1">
            <a:spLocks noChangeArrowheads="1"/>
          </p:cNvSpPr>
          <p:nvPr/>
        </p:nvSpPr>
        <p:spPr bwMode="auto">
          <a:xfrm>
            <a:off x="415925" y="1052513"/>
            <a:ext cx="4037013" cy="2762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kumimoji="0" lang="en-US" altLang="ko-KR" sz="1200">
                <a:latin typeface="나눔고딕OTF" pitchFamily="34" charset="-127"/>
                <a:ea typeface="나눔고딕OTF" pitchFamily="34" charset="-127"/>
              </a:rPr>
              <a:t> - </a:t>
            </a:r>
            <a:r>
              <a:rPr kumimoji="0" lang="ko-KR" altLang="en-US" sz="1200">
                <a:latin typeface="나눔고딕OTF" pitchFamily="34" charset="-127"/>
                <a:ea typeface="나눔고딕OTF" pitchFamily="34" charset="-127"/>
              </a:rPr>
              <a:t>소견 결과입력 </a:t>
            </a:r>
            <a:r>
              <a:rPr kumimoji="0" lang="en-US" altLang="ko-KR" sz="1200">
                <a:latin typeface="나눔고딕OTF" pitchFamily="34" charset="-127"/>
                <a:ea typeface="나눔고딕OTF" pitchFamily="34" charset="-127"/>
              </a:rPr>
              <a:t>(</a:t>
            </a:r>
            <a:r>
              <a:rPr kumimoji="0" lang="ko-KR" altLang="en-US" sz="1200">
                <a:latin typeface="나눔고딕OTF" pitchFamily="34" charset="-127"/>
                <a:ea typeface="나눔고딕OTF" pitchFamily="34" charset="-127"/>
              </a:rPr>
              <a:t>장비검사 입력</a:t>
            </a:r>
            <a:r>
              <a:rPr kumimoji="0" lang="en-US" altLang="ko-KR" sz="1200">
                <a:latin typeface="나눔고딕OTF" pitchFamily="34" charset="-127"/>
                <a:ea typeface="나눔고딕OTF" pitchFamily="34" charset="-127"/>
              </a:rPr>
              <a:t>)</a:t>
            </a:r>
          </a:p>
        </p:txBody>
      </p:sp>
      <p:grpSp>
        <p:nvGrpSpPr>
          <p:cNvPr id="10" name="그룹 9"/>
          <p:cNvGrpSpPr/>
          <p:nvPr/>
        </p:nvGrpSpPr>
        <p:grpSpPr>
          <a:xfrm>
            <a:off x="4738688" y="1000125"/>
            <a:ext cx="4894262" cy="4310055"/>
            <a:chOff x="4738688" y="1000125"/>
            <a:chExt cx="4894262" cy="4310055"/>
          </a:xfrm>
        </p:grpSpPr>
        <p:sp>
          <p:nvSpPr>
            <p:cNvPr id="20486" name="TextBox 4"/>
            <p:cNvSpPr txBox="1">
              <a:spLocks noChangeArrowheads="1"/>
            </p:cNvSpPr>
            <p:nvPr/>
          </p:nvSpPr>
          <p:spPr bwMode="auto">
            <a:xfrm>
              <a:off x="4738688" y="1000125"/>
              <a:ext cx="4894262" cy="3600450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>
              <a:spAutoFit/>
            </a:bodyPr>
            <a:lstStyle/>
            <a:p>
              <a:pPr marL="228600" indent="-228600">
                <a:lnSpc>
                  <a:spcPct val="120000"/>
                </a:lnSpc>
                <a:buFontTx/>
                <a:buAutoNum type="arabicParenR" startAt="2"/>
              </a:pPr>
              <a:r>
                <a:rPr kumimoji="0" lang="ko-KR" altLang="en-US" sz="1000" b="1" dirty="0">
                  <a:latin typeface="나눔고딕OTF" pitchFamily="34" charset="-127"/>
                  <a:ea typeface="나눔고딕OTF" pitchFamily="34" charset="-127"/>
                </a:rPr>
                <a:t>소견 결과 입력</a:t>
              </a:r>
              <a:r>
                <a:rPr kumimoji="0" lang="en-US" altLang="ko-KR" sz="1000" b="1" dirty="0">
                  <a:latin typeface="나눔고딕OTF" pitchFamily="34" charset="-127"/>
                  <a:ea typeface="나눔고딕OTF" pitchFamily="34" charset="-127"/>
                </a:rPr>
                <a:t> (</a:t>
              </a:r>
              <a:r>
                <a:rPr kumimoji="0" lang="ko-KR" altLang="en-US" sz="1000" b="1" dirty="0">
                  <a:latin typeface="나눔고딕OTF" pitchFamily="34" charset="-127"/>
                  <a:ea typeface="나눔고딕OTF" pitchFamily="34" charset="-127"/>
                </a:rPr>
                <a:t>장비 검사</a:t>
              </a:r>
              <a:r>
                <a:rPr kumimoji="0" lang="en-US" altLang="ko-KR" sz="1000" b="1" dirty="0">
                  <a:latin typeface="나눔고딕OTF" pitchFamily="34" charset="-127"/>
                  <a:ea typeface="나눔고딕OTF" pitchFamily="34" charset="-127"/>
                </a:rPr>
                <a:t>)</a:t>
              </a: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b="1" dirty="0">
                  <a:latin typeface="나눔고딕OTF" pitchFamily="34" charset="-127"/>
                  <a:ea typeface="나눔고딕OTF" pitchFamily="34" charset="-127"/>
                </a:rPr>
                <a:t>   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- 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상단의 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“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장비검사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” 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버튼을 클릭하면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, 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소견형식의 결과 </a:t>
              </a:r>
              <a:r>
                <a:rPr kumimoji="0" lang="ko-KR" altLang="en-US" sz="1000" dirty="0" err="1">
                  <a:latin typeface="나눔고딕OTF" pitchFamily="34" charset="-127"/>
                  <a:ea typeface="나눔고딕OTF" pitchFamily="34" charset="-127"/>
                </a:rPr>
                <a:t>입력창이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 표시됩니다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   - 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검사 항목별로 소견 코드를 등록하여 사용하거나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, 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직접 입력할 수 있습니다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   </a:t>
              </a:r>
              <a:r>
                <a:rPr kumimoji="0" lang="en-US" altLang="ko-KR" sz="1000" b="1" dirty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* </a:t>
              </a:r>
              <a:r>
                <a:rPr kumimoji="0" lang="ko-KR" altLang="en-US" sz="1000" b="1" dirty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소견 코드로 결과 입력</a:t>
              </a:r>
              <a:endParaRPr kumimoji="0" lang="en-US" altLang="ko-KR" sz="1000" b="1" dirty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   - 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각 검사항목명 밑의           버튼을 클릭하면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, 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해당 검사항목에 등록되어 있는 소견    코드를 검색할 수 있습니다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                  </a:t>
              </a:r>
              <a:r>
                <a:rPr kumimoji="0" lang="ko-KR" altLang="en-US" sz="1000" dirty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소견코드 조회 화면 </a:t>
              </a:r>
              <a:r>
                <a:rPr kumimoji="0" lang="en-US" altLang="ko-KR" sz="1000" dirty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=&gt;</a:t>
              </a: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   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- 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결과를 입력한 뒤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, 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저장 버튼을</a:t>
              </a:r>
              <a:endParaRPr kumimoji="0" lang="en-US" altLang="ko-KR" sz="1000" dirty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	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클릭하면 저장됩니다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   - 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상단의 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“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정상 결과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” 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버튼을 클릭</a:t>
              </a:r>
              <a:endParaRPr kumimoji="0" lang="en-US" altLang="ko-KR" sz="1000" dirty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	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하면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, 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각 항목에 정상으로 등록</a:t>
              </a:r>
              <a:endParaRPr kumimoji="0" lang="en-US" altLang="ko-KR" sz="1000" dirty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	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되어 있는 소견이 자동으로</a:t>
              </a:r>
              <a:endParaRPr kumimoji="0" lang="en-US" altLang="ko-KR" sz="1000" dirty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	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입력됩니다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. </a:t>
              </a:r>
            </a:p>
          </p:txBody>
        </p:sp>
        <p:pic>
          <p:nvPicPr>
            <p:cNvPr id="20488" name="Picture 9"/>
            <p:cNvPicPr>
              <a:picLocks noChangeAspect="1" noChangeArrowheads="1"/>
            </p:cNvPicPr>
            <p:nvPr/>
          </p:nvPicPr>
          <p:blipFill>
            <a:blip r:embed="rId3"/>
            <a:srcRect t="5560"/>
            <a:stretch>
              <a:fillRect/>
            </a:stretch>
          </p:blipFill>
          <p:spPr bwMode="auto">
            <a:xfrm>
              <a:off x="6096008" y="1979613"/>
              <a:ext cx="238125" cy="160337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</p:spPr>
        </p:pic>
        <p:pic>
          <p:nvPicPr>
            <p:cNvPr id="20489" name="Picture 10"/>
            <p:cNvPicPr>
              <a:picLocks noChangeAspect="1" noChangeArrowheads="1"/>
            </p:cNvPicPr>
            <p:nvPr/>
          </p:nvPicPr>
          <p:blipFill>
            <a:blip r:embed="rId4"/>
            <a:srcRect/>
            <a:stretch>
              <a:fillRect/>
            </a:stretch>
          </p:blipFill>
          <p:spPr bwMode="auto">
            <a:xfrm>
              <a:off x="6738950" y="2357430"/>
              <a:ext cx="2643187" cy="2952750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</p:pic>
      </p:grp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506" name="Picture 8"/>
          <p:cNvPicPr>
            <a:picLocks noChangeAspect="1" noChangeArrowheads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27146" y="1479550"/>
            <a:ext cx="3727281" cy="4298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6" name="TextBox 5"/>
          <p:cNvSpPr txBox="1"/>
          <p:nvPr/>
        </p:nvSpPr>
        <p:spPr>
          <a:xfrm>
            <a:off x="1497013" y="282575"/>
            <a:ext cx="1114425" cy="3698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kumimoji="0" lang="ko-KR" altLang="en-US" dirty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결과 입력</a:t>
            </a:r>
          </a:p>
        </p:txBody>
      </p:sp>
      <p:sp>
        <p:nvSpPr>
          <p:cNvPr id="21508" name="TextBox 4"/>
          <p:cNvSpPr txBox="1">
            <a:spLocks noChangeArrowheads="1"/>
          </p:cNvSpPr>
          <p:nvPr/>
        </p:nvSpPr>
        <p:spPr bwMode="auto">
          <a:xfrm>
            <a:off x="381000" y="785813"/>
            <a:ext cx="1022350" cy="3079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kumimoji="0" lang="en-US" altLang="ko-KR" sz="1400" b="1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400" b="1">
                <a:latin typeface="나눔고딕OTF" pitchFamily="34" charset="-127"/>
                <a:ea typeface="나눔고딕OTF" pitchFamily="34" charset="-127"/>
              </a:rPr>
              <a:t>메인 화면</a:t>
            </a:r>
          </a:p>
        </p:txBody>
      </p:sp>
      <p:sp>
        <p:nvSpPr>
          <p:cNvPr id="20" name="직사각형 19"/>
          <p:cNvSpPr/>
          <p:nvPr/>
        </p:nvSpPr>
        <p:spPr>
          <a:xfrm>
            <a:off x="595313" y="1967299"/>
            <a:ext cx="1928795" cy="107156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21511" name="TextBox 59"/>
          <p:cNvSpPr txBox="1">
            <a:spLocks noChangeArrowheads="1"/>
          </p:cNvSpPr>
          <p:nvPr/>
        </p:nvSpPr>
        <p:spPr bwMode="auto">
          <a:xfrm>
            <a:off x="415925" y="1052513"/>
            <a:ext cx="4037013" cy="2762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kumimoji="0" lang="en-US" altLang="ko-KR" sz="1200">
                <a:latin typeface="나눔고딕OTF" pitchFamily="34" charset="-127"/>
                <a:ea typeface="나눔고딕OTF" pitchFamily="34" charset="-127"/>
              </a:rPr>
              <a:t> - </a:t>
            </a:r>
            <a:r>
              <a:rPr kumimoji="0" lang="ko-KR" altLang="en-US" sz="1200">
                <a:latin typeface="나눔고딕OTF" pitchFamily="34" charset="-127"/>
                <a:ea typeface="나눔고딕OTF" pitchFamily="34" charset="-127"/>
              </a:rPr>
              <a:t>소견 결과입력 </a:t>
            </a:r>
            <a:r>
              <a:rPr kumimoji="0" lang="en-US" altLang="ko-KR" sz="1200">
                <a:latin typeface="나눔고딕OTF" pitchFamily="34" charset="-127"/>
                <a:ea typeface="나눔고딕OTF" pitchFamily="34" charset="-127"/>
              </a:rPr>
              <a:t>(</a:t>
            </a:r>
            <a:r>
              <a:rPr kumimoji="0" lang="ko-KR" altLang="en-US" sz="1200">
                <a:latin typeface="나눔고딕OTF" pitchFamily="34" charset="-127"/>
                <a:ea typeface="나눔고딕OTF" pitchFamily="34" charset="-127"/>
              </a:rPr>
              <a:t>종합소견 입력</a:t>
            </a:r>
            <a:r>
              <a:rPr kumimoji="0" lang="en-US" altLang="ko-KR" sz="1200">
                <a:latin typeface="나눔고딕OTF" pitchFamily="34" charset="-127"/>
                <a:ea typeface="나눔고딕OTF" pitchFamily="34" charset="-127"/>
              </a:rPr>
              <a:t>)</a:t>
            </a:r>
          </a:p>
        </p:txBody>
      </p:sp>
      <p:sp>
        <p:nvSpPr>
          <p:cNvPr id="10" name="직사각형 9"/>
          <p:cNvSpPr/>
          <p:nvPr/>
        </p:nvSpPr>
        <p:spPr>
          <a:xfrm>
            <a:off x="595313" y="3824676"/>
            <a:ext cx="3714745" cy="1747464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1" name="직사각형 10"/>
          <p:cNvSpPr/>
          <p:nvPr/>
        </p:nvSpPr>
        <p:spPr>
          <a:xfrm>
            <a:off x="2524109" y="2643182"/>
            <a:ext cx="1785950" cy="64294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2" name="타원 11"/>
          <p:cNvSpPr/>
          <p:nvPr/>
        </p:nvSpPr>
        <p:spPr>
          <a:xfrm>
            <a:off x="416781" y="1796880"/>
            <a:ext cx="285750" cy="285750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600" dirty="0">
                <a:solidFill>
                  <a:schemeClr val="tx1"/>
                </a:solidFill>
              </a:rPr>
              <a:t>1</a:t>
            </a:r>
            <a:endParaRPr lang="ko-KR" altLang="en-US" sz="1600" dirty="0">
              <a:solidFill>
                <a:schemeClr val="tx1"/>
              </a:solidFill>
            </a:endParaRPr>
          </a:p>
        </p:txBody>
      </p:sp>
      <p:sp>
        <p:nvSpPr>
          <p:cNvPr id="13" name="타원 12"/>
          <p:cNvSpPr/>
          <p:nvPr/>
        </p:nvSpPr>
        <p:spPr>
          <a:xfrm>
            <a:off x="2381232" y="2428868"/>
            <a:ext cx="285750" cy="285750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600" dirty="0">
                <a:solidFill>
                  <a:schemeClr val="tx1"/>
                </a:solidFill>
              </a:rPr>
              <a:t>2</a:t>
            </a:r>
            <a:endParaRPr lang="ko-KR" altLang="en-US" sz="1600" dirty="0">
              <a:solidFill>
                <a:schemeClr val="tx1"/>
              </a:solidFill>
            </a:endParaRPr>
          </a:p>
        </p:txBody>
      </p:sp>
      <p:sp>
        <p:nvSpPr>
          <p:cNvPr id="14" name="타원 13"/>
          <p:cNvSpPr/>
          <p:nvPr/>
        </p:nvSpPr>
        <p:spPr>
          <a:xfrm>
            <a:off x="452406" y="3643314"/>
            <a:ext cx="285750" cy="285750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600" dirty="0">
                <a:solidFill>
                  <a:schemeClr val="tx1"/>
                </a:solidFill>
              </a:rPr>
              <a:t>3</a:t>
            </a:r>
            <a:endParaRPr lang="ko-KR" altLang="en-US" sz="1600" dirty="0">
              <a:solidFill>
                <a:schemeClr val="tx1"/>
              </a:solidFill>
            </a:endParaRPr>
          </a:p>
        </p:txBody>
      </p:sp>
      <p:grpSp>
        <p:nvGrpSpPr>
          <p:cNvPr id="16" name="그룹 15"/>
          <p:cNvGrpSpPr/>
          <p:nvPr/>
        </p:nvGrpSpPr>
        <p:grpSpPr>
          <a:xfrm>
            <a:off x="4738688" y="1000125"/>
            <a:ext cx="4894262" cy="5385650"/>
            <a:chOff x="4738688" y="1000125"/>
            <a:chExt cx="4894262" cy="5385650"/>
          </a:xfrm>
        </p:grpSpPr>
        <p:sp>
          <p:nvSpPr>
            <p:cNvPr id="21510" name="TextBox 4"/>
            <p:cNvSpPr txBox="1">
              <a:spLocks noChangeArrowheads="1"/>
            </p:cNvSpPr>
            <p:nvPr/>
          </p:nvSpPr>
          <p:spPr bwMode="auto">
            <a:xfrm>
              <a:off x="4738688" y="1000125"/>
              <a:ext cx="4894262" cy="3231654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>
              <a:spAutoFit/>
            </a:bodyPr>
            <a:lstStyle/>
            <a:p>
              <a:pPr marL="228600" indent="-228600">
                <a:lnSpc>
                  <a:spcPct val="120000"/>
                </a:lnSpc>
                <a:buFontTx/>
                <a:buAutoNum type="arabicParenR" startAt="3"/>
              </a:pPr>
              <a:r>
                <a:rPr kumimoji="0" lang="ko-KR" altLang="en-US" sz="1000" b="1" dirty="0">
                  <a:latin typeface="나눔고딕OTF" pitchFamily="34" charset="-127"/>
                  <a:ea typeface="나눔고딕OTF" pitchFamily="34" charset="-127"/>
                </a:rPr>
                <a:t>소견 결과 입력</a:t>
              </a:r>
              <a:r>
                <a:rPr kumimoji="0" lang="en-US" altLang="ko-KR" sz="1000" b="1" dirty="0">
                  <a:latin typeface="나눔고딕OTF" pitchFamily="34" charset="-127"/>
                  <a:ea typeface="나눔고딕OTF" pitchFamily="34" charset="-127"/>
                </a:rPr>
                <a:t> (</a:t>
              </a:r>
              <a:r>
                <a:rPr kumimoji="0" lang="ko-KR" altLang="en-US" sz="1000" b="1" dirty="0">
                  <a:latin typeface="나눔고딕OTF" pitchFamily="34" charset="-127"/>
                  <a:ea typeface="나눔고딕OTF" pitchFamily="34" charset="-127"/>
                </a:rPr>
                <a:t>종합 소견</a:t>
              </a:r>
              <a:r>
                <a:rPr kumimoji="0" lang="en-US" altLang="ko-KR" sz="1000" b="1" dirty="0">
                  <a:latin typeface="나눔고딕OTF" pitchFamily="34" charset="-127"/>
                  <a:ea typeface="나눔고딕OTF" pitchFamily="34" charset="-127"/>
                </a:rPr>
                <a:t>)</a:t>
              </a: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b="1" dirty="0">
                  <a:latin typeface="나눔고딕OTF" pitchFamily="34" charset="-127"/>
                  <a:ea typeface="나눔고딕OTF" pitchFamily="34" charset="-127"/>
                </a:rPr>
                <a:t>   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-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검진 결과에 대한 종합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/>
                </a:rPr>
                <a:t>소견을 입력할 수 있습니다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 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</a:t>
              </a: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* </a:t>
              </a:r>
              <a:r>
                <a:rPr kumimoji="0" lang="ko-KR" altLang="en-US" sz="1000" dirty="0" err="1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앨리스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 프로그램에서 기본적으로 제공하는 종합소견 코드</a:t>
              </a: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(X999, Y999)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를 검사 항목에 추가해야 사용할 수 있습니다</a:t>
              </a: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. 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추가하지 않으면 안내 메시지가 표시됩니다</a:t>
              </a: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 </a:t>
              </a: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 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①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: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검진자의 이상결과 항목을 표시합니다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  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②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: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선택한 이상결과 항목에 속해있는 소견코드를 표시합니다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 </a:t>
              </a:r>
              <a:r>
                <a:rPr kumimoji="0" lang="ko-KR" altLang="en-US" sz="1000" dirty="0" err="1" smtClean="0">
                  <a:latin typeface="나눔고딕OTF" pitchFamily="34" charset="-127"/>
                  <a:ea typeface="나눔고딕OTF" pitchFamily="34" charset="-127"/>
                </a:rPr>
                <a:t>더블클릭하면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,</a:t>
              </a: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	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해당 소견이 ③에 입력됩니다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 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③ 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: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종합소견 입력 화면입니다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②에서 선택한 소견이 표시되고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,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추가로 직접 입력할 수 있습니다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소견을 입력하거나 수정한 뒤에는 반드시 저장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(F2)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버튼을 눌러주시기 바랍니다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</a:t>
              </a: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* 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②의 소견코드는 상단 메뉴의 코드관리 </a:t>
              </a: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– 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소견코드 에서 관리할 수 있습니다</a:t>
              </a: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.</a:t>
              </a:r>
              <a:endParaRPr kumimoji="0" lang="en-US" altLang="ko-KR" sz="1000" dirty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endParaRPr>
            </a:p>
          </p:txBody>
        </p:sp>
        <p:pic>
          <p:nvPicPr>
            <p:cNvPr id="21512" name="Picture 8"/>
            <p:cNvPicPr>
              <a:picLocks noChangeAspect="1" noChangeArrowheads="1"/>
            </p:cNvPicPr>
            <p:nvPr/>
          </p:nvPicPr>
          <p:blipFill>
            <a:blip r:embed="rId3"/>
            <a:srcRect/>
            <a:stretch>
              <a:fillRect/>
            </a:stretch>
          </p:blipFill>
          <p:spPr bwMode="auto">
            <a:xfrm>
              <a:off x="6167446" y="1857364"/>
              <a:ext cx="1785950" cy="908371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</p:pic>
        <p:pic>
          <p:nvPicPr>
            <p:cNvPr id="15" name="그림 14" descr="캡처.PNG"/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5738818" y="4286256"/>
              <a:ext cx="2601939" cy="2099519"/>
            </a:xfrm>
            <a:prstGeom prst="rect">
              <a:avLst/>
            </a:prstGeom>
          </p:spPr>
        </p:pic>
      </p:grp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506" name="Picture 8"/>
          <p:cNvPicPr>
            <a:picLocks noChangeAspect="1" noChangeArrowheads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27146" y="1491823"/>
            <a:ext cx="3727281" cy="427440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6" name="TextBox 5"/>
          <p:cNvSpPr txBox="1"/>
          <p:nvPr/>
        </p:nvSpPr>
        <p:spPr>
          <a:xfrm>
            <a:off x="1497013" y="282575"/>
            <a:ext cx="1114425" cy="3698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kumimoji="0" lang="ko-KR" altLang="en-US" dirty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결과 입력</a:t>
            </a:r>
          </a:p>
        </p:txBody>
      </p:sp>
      <p:sp>
        <p:nvSpPr>
          <p:cNvPr id="21508" name="TextBox 4"/>
          <p:cNvSpPr txBox="1">
            <a:spLocks noChangeArrowheads="1"/>
          </p:cNvSpPr>
          <p:nvPr/>
        </p:nvSpPr>
        <p:spPr bwMode="auto">
          <a:xfrm>
            <a:off x="381000" y="785813"/>
            <a:ext cx="1022350" cy="3079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kumimoji="0" lang="en-US" altLang="ko-KR" sz="1400" b="1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400" b="1">
                <a:latin typeface="나눔고딕OTF" pitchFamily="34" charset="-127"/>
                <a:ea typeface="나눔고딕OTF" pitchFamily="34" charset="-127"/>
              </a:rPr>
              <a:t>메인 화면</a:t>
            </a:r>
          </a:p>
        </p:txBody>
      </p:sp>
      <p:sp>
        <p:nvSpPr>
          <p:cNvPr id="21511" name="TextBox 59"/>
          <p:cNvSpPr txBox="1">
            <a:spLocks noChangeArrowheads="1"/>
          </p:cNvSpPr>
          <p:nvPr/>
        </p:nvSpPr>
        <p:spPr bwMode="auto">
          <a:xfrm>
            <a:off x="415925" y="1052513"/>
            <a:ext cx="4037013" cy="2762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kumimoji="0" lang="en-US" altLang="ko-KR" sz="1200" dirty="0">
                <a:latin typeface="나눔고딕OTF" pitchFamily="34" charset="-127"/>
                <a:ea typeface="나눔고딕OTF" pitchFamily="34" charset="-127"/>
              </a:rPr>
              <a:t> -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문진 입력</a:t>
            </a:r>
            <a:endParaRPr kumimoji="0" lang="en-US" altLang="ko-KR" sz="1200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21510" name="TextBox 4"/>
          <p:cNvSpPr txBox="1">
            <a:spLocks noChangeArrowheads="1"/>
          </p:cNvSpPr>
          <p:nvPr/>
        </p:nvSpPr>
        <p:spPr bwMode="auto">
          <a:xfrm>
            <a:off x="4738688" y="1000125"/>
            <a:ext cx="4894262" cy="175432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 marL="228600" indent="-228600">
              <a:lnSpc>
                <a:spcPct val="120000"/>
              </a:lnSpc>
              <a:buAutoNum type="arabicParenR" startAt="4"/>
            </a:pPr>
            <a:r>
              <a:rPr kumimoji="0" lang="ko-KR" altLang="en-US" sz="1000" b="1" dirty="0" smtClean="0">
                <a:latin typeface="나눔고딕OTF" pitchFamily="34" charset="-127"/>
                <a:ea typeface="나눔고딕OTF" pitchFamily="34" charset="-127"/>
              </a:rPr>
              <a:t>건강검진 문진표 입력</a:t>
            </a:r>
            <a:endParaRPr kumimoji="0" lang="en-US" altLang="ko-KR" sz="1000" b="1" dirty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b="1" dirty="0">
                <a:latin typeface="나눔고딕OTF" pitchFamily="34" charset="-127"/>
                <a:ea typeface="나눔고딕OTF" pitchFamily="34" charset="-127"/>
              </a:rPr>
              <a:t>  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공단검진 문진표를 입력합니다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건강검진 접수와 동시에 각 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문진값에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 기본값으로 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정상값이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 입력되어 있습니다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* 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우측 상단에 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“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기본값해제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” 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버튼을 클릭하면 기본값이 삭제됩니다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문진값에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 숫자를 입력하고 키보드의 탭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(Tab)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키 혹은 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엔터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(Enter)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키를 입력하면 커서가 다음으로 넘어갑니다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값을 입력하고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“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저장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”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버튼을 클릭하여 저장해주어야 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저장버튼을 클릭하면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“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작업자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” 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란에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 작업자의 아이디와 작업일자가 표시됩니다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  <a:endParaRPr kumimoji="0" lang="en-US" altLang="ko-KR" sz="1000" dirty="0" smtClean="0">
              <a:solidFill>
                <a:srgbClr val="FF0000"/>
              </a:solidFill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endParaRPr kumimoji="0" lang="en-US" altLang="ko-KR" sz="1000" dirty="0">
              <a:solidFill>
                <a:srgbClr val="FF0000"/>
              </a:solidFill>
              <a:latin typeface="나눔고딕OTF" pitchFamily="34" charset="-127"/>
              <a:ea typeface="나눔고딕OTF" pitchFamily="34" charset="-127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506" name="Picture 8"/>
          <p:cNvPicPr>
            <a:picLocks noChangeAspect="1" noChangeArrowheads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99558" y="1479550"/>
            <a:ext cx="3582457" cy="4298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6" name="TextBox 5"/>
          <p:cNvSpPr txBox="1"/>
          <p:nvPr/>
        </p:nvSpPr>
        <p:spPr>
          <a:xfrm>
            <a:off x="1497013" y="282575"/>
            <a:ext cx="1114425" cy="3698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kumimoji="0" lang="ko-KR" altLang="en-US" dirty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결과 입력</a:t>
            </a:r>
          </a:p>
        </p:txBody>
      </p:sp>
      <p:sp>
        <p:nvSpPr>
          <p:cNvPr id="21508" name="TextBox 4"/>
          <p:cNvSpPr txBox="1">
            <a:spLocks noChangeArrowheads="1"/>
          </p:cNvSpPr>
          <p:nvPr/>
        </p:nvSpPr>
        <p:spPr bwMode="auto">
          <a:xfrm>
            <a:off x="381000" y="785813"/>
            <a:ext cx="1022350" cy="3079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kumimoji="0" lang="en-US" altLang="ko-KR" sz="1400" b="1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400" b="1">
                <a:latin typeface="나눔고딕OTF" pitchFamily="34" charset="-127"/>
                <a:ea typeface="나눔고딕OTF" pitchFamily="34" charset="-127"/>
              </a:rPr>
              <a:t>메인 화면</a:t>
            </a:r>
          </a:p>
        </p:txBody>
      </p:sp>
      <p:sp>
        <p:nvSpPr>
          <p:cNvPr id="21511" name="TextBox 59"/>
          <p:cNvSpPr txBox="1">
            <a:spLocks noChangeArrowheads="1"/>
          </p:cNvSpPr>
          <p:nvPr/>
        </p:nvSpPr>
        <p:spPr bwMode="auto">
          <a:xfrm>
            <a:off x="415925" y="1052513"/>
            <a:ext cx="4037013" cy="2762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kumimoji="0" lang="en-US" altLang="ko-KR" sz="1200" dirty="0">
                <a:latin typeface="나눔고딕OTF" pitchFamily="34" charset="-127"/>
                <a:ea typeface="나눔고딕OTF" pitchFamily="34" charset="-127"/>
              </a:rPr>
              <a:t> -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암 결과입력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(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암 결과 </a:t>
            </a:r>
            <a:r>
              <a:rPr kumimoji="0" lang="ko-KR" altLang="en-US" sz="1200" dirty="0">
                <a:latin typeface="나눔고딕OTF" pitchFamily="34" charset="-127"/>
                <a:ea typeface="나눔고딕OTF" pitchFamily="34" charset="-127"/>
              </a:rPr>
              <a:t>입력</a:t>
            </a:r>
            <a:r>
              <a:rPr kumimoji="0" lang="en-US" altLang="ko-KR" sz="1200" dirty="0">
                <a:latin typeface="나눔고딕OTF" pitchFamily="34" charset="-127"/>
                <a:ea typeface="나눔고딕OTF" pitchFamily="34" charset="-127"/>
              </a:rPr>
              <a:t>)</a:t>
            </a:r>
          </a:p>
        </p:txBody>
      </p:sp>
      <p:grpSp>
        <p:nvGrpSpPr>
          <p:cNvPr id="15" name="그룹 14"/>
          <p:cNvGrpSpPr/>
          <p:nvPr/>
        </p:nvGrpSpPr>
        <p:grpSpPr>
          <a:xfrm>
            <a:off x="4738688" y="1000125"/>
            <a:ext cx="4894262" cy="4247317"/>
            <a:chOff x="4738688" y="1000125"/>
            <a:chExt cx="4894262" cy="4247317"/>
          </a:xfrm>
        </p:grpSpPr>
        <p:sp>
          <p:nvSpPr>
            <p:cNvPr id="21510" name="TextBox 4"/>
            <p:cNvSpPr txBox="1">
              <a:spLocks noChangeArrowheads="1"/>
            </p:cNvSpPr>
            <p:nvPr/>
          </p:nvSpPr>
          <p:spPr bwMode="auto">
            <a:xfrm>
              <a:off x="4738688" y="1000125"/>
              <a:ext cx="4894262" cy="424731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>
              <a:spAutoFit/>
            </a:bodyPr>
            <a:lstStyle/>
            <a:p>
              <a:pPr marL="228600" indent="-228600">
                <a:lnSpc>
                  <a:spcPct val="150000"/>
                </a:lnSpc>
                <a:buAutoNum type="arabicParenR" startAt="5"/>
              </a:pPr>
              <a:r>
                <a:rPr kumimoji="0" lang="ko-KR" altLang="en-US" sz="1000" b="1" dirty="0" err="1" smtClean="0">
                  <a:latin typeface="나눔고딕OTF" pitchFamily="34" charset="-127"/>
                  <a:ea typeface="나눔고딕OTF" pitchFamily="34" charset="-127"/>
                </a:rPr>
                <a:t>암검진</a:t>
              </a:r>
              <a:r>
                <a:rPr kumimoji="0" lang="ko-KR" altLang="en-US" sz="1000" b="1" dirty="0" smtClean="0">
                  <a:latin typeface="나눔고딕OTF" pitchFamily="34" charset="-127"/>
                  <a:ea typeface="나눔고딕OTF" pitchFamily="34" charset="-127"/>
                </a:rPr>
                <a:t> 입력</a:t>
              </a:r>
              <a:endParaRPr kumimoji="0" lang="en-US" altLang="ko-KR" sz="1000" b="1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50000"/>
                </a:lnSpc>
              </a:pPr>
              <a:r>
                <a:rPr kumimoji="0" lang="en-US" altLang="ko-KR" sz="1000" b="1" dirty="0" smtClean="0">
                  <a:latin typeface="나눔고딕OTF" pitchFamily="34" charset="-127"/>
                  <a:ea typeface="나눔고딕OTF" pitchFamily="34" charset="-127"/>
                </a:rPr>
                <a:t>   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- </a:t>
              </a:r>
              <a:r>
                <a:rPr kumimoji="0" lang="ko-KR" altLang="en-US" sz="1000" dirty="0" err="1" smtClean="0">
                  <a:latin typeface="나눔고딕OTF" pitchFamily="34" charset="-127"/>
                  <a:ea typeface="나눔고딕OTF" pitchFamily="34" charset="-127"/>
                </a:rPr>
                <a:t>검진자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 조회 화면에서 </a:t>
              </a:r>
              <a:r>
                <a:rPr kumimoji="0" lang="ko-KR" altLang="en-US" sz="1000" dirty="0" err="1" smtClean="0">
                  <a:latin typeface="나눔고딕OTF" pitchFamily="34" charset="-127"/>
                  <a:ea typeface="나눔고딕OTF" pitchFamily="34" charset="-127"/>
                </a:rPr>
                <a:t>암검진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 대상자를 선택한 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,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메인 화면 상단의 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“</a:t>
              </a:r>
              <a:r>
                <a:rPr kumimoji="0" lang="ko-KR" altLang="en-US" sz="1000" dirty="0" err="1" smtClean="0">
                  <a:latin typeface="나눔고딕OTF" pitchFamily="34" charset="-127"/>
                  <a:ea typeface="나눔고딕OTF" pitchFamily="34" charset="-127"/>
                </a:rPr>
                <a:t>암검진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”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버튼을 클릭하면 </a:t>
              </a:r>
              <a:r>
                <a:rPr kumimoji="0" lang="ko-KR" altLang="en-US" sz="1000" dirty="0" err="1" smtClean="0">
                  <a:latin typeface="나눔고딕OTF" pitchFamily="34" charset="-127"/>
                  <a:ea typeface="나눔고딕OTF" pitchFamily="34" charset="-127"/>
                </a:rPr>
                <a:t>암검진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 결과 입력화면이 표시됩니다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50000"/>
                </a:lnSpc>
              </a:pPr>
              <a:r>
                <a:rPr kumimoji="0" lang="en-US" altLang="ko-KR" sz="1000" b="1" dirty="0" smtClean="0">
                  <a:latin typeface="나눔고딕OTF" pitchFamily="34" charset="-127"/>
                  <a:ea typeface="나눔고딕OTF" pitchFamily="34" charset="-127"/>
                </a:rPr>
                <a:t>   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-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위암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,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대장암 등 </a:t>
              </a:r>
              <a:r>
                <a:rPr kumimoji="0" lang="ko-KR" altLang="en-US" sz="1000" dirty="0" err="1" smtClean="0">
                  <a:latin typeface="나눔고딕OTF" pitchFamily="34" charset="-127"/>
                  <a:ea typeface="나눔고딕OTF" pitchFamily="34" charset="-127"/>
                </a:rPr>
                <a:t>암검진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 유형을 선택합니다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50000"/>
                </a:lnSpc>
              </a:pPr>
              <a:r>
                <a:rPr kumimoji="0" lang="en-US" altLang="ko-KR" sz="1000" b="1" dirty="0" smtClean="0">
                  <a:latin typeface="나눔고딕OTF" pitchFamily="34" charset="-127"/>
                  <a:ea typeface="나눔고딕OTF" pitchFamily="34" charset="-127"/>
                </a:rPr>
                <a:t>   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- </a:t>
              </a:r>
              <a:r>
                <a:rPr kumimoji="0" lang="ko-KR" altLang="en-US" sz="1000" dirty="0" err="1" smtClean="0">
                  <a:latin typeface="나눔고딕OTF" pitchFamily="34" charset="-127"/>
                  <a:ea typeface="나눔고딕OTF" pitchFamily="34" charset="-127"/>
                </a:rPr>
                <a:t>암검진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 결과를 순서대로 입력합니다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5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-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각각 숫자 결과값을 입력한 뒤 키보드의 탭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(Tab)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버튼을 누르면 다음 </a:t>
              </a:r>
              <a:r>
                <a:rPr kumimoji="0" lang="ko-KR" altLang="en-US" sz="1000" dirty="0" err="1" smtClean="0">
                  <a:latin typeface="나눔고딕OTF" pitchFamily="34" charset="-127"/>
                  <a:ea typeface="나눔고딕OTF" pitchFamily="34" charset="-127"/>
                </a:rPr>
                <a:t>입력칸으로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 커서가 옮겨갑니다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5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-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커서가 옮겨가면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,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결과 입력 가이드가 표시됩니다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  </a:t>
              </a: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  <a:sym typeface="Wingdings" pitchFamily="2" charset="2"/>
                </a:rPr>
                <a:t></a:t>
              </a:r>
              <a:endPara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5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-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판정일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, </a:t>
              </a:r>
              <a:r>
                <a:rPr kumimoji="0" lang="ko-KR" altLang="en-US" sz="1000" dirty="0" err="1" smtClean="0">
                  <a:latin typeface="나눔고딕OTF" pitchFamily="34" charset="-127"/>
                  <a:ea typeface="나눔고딕OTF" pitchFamily="34" charset="-127"/>
                </a:rPr>
                <a:t>판정의를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 입력한 뒤 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“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저장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”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버튼을 클릭하면</a:t>
              </a:r>
              <a:endParaRPr kumimoji="0" lang="en-US" altLang="ko-KR" sz="1000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5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	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입력 내용이 저장됩니다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5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- “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완료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”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 버튼을 눌러 최종완료 처리를 해야 </a:t>
              </a:r>
              <a:r>
                <a:rPr kumimoji="0" lang="ko-KR" altLang="en-US" sz="1000" dirty="0" err="1" smtClean="0">
                  <a:latin typeface="나눔고딕OTF" pitchFamily="34" charset="-127"/>
                  <a:ea typeface="나눔고딕OTF" pitchFamily="34" charset="-127"/>
                </a:rPr>
                <a:t>통보서를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 출력할</a:t>
              </a:r>
              <a:endParaRPr kumimoji="0" lang="en-US" altLang="ko-KR" sz="1000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5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	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수 있습니다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5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-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완료 처리된 상태에서는 결과값을 수정할 수 없습니다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5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	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수정하려면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, “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완료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”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 버튼을 한번 더 클릭하여 완료처리를 취소하고 수정한 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,</a:t>
              </a:r>
            </a:p>
            <a:p>
              <a:pPr marL="228600" indent="-228600">
                <a:lnSpc>
                  <a:spcPct val="15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	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저장합니다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5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</a:t>
              </a: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* 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하단의 </a:t>
              </a: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“</a:t>
              </a:r>
              <a:r>
                <a:rPr kumimoji="0" lang="ko-KR" altLang="en-US" sz="1000" dirty="0" err="1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검진일자동</a:t>
              </a: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”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을 체크하면</a:t>
              </a: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, 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암 결과 입력 시 </a:t>
              </a:r>
              <a:r>
                <a:rPr kumimoji="0" lang="ko-KR" altLang="en-US" sz="1000" dirty="0" err="1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검진일을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 입력할 때</a:t>
              </a: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 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자동으로 현재 날짜가 입력됩니다</a:t>
              </a: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.</a:t>
              </a:r>
              <a:endParaRPr kumimoji="0" lang="en-US" altLang="ko-KR" sz="1000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50000"/>
                </a:lnSpc>
              </a:pPr>
              <a:r>
                <a:rPr kumimoji="0" lang="en-US" altLang="ko-KR" sz="1000" b="1" dirty="0" smtClean="0">
                  <a:latin typeface="나눔고딕OTF" pitchFamily="34" charset="-127"/>
                  <a:ea typeface="나눔고딕OTF" pitchFamily="34" charset="-127"/>
                </a:rPr>
                <a:t>   </a:t>
              </a:r>
            </a:p>
          </p:txBody>
        </p:sp>
        <p:pic>
          <p:nvPicPr>
            <p:cNvPr id="2050" name="Picture 2"/>
            <p:cNvPicPr>
              <a:picLocks noChangeAspect="1" noChangeArrowheads="1"/>
            </p:cNvPicPr>
            <p:nvPr/>
          </p:nvPicPr>
          <p:blipFill>
            <a:blip r:embed="rId3"/>
            <a:srcRect/>
            <a:stretch>
              <a:fillRect/>
            </a:stretch>
          </p:blipFill>
          <p:spPr bwMode="auto">
            <a:xfrm>
              <a:off x="8147299" y="2500306"/>
              <a:ext cx="1306295" cy="1428760"/>
            </a:xfrm>
            <a:prstGeom prst="rect">
              <a:avLst/>
            </a:prstGeom>
            <a:noFill/>
            <a:ln w="9525">
              <a:solidFill>
                <a:srgbClr val="FF0000"/>
              </a:solidFill>
              <a:miter lim="800000"/>
              <a:headEnd/>
              <a:tailEnd/>
            </a:ln>
            <a:effectLst/>
          </p:spPr>
        </p:pic>
      </p:grp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506" name="Picture 8"/>
          <p:cNvPicPr>
            <a:picLocks noChangeAspect="1" noChangeArrowheads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99558" y="1479550"/>
            <a:ext cx="3582457" cy="4298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6" name="TextBox 5"/>
          <p:cNvSpPr txBox="1"/>
          <p:nvPr/>
        </p:nvSpPr>
        <p:spPr>
          <a:xfrm>
            <a:off x="1497013" y="282575"/>
            <a:ext cx="1114425" cy="3698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kumimoji="0" lang="ko-KR" altLang="en-US" dirty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결과 입력</a:t>
            </a:r>
          </a:p>
        </p:txBody>
      </p:sp>
      <p:sp>
        <p:nvSpPr>
          <p:cNvPr id="21508" name="TextBox 4"/>
          <p:cNvSpPr txBox="1">
            <a:spLocks noChangeArrowheads="1"/>
          </p:cNvSpPr>
          <p:nvPr/>
        </p:nvSpPr>
        <p:spPr bwMode="auto">
          <a:xfrm>
            <a:off x="381000" y="785813"/>
            <a:ext cx="1022350" cy="3079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kumimoji="0" lang="en-US" altLang="ko-KR" sz="1400" b="1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400" b="1">
                <a:latin typeface="나눔고딕OTF" pitchFamily="34" charset="-127"/>
                <a:ea typeface="나눔고딕OTF" pitchFamily="34" charset="-127"/>
              </a:rPr>
              <a:t>메인 화면</a:t>
            </a:r>
          </a:p>
        </p:txBody>
      </p:sp>
      <p:sp>
        <p:nvSpPr>
          <p:cNvPr id="21511" name="TextBox 59"/>
          <p:cNvSpPr txBox="1">
            <a:spLocks noChangeArrowheads="1"/>
          </p:cNvSpPr>
          <p:nvPr/>
        </p:nvSpPr>
        <p:spPr bwMode="auto">
          <a:xfrm>
            <a:off x="415925" y="1052513"/>
            <a:ext cx="4037013" cy="2762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kumimoji="0" lang="en-US" altLang="ko-KR" sz="1200" dirty="0">
                <a:latin typeface="나눔고딕OTF" pitchFamily="34" charset="-127"/>
                <a:ea typeface="나눔고딕OTF" pitchFamily="34" charset="-127"/>
              </a:rPr>
              <a:t> -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암 결과입력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(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암 결과 </a:t>
            </a:r>
            <a:r>
              <a:rPr kumimoji="0" lang="ko-KR" altLang="en-US" sz="1200" dirty="0">
                <a:latin typeface="나눔고딕OTF" pitchFamily="34" charset="-127"/>
                <a:ea typeface="나눔고딕OTF" pitchFamily="34" charset="-127"/>
              </a:rPr>
              <a:t>입력</a:t>
            </a:r>
            <a:r>
              <a:rPr kumimoji="0" lang="en-US" altLang="ko-KR" sz="1200" dirty="0">
                <a:latin typeface="나눔고딕OTF" pitchFamily="34" charset="-127"/>
                <a:ea typeface="나눔고딕OTF" pitchFamily="34" charset="-127"/>
              </a:rPr>
              <a:t>)</a:t>
            </a:r>
          </a:p>
        </p:txBody>
      </p:sp>
      <p:grpSp>
        <p:nvGrpSpPr>
          <p:cNvPr id="26" name="그룹 25"/>
          <p:cNvGrpSpPr/>
          <p:nvPr/>
        </p:nvGrpSpPr>
        <p:grpSpPr>
          <a:xfrm>
            <a:off x="4738688" y="1000125"/>
            <a:ext cx="4894262" cy="5357833"/>
            <a:chOff x="4738688" y="1000125"/>
            <a:chExt cx="4894262" cy="5357833"/>
          </a:xfrm>
        </p:grpSpPr>
        <p:pic>
          <p:nvPicPr>
            <p:cNvPr id="3077" name="Picture 5"/>
            <p:cNvPicPr>
              <a:picLocks noChangeAspect="1" noChangeArrowheads="1"/>
            </p:cNvPicPr>
            <p:nvPr/>
          </p:nvPicPr>
          <p:blipFill>
            <a:blip r:embed="rId3"/>
            <a:srcRect/>
            <a:stretch>
              <a:fillRect/>
            </a:stretch>
          </p:blipFill>
          <p:spPr bwMode="auto">
            <a:xfrm>
              <a:off x="7593124" y="2261278"/>
              <a:ext cx="1643074" cy="667979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  <a:effectLst/>
          </p:spPr>
        </p:pic>
        <p:sp>
          <p:nvSpPr>
            <p:cNvPr id="21510" name="TextBox 4"/>
            <p:cNvSpPr txBox="1">
              <a:spLocks noChangeArrowheads="1"/>
            </p:cNvSpPr>
            <p:nvPr/>
          </p:nvSpPr>
          <p:spPr bwMode="auto">
            <a:xfrm>
              <a:off x="4738688" y="1000125"/>
              <a:ext cx="4894262" cy="332398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>
              <a:spAutoFit/>
            </a:bodyPr>
            <a:lstStyle/>
            <a:p>
              <a:pPr marL="228600" indent="-228600">
                <a:lnSpc>
                  <a:spcPct val="150000"/>
                </a:lnSpc>
                <a:buAutoNum type="arabicParenR" startAt="5"/>
              </a:pPr>
              <a:r>
                <a:rPr kumimoji="0" lang="ko-KR" altLang="en-US" sz="1000" b="1" dirty="0" err="1" smtClean="0">
                  <a:latin typeface="나눔고딕OTF" pitchFamily="34" charset="-127"/>
                  <a:ea typeface="나눔고딕OTF" pitchFamily="34" charset="-127"/>
                </a:rPr>
                <a:t>암검진</a:t>
              </a:r>
              <a:r>
                <a:rPr kumimoji="0" lang="ko-KR" altLang="en-US" sz="1000" b="1" dirty="0" smtClean="0">
                  <a:latin typeface="나눔고딕OTF" pitchFamily="34" charset="-127"/>
                  <a:ea typeface="나눔고딕OTF" pitchFamily="34" charset="-127"/>
                </a:rPr>
                <a:t> 추가체크 입력</a:t>
              </a:r>
              <a:endParaRPr kumimoji="0" lang="en-US" altLang="ko-KR" sz="1000" b="1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50000"/>
                </a:lnSpc>
              </a:pPr>
              <a:r>
                <a:rPr kumimoji="0" lang="en-US" altLang="ko-KR" sz="1000" b="1" dirty="0" smtClean="0">
                  <a:latin typeface="나눔고딕OTF" pitchFamily="34" charset="-127"/>
                  <a:ea typeface="나눔고딕OTF" pitchFamily="34" charset="-127"/>
                </a:rPr>
                <a:t>   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- </a:t>
              </a:r>
              <a:r>
                <a:rPr kumimoji="0" lang="ko-KR" altLang="en-US" sz="1000" dirty="0" err="1" smtClean="0">
                  <a:latin typeface="나눔고딕OTF" pitchFamily="34" charset="-127"/>
                  <a:ea typeface="나눔고딕OTF" pitchFamily="34" charset="-127"/>
                </a:rPr>
                <a:t>암검진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 이력이 있는 경우 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(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대장분변검사 후 조영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or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내시경 검사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)</a:t>
              </a:r>
            </a:p>
            <a:p>
              <a:pPr marL="228600" indent="-228600">
                <a:lnSpc>
                  <a:spcPct val="15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	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에는 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“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암 추가검사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”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로 접수해야 합니다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5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</a:t>
              </a: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* 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타 병원에서 </a:t>
              </a: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1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차 </a:t>
              </a:r>
              <a:r>
                <a:rPr kumimoji="0" lang="ko-KR" altLang="en-US" sz="1000" dirty="0" err="1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암검진을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 하고 온 경우에는 해당되지 않습니다</a:t>
              </a: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50000"/>
                </a:lnSpc>
              </a:pP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   * 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접수 시 추가검진 체크를 하지 못한 경우</a:t>
              </a: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, </a:t>
              </a:r>
              <a:r>
                <a:rPr kumimoji="0" lang="ko-KR" altLang="en-US" sz="1000" dirty="0" err="1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인적수정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 창에서 설정할 수 있습니다</a:t>
              </a: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50000"/>
                </a:lnSpc>
              </a:pPr>
              <a:endPara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50000"/>
                </a:lnSpc>
              </a:pPr>
              <a:endPara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50000"/>
                </a:lnSpc>
              </a:pPr>
              <a:endPara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50000"/>
                </a:lnSpc>
              </a:pPr>
              <a:endPara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50000"/>
                </a:lnSpc>
              </a:pPr>
              <a:endPara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5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- </a:t>
              </a:r>
              <a:r>
                <a:rPr kumimoji="0" lang="ko-KR" altLang="en-US" sz="1000" dirty="0" err="1" smtClean="0">
                  <a:latin typeface="나눔고딕OTF" pitchFamily="34" charset="-127"/>
                  <a:ea typeface="나눔고딕OTF" pitchFamily="34" charset="-127"/>
                </a:rPr>
                <a:t>암검진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 결과를 동일하게 입력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,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완료처리까지 한 뒤에                    버튼을 클릭합니다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5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-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버튼을 클릭하면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“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추가청구체크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”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화면이 호출됩니다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여기서 추가 검사한 항목을 선택하고 저장한 뒤 청구파일을 생성해야 정상적인 파일이 생성됩니다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50000"/>
                </a:lnSpc>
              </a:pPr>
              <a:endParaRPr kumimoji="0" lang="en-US" altLang="ko-KR" sz="1000" b="1" dirty="0" smtClean="0">
                <a:latin typeface="나눔고딕OTF" pitchFamily="34" charset="-127"/>
                <a:ea typeface="나눔고딕OTF" pitchFamily="34" charset="-127"/>
              </a:endParaRPr>
            </a:p>
          </p:txBody>
        </p:sp>
        <p:pic>
          <p:nvPicPr>
            <p:cNvPr id="3074" name="Picture 2"/>
            <p:cNvPicPr>
              <a:picLocks noChangeAspect="1" noChangeArrowheads="1"/>
            </p:cNvPicPr>
            <p:nvPr/>
          </p:nvPicPr>
          <p:blipFill>
            <a:blip r:embed="rId4">
              <a:lum contrast="2000"/>
            </a:blip>
            <a:srcRect/>
            <a:stretch>
              <a:fillRect/>
            </a:stretch>
          </p:blipFill>
          <p:spPr bwMode="auto">
            <a:xfrm>
              <a:off x="8453462" y="1285860"/>
              <a:ext cx="1000125" cy="485775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  <a:effectLst/>
          </p:spPr>
        </p:pic>
        <p:grpSp>
          <p:nvGrpSpPr>
            <p:cNvPr id="11" name="그룹 10"/>
            <p:cNvGrpSpPr/>
            <p:nvPr/>
          </p:nvGrpSpPr>
          <p:grpSpPr>
            <a:xfrm>
              <a:off x="5095876" y="2285992"/>
              <a:ext cx="4143404" cy="642936"/>
              <a:chOff x="7179484" y="2571744"/>
              <a:chExt cx="4143404" cy="642936"/>
            </a:xfrm>
          </p:grpSpPr>
          <p:pic>
            <p:nvPicPr>
              <p:cNvPr id="3075" name="Picture 3"/>
              <p:cNvPicPr>
                <a:picLocks noChangeAspect="1" noChangeArrowheads="1"/>
              </p:cNvPicPr>
              <p:nvPr/>
            </p:nvPicPr>
            <p:blipFill>
              <a:blip r:embed="rId5"/>
              <a:srcRect/>
              <a:stretch>
                <a:fillRect/>
              </a:stretch>
            </p:blipFill>
            <p:spPr bwMode="auto">
              <a:xfrm>
                <a:off x="7179484" y="2571744"/>
                <a:ext cx="1535903" cy="642936"/>
              </a:xfrm>
              <a:prstGeom prst="rect">
                <a:avLst/>
              </a:prstGeom>
              <a:noFill/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</p:pic>
          <p:sp>
            <p:nvSpPr>
              <p:cNvPr id="10" name="직사각형 9"/>
              <p:cNvSpPr/>
              <p:nvPr/>
            </p:nvSpPr>
            <p:spPr>
              <a:xfrm>
                <a:off x="8382024" y="2857496"/>
                <a:ext cx="357190" cy="214314"/>
              </a:xfrm>
              <a:prstGeom prst="rect">
                <a:avLst/>
              </a:prstGeom>
              <a:noFill/>
              <a:ln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algn="ctr" fontAlgn="auto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kumimoji="0" lang="ko-KR" altLang="en-US">
                  <a:latin typeface="나눔고딕OTF" pitchFamily="34" charset="-127"/>
                  <a:ea typeface="나눔고딕OTF" pitchFamily="34" charset="-127"/>
                </a:endParaRPr>
              </a:p>
            </p:txBody>
          </p:sp>
          <p:sp>
            <p:nvSpPr>
              <p:cNvPr id="14" name="직사각형 13"/>
              <p:cNvSpPr/>
              <p:nvPr/>
            </p:nvSpPr>
            <p:spPr>
              <a:xfrm>
                <a:off x="10965698" y="2857496"/>
                <a:ext cx="357190" cy="214314"/>
              </a:xfrm>
              <a:prstGeom prst="rect">
                <a:avLst/>
              </a:prstGeom>
              <a:noFill/>
              <a:ln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algn="ctr" fontAlgn="auto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kumimoji="0" lang="ko-KR" altLang="en-US">
                  <a:latin typeface="나눔고딕OTF" pitchFamily="34" charset="-127"/>
                  <a:ea typeface="나눔고딕OTF" pitchFamily="34" charset="-127"/>
                </a:endParaRPr>
              </a:p>
            </p:txBody>
          </p:sp>
        </p:grpSp>
        <p:sp>
          <p:nvSpPr>
            <p:cNvPr id="17" name="직사각형 16"/>
            <p:cNvSpPr/>
            <p:nvPr/>
          </p:nvSpPr>
          <p:spPr>
            <a:xfrm>
              <a:off x="6738950" y="2857496"/>
              <a:ext cx="714379" cy="285750"/>
            </a:xfrm>
            <a:prstGeom prst="rect">
              <a:avLst/>
            </a:prstGeom>
            <a:solidFill>
              <a:srgbClr val="FFFF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r>
                <a:rPr lang="ko-KR" altLang="en-US" sz="1000" b="1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더블클릭</a:t>
              </a:r>
              <a:endParaRPr lang="ko-KR" altLang="en-US" sz="1000" b="1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endParaRPr>
            </a:p>
          </p:txBody>
        </p:sp>
        <p:cxnSp>
          <p:nvCxnSpPr>
            <p:cNvPr id="20" name="직선 화살표 연결선 19"/>
            <p:cNvCxnSpPr/>
            <p:nvPr/>
          </p:nvCxnSpPr>
          <p:spPr>
            <a:xfrm>
              <a:off x="6738950" y="2571744"/>
              <a:ext cx="785818" cy="1588"/>
            </a:xfrm>
            <a:prstGeom prst="straightConnector1">
              <a:avLst/>
            </a:prstGeom>
            <a:ln w="19050">
              <a:solidFill>
                <a:srgbClr val="7030A0"/>
              </a:solidFill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Shape 21"/>
            <p:cNvCxnSpPr>
              <a:stCxn id="17" idx="1"/>
              <a:endCxn id="10" idx="2"/>
            </p:cNvCxnSpPr>
            <p:nvPr/>
          </p:nvCxnSpPr>
          <p:spPr>
            <a:xfrm rot="10800000">
              <a:off x="6477012" y="2786059"/>
              <a:ext cx="261939" cy="214313"/>
            </a:xfrm>
            <a:prstGeom prst="bentConnector2">
              <a:avLst/>
            </a:prstGeom>
            <a:ln w="19050">
              <a:solidFill>
                <a:srgbClr val="FF0000"/>
              </a:solidFill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pic>
          <p:nvPicPr>
            <p:cNvPr id="3078" name="Picture 6"/>
            <p:cNvPicPr>
              <a:picLocks noChangeAspect="1" noChangeArrowheads="1"/>
            </p:cNvPicPr>
            <p:nvPr/>
          </p:nvPicPr>
          <p:blipFill>
            <a:blip r:embed="rId6"/>
            <a:srcRect/>
            <a:stretch>
              <a:fillRect/>
            </a:stretch>
          </p:blipFill>
          <p:spPr bwMode="auto">
            <a:xfrm>
              <a:off x="7777569" y="3382276"/>
              <a:ext cx="642942" cy="192144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</p:pic>
        <p:pic>
          <p:nvPicPr>
            <p:cNvPr id="3079" name="Picture 7"/>
            <p:cNvPicPr>
              <a:picLocks noChangeAspect="1" noChangeArrowheads="1"/>
            </p:cNvPicPr>
            <p:nvPr/>
          </p:nvPicPr>
          <p:blipFill>
            <a:blip r:embed="rId7"/>
            <a:srcRect/>
            <a:stretch>
              <a:fillRect/>
            </a:stretch>
          </p:blipFill>
          <p:spPr bwMode="auto">
            <a:xfrm>
              <a:off x="5667380" y="4055023"/>
              <a:ext cx="3571900" cy="2302935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</p:pic>
        <p:sp>
          <p:nvSpPr>
            <p:cNvPr id="25" name="직사각형 24"/>
            <p:cNvSpPr/>
            <p:nvPr/>
          </p:nvSpPr>
          <p:spPr>
            <a:xfrm>
              <a:off x="7810520" y="5929330"/>
              <a:ext cx="357190" cy="214314"/>
            </a:xfrm>
            <a:prstGeom prst="rect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kumimoji="0" lang="ko-KR" altLang="en-US">
                <a:latin typeface="나눔고딕OTF" pitchFamily="34" charset="-127"/>
                <a:ea typeface="나눔고딕OTF" pitchFamily="34" charset="-127"/>
              </a:endParaRPr>
            </a:p>
          </p:txBody>
        </p:sp>
      </p:grp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506" name="Picture 8"/>
          <p:cNvPicPr>
            <a:picLocks noChangeAspect="1" noChangeArrowheads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99558" y="1428736"/>
            <a:ext cx="3800673" cy="435771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6" name="TextBox 5"/>
          <p:cNvSpPr txBox="1"/>
          <p:nvPr/>
        </p:nvSpPr>
        <p:spPr>
          <a:xfrm>
            <a:off x="1497013" y="282575"/>
            <a:ext cx="1037463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kumimoji="0" lang="en-US" altLang="ko-KR" dirty="0" smtClean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1</a:t>
            </a:r>
            <a:r>
              <a:rPr kumimoji="0" lang="ko-KR" altLang="en-US" dirty="0" smtClean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차 판정</a:t>
            </a:r>
            <a:endParaRPr kumimoji="0" lang="ko-KR" altLang="en-US" dirty="0">
              <a:solidFill>
                <a:schemeClr val="bg1">
                  <a:lumMod val="50000"/>
                </a:schemeClr>
              </a:solidFill>
              <a:latin typeface="나눔고딕OTF ExtraBold" pitchFamily="34" charset="-127"/>
              <a:ea typeface="나눔고딕OTF ExtraBold" pitchFamily="34" charset="-127"/>
            </a:endParaRPr>
          </a:p>
        </p:txBody>
      </p:sp>
      <p:sp>
        <p:nvSpPr>
          <p:cNvPr id="21508" name="TextBox 4"/>
          <p:cNvSpPr txBox="1">
            <a:spLocks noChangeArrowheads="1"/>
          </p:cNvSpPr>
          <p:nvPr/>
        </p:nvSpPr>
        <p:spPr bwMode="auto">
          <a:xfrm>
            <a:off x="381000" y="785813"/>
            <a:ext cx="1022350" cy="3079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kumimoji="0" lang="en-US" altLang="ko-KR" sz="1400" b="1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400" b="1">
                <a:latin typeface="나눔고딕OTF" pitchFamily="34" charset="-127"/>
                <a:ea typeface="나눔고딕OTF" pitchFamily="34" charset="-127"/>
              </a:rPr>
              <a:t>메인 화면</a:t>
            </a:r>
          </a:p>
        </p:txBody>
      </p:sp>
      <p:sp>
        <p:nvSpPr>
          <p:cNvPr id="21511" name="TextBox 59"/>
          <p:cNvSpPr txBox="1">
            <a:spLocks noChangeArrowheads="1"/>
          </p:cNvSpPr>
          <p:nvPr/>
        </p:nvSpPr>
        <p:spPr bwMode="auto">
          <a:xfrm>
            <a:off x="415925" y="1052513"/>
            <a:ext cx="4037013" cy="2762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kumimoji="0" lang="en-US" altLang="ko-KR" sz="1200" dirty="0">
                <a:latin typeface="나눔고딕OTF" pitchFamily="34" charset="-127"/>
                <a:ea typeface="나눔고딕OTF" pitchFamily="34" charset="-127"/>
              </a:rPr>
              <a:t> -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건강검진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1</a:t>
            </a:r>
            <a:r>
              <a:rPr kumimoji="0" lang="ko-KR" altLang="en-US" sz="1200" dirty="0" err="1" smtClean="0">
                <a:latin typeface="나눔고딕OTF" pitchFamily="34" charset="-127"/>
                <a:ea typeface="나눔고딕OTF" pitchFamily="34" charset="-127"/>
              </a:rPr>
              <a:t>차판정</a:t>
            </a:r>
            <a:endParaRPr kumimoji="0" lang="en-US" altLang="ko-KR" sz="1200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21510" name="TextBox 4"/>
          <p:cNvSpPr txBox="1">
            <a:spLocks noChangeArrowheads="1"/>
          </p:cNvSpPr>
          <p:nvPr/>
        </p:nvSpPr>
        <p:spPr bwMode="auto">
          <a:xfrm>
            <a:off x="4738688" y="1000125"/>
            <a:ext cx="4894262" cy="332398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 marL="228600" indent="-228600">
              <a:lnSpc>
                <a:spcPct val="150000"/>
              </a:lnSpc>
              <a:buAutoNum type="arabicParenR"/>
            </a:pPr>
            <a:r>
              <a:rPr kumimoji="0" lang="en-US" altLang="ko-KR" sz="1000" b="1" dirty="0" smtClean="0">
                <a:latin typeface="나눔고딕OTF" pitchFamily="34" charset="-127"/>
                <a:ea typeface="나눔고딕OTF" pitchFamily="34" charset="-127"/>
              </a:rPr>
              <a:t>1</a:t>
            </a:r>
            <a:r>
              <a:rPr kumimoji="0" lang="ko-KR" altLang="en-US" sz="1000" b="1" dirty="0" smtClean="0">
                <a:latin typeface="나눔고딕OTF" pitchFamily="34" charset="-127"/>
                <a:ea typeface="나눔고딕OTF" pitchFamily="34" charset="-127"/>
              </a:rPr>
              <a:t>차 건강검진 판정</a:t>
            </a:r>
            <a:endParaRPr kumimoji="0" lang="en-US" altLang="ko-KR" sz="1000" b="1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50000"/>
              </a:lnSpc>
            </a:pPr>
            <a:r>
              <a:rPr kumimoji="0" lang="en-US" altLang="ko-KR" sz="1000" b="1" dirty="0" smtClean="0">
                <a:latin typeface="나눔고딕OTF" pitchFamily="34" charset="-127"/>
                <a:ea typeface="나눔고딕OTF" pitchFamily="34" charset="-127"/>
              </a:rPr>
              <a:t>  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①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: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입력되어있는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1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차검진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 결과 중 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미입력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 항목과 이상결과 항목을 표시합니다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5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* 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우측 상단의 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“1</a:t>
            </a:r>
            <a:r>
              <a:rPr kumimoji="0" lang="ko-KR" altLang="en-US" sz="1000" dirty="0" err="1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차항목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” 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버튼을 클릭하면 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1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차 검사항목 전체를 표시합니다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50000"/>
              </a:lnSpc>
            </a:pP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  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②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: “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개별자동판정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”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버튼을 클릭하여 자동으로 판정정보를 입력합니다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5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* 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판정 기준은 코드관리 메뉴의 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“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건강검진 판정코드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” 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에서 설정합니다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50000"/>
              </a:lnSpc>
            </a:pP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  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- “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일괄자동판정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”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버튼은 조회한 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검진자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 전체를 일괄적으로 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자동판정합니다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5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“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등록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” :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건강검진으로 접수되어있지 않은 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검진자를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 건강검진 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접수자로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 등록합니다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5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“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삭제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” :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건강검진으로 등록되어 있는 검진자의 건강검진 등록을 취소합니다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5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“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판정일자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” :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판정할 때 현재 날짜로 자동 입력됩니다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5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“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통보일자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” :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결과통보서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(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공단양식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)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를 출력할 때 현재 날짜로 자동 입력됩니다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5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③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: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자동으로 판정된 정보가 입력됩니다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임의로 수정하고 저장할 수 있습니다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5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④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: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판정 시 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바로조치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적극적인관리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란에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 내용이 자동으로 입력됩니다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5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* 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코드관리 메뉴의 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“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소견코드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” 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에서 입력되는 문장을 수정할 수 있습니다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5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⑤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: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②의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“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일반질병판정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”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을 클릭하면 노동부 판정이 진행되고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판정 정보가 표시됩니다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</p:txBody>
      </p:sp>
      <p:sp>
        <p:nvSpPr>
          <p:cNvPr id="21" name="직사각형 20"/>
          <p:cNvSpPr/>
          <p:nvPr/>
        </p:nvSpPr>
        <p:spPr>
          <a:xfrm>
            <a:off x="666720" y="2428868"/>
            <a:ext cx="1821107" cy="1887759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23" name="직사각형 22"/>
          <p:cNvSpPr/>
          <p:nvPr/>
        </p:nvSpPr>
        <p:spPr>
          <a:xfrm>
            <a:off x="666720" y="4396181"/>
            <a:ext cx="1821107" cy="117596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24" name="직사각형 23"/>
          <p:cNvSpPr/>
          <p:nvPr/>
        </p:nvSpPr>
        <p:spPr>
          <a:xfrm>
            <a:off x="2524108" y="2428868"/>
            <a:ext cx="1940800" cy="965121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26" name="직사각형 25"/>
          <p:cNvSpPr/>
          <p:nvPr/>
        </p:nvSpPr>
        <p:spPr>
          <a:xfrm>
            <a:off x="2524108" y="3390514"/>
            <a:ext cx="1940800" cy="1181494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1" name="타원 10"/>
          <p:cNvSpPr/>
          <p:nvPr/>
        </p:nvSpPr>
        <p:spPr>
          <a:xfrm>
            <a:off x="523844" y="2285992"/>
            <a:ext cx="249939" cy="274798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200" dirty="0">
                <a:solidFill>
                  <a:schemeClr val="tx1"/>
                </a:solidFill>
              </a:rPr>
              <a:t>1</a:t>
            </a:r>
            <a:endParaRPr lang="ko-KR" altLang="en-US" sz="1200" dirty="0">
              <a:solidFill>
                <a:schemeClr val="tx1"/>
              </a:solidFill>
            </a:endParaRPr>
          </a:p>
        </p:txBody>
      </p:sp>
      <p:sp>
        <p:nvSpPr>
          <p:cNvPr id="12" name="타원 11"/>
          <p:cNvSpPr/>
          <p:nvPr/>
        </p:nvSpPr>
        <p:spPr>
          <a:xfrm>
            <a:off x="523844" y="4214818"/>
            <a:ext cx="249939" cy="274798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200" dirty="0" smtClean="0">
                <a:solidFill>
                  <a:schemeClr val="tx1"/>
                </a:solidFill>
              </a:rPr>
              <a:t>4</a:t>
            </a:r>
            <a:endParaRPr lang="ko-KR" altLang="en-US" sz="1200" dirty="0">
              <a:solidFill>
                <a:schemeClr val="tx1"/>
              </a:solidFill>
            </a:endParaRPr>
          </a:p>
        </p:txBody>
      </p:sp>
      <p:sp>
        <p:nvSpPr>
          <p:cNvPr id="13" name="타원 12"/>
          <p:cNvSpPr/>
          <p:nvPr/>
        </p:nvSpPr>
        <p:spPr>
          <a:xfrm>
            <a:off x="4310058" y="2285992"/>
            <a:ext cx="249939" cy="274798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200" dirty="0" smtClean="0">
                <a:solidFill>
                  <a:schemeClr val="tx1"/>
                </a:solidFill>
              </a:rPr>
              <a:t>3</a:t>
            </a:r>
            <a:endParaRPr lang="ko-KR" altLang="en-US" sz="1200" dirty="0">
              <a:solidFill>
                <a:schemeClr val="tx1"/>
              </a:solidFill>
            </a:endParaRPr>
          </a:p>
        </p:txBody>
      </p:sp>
      <p:sp>
        <p:nvSpPr>
          <p:cNvPr id="14" name="타원 13"/>
          <p:cNvSpPr/>
          <p:nvPr/>
        </p:nvSpPr>
        <p:spPr>
          <a:xfrm>
            <a:off x="4310058" y="3214686"/>
            <a:ext cx="249939" cy="274798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200" dirty="0" smtClean="0">
                <a:solidFill>
                  <a:schemeClr val="tx1"/>
                </a:solidFill>
              </a:rPr>
              <a:t>5</a:t>
            </a:r>
            <a:endParaRPr lang="ko-KR" altLang="en-US" sz="1200" dirty="0">
              <a:solidFill>
                <a:schemeClr val="tx1"/>
              </a:solidFill>
            </a:endParaRPr>
          </a:p>
        </p:txBody>
      </p:sp>
      <p:sp>
        <p:nvSpPr>
          <p:cNvPr id="15" name="직사각형 14"/>
          <p:cNvSpPr/>
          <p:nvPr/>
        </p:nvSpPr>
        <p:spPr>
          <a:xfrm>
            <a:off x="2524108" y="4572008"/>
            <a:ext cx="1940800" cy="1181494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6" name="타원 15"/>
          <p:cNvSpPr/>
          <p:nvPr/>
        </p:nvSpPr>
        <p:spPr>
          <a:xfrm>
            <a:off x="4310058" y="4429132"/>
            <a:ext cx="249939" cy="274798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200" dirty="0" smtClean="0">
                <a:solidFill>
                  <a:schemeClr val="tx1"/>
                </a:solidFill>
              </a:rPr>
              <a:t>2</a:t>
            </a:r>
            <a:endParaRPr lang="ko-KR" altLang="en-US" sz="1200" dirty="0">
              <a:solidFill>
                <a:schemeClr val="tx1"/>
              </a:solidFill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506" name="Picture 8"/>
          <p:cNvPicPr>
            <a:picLocks noChangeAspect="1" noChangeArrowheads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99558" y="1428736"/>
            <a:ext cx="3800673" cy="435771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6" name="TextBox 5"/>
          <p:cNvSpPr txBox="1"/>
          <p:nvPr/>
        </p:nvSpPr>
        <p:spPr>
          <a:xfrm>
            <a:off x="1497013" y="282575"/>
            <a:ext cx="1967205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kumimoji="0" lang="en-US" altLang="ko-KR" dirty="0" smtClean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2</a:t>
            </a:r>
            <a:r>
              <a:rPr kumimoji="0" lang="ko-KR" altLang="en-US" dirty="0" err="1" smtClean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차검진</a:t>
            </a:r>
            <a:r>
              <a:rPr kumimoji="0" lang="ko-KR" altLang="en-US" dirty="0" smtClean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 결과 입력</a:t>
            </a:r>
            <a:endParaRPr kumimoji="0" lang="ko-KR" altLang="en-US" dirty="0">
              <a:solidFill>
                <a:schemeClr val="bg1">
                  <a:lumMod val="50000"/>
                </a:schemeClr>
              </a:solidFill>
              <a:latin typeface="나눔고딕OTF ExtraBold" pitchFamily="34" charset="-127"/>
              <a:ea typeface="나눔고딕OTF ExtraBold" pitchFamily="34" charset="-127"/>
            </a:endParaRPr>
          </a:p>
        </p:txBody>
      </p:sp>
      <p:sp>
        <p:nvSpPr>
          <p:cNvPr id="21508" name="TextBox 4"/>
          <p:cNvSpPr txBox="1">
            <a:spLocks noChangeArrowheads="1"/>
          </p:cNvSpPr>
          <p:nvPr/>
        </p:nvSpPr>
        <p:spPr bwMode="auto">
          <a:xfrm>
            <a:off x="381000" y="785813"/>
            <a:ext cx="1022350" cy="3079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kumimoji="0" lang="en-US" altLang="ko-KR" sz="1400" b="1" dirty="0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400" b="1" dirty="0">
                <a:latin typeface="나눔고딕OTF" pitchFamily="34" charset="-127"/>
                <a:ea typeface="나눔고딕OTF" pitchFamily="34" charset="-127"/>
              </a:rPr>
              <a:t>메인 화면</a:t>
            </a:r>
          </a:p>
        </p:txBody>
      </p:sp>
      <p:sp>
        <p:nvSpPr>
          <p:cNvPr id="21511" name="TextBox 59"/>
          <p:cNvSpPr txBox="1">
            <a:spLocks noChangeArrowheads="1"/>
          </p:cNvSpPr>
          <p:nvPr/>
        </p:nvSpPr>
        <p:spPr bwMode="auto">
          <a:xfrm>
            <a:off x="415925" y="1052513"/>
            <a:ext cx="4037013" cy="2762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kumimoji="0" lang="en-US" altLang="ko-KR" sz="1200" dirty="0">
                <a:latin typeface="나눔고딕OTF" pitchFamily="34" charset="-127"/>
                <a:ea typeface="나눔고딕OTF" pitchFamily="34" charset="-127"/>
              </a:rPr>
              <a:t> -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건강검진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2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차 결과입력</a:t>
            </a:r>
            <a:endParaRPr kumimoji="0" lang="en-US" altLang="ko-KR" sz="1200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21510" name="TextBox 4"/>
          <p:cNvSpPr txBox="1">
            <a:spLocks noChangeArrowheads="1"/>
          </p:cNvSpPr>
          <p:nvPr/>
        </p:nvSpPr>
        <p:spPr bwMode="auto">
          <a:xfrm>
            <a:off x="4738688" y="1000125"/>
            <a:ext cx="4894262" cy="124649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 marL="228600" indent="-228600">
              <a:lnSpc>
                <a:spcPct val="150000"/>
              </a:lnSpc>
              <a:buAutoNum type="arabicParenR"/>
            </a:pPr>
            <a:r>
              <a:rPr kumimoji="0" lang="en-US" altLang="ko-KR" sz="1000" b="1" dirty="0" smtClean="0">
                <a:latin typeface="나눔고딕OTF" pitchFamily="34" charset="-127"/>
                <a:ea typeface="나눔고딕OTF" pitchFamily="34" charset="-127"/>
              </a:rPr>
              <a:t>2</a:t>
            </a:r>
            <a:r>
              <a:rPr kumimoji="0" lang="ko-KR" altLang="en-US" sz="1000" b="1" dirty="0" err="1" smtClean="0">
                <a:latin typeface="나눔고딕OTF" pitchFamily="34" charset="-127"/>
                <a:ea typeface="나눔고딕OTF" pitchFamily="34" charset="-127"/>
              </a:rPr>
              <a:t>차검진</a:t>
            </a:r>
            <a:r>
              <a:rPr kumimoji="0" lang="ko-KR" altLang="en-US" sz="1000" b="1" dirty="0" smtClean="0">
                <a:latin typeface="나눔고딕OTF" pitchFamily="34" charset="-127"/>
                <a:ea typeface="나눔고딕OTF" pitchFamily="34" charset="-127"/>
              </a:rPr>
              <a:t> 결과 입력</a:t>
            </a:r>
            <a:endParaRPr kumimoji="0" lang="en-US" altLang="ko-KR" sz="1000" b="1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50000"/>
              </a:lnSpc>
            </a:pPr>
            <a:r>
              <a:rPr kumimoji="0" lang="en-US" altLang="ko-KR" sz="1000" b="1" dirty="0" smtClean="0">
                <a:latin typeface="나눔고딕OTF" pitchFamily="34" charset="-127"/>
                <a:ea typeface="나눔고딕OTF" pitchFamily="34" charset="-127"/>
              </a:rPr>
              <a:t>  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- 1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차검진이랑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2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차검진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 동시에 청구하는 법 물어보자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5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판정 쪽에서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2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차검진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 항목 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란이랑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 정확히 어떤 상관이 있는지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5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- 2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차검진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 입력방법 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디테일하게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 다시 한번 물어보자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5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en-US" altLang="ko-KR" sz="1000" dirty="0" err="1" smtClean="0">
                <a:latin typeface="나눔고딕OTF" pitchFamily="34" charset="-127"/>
                <a:ea typeface="나눔고딕OTF" pitchFamily="34" charset="-127"/>
              </a:rPr>
              <a:t>ppt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순서 생각해보자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</p:txBody>
      </p:sp>
      <p:sp>
        <p:nvSpPr>
          <p:cNvPr id="21" name="직사각형 20"/>
          <p:cNvSpPr/>
          <p:nvPr/>
        </p:nvSpPr>
        <p:spPr>
          <a:xfrm>
            <a:off x="666720" y="2428868"/>
            <a:ext cx="1821107" cy="1887759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23" name="직사각형 22"/>
          <p:cNvSpPr/>
          <p:nvPr/>
        </p:nvSpPr>
        <p:spPr>
          <a:xfrm>
            <a:off x="666720" y="4396181"/>
            <a:ext cx="1821107" cy="117596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24" name="직사각형 23"/>
          <p:cNvSpPr/>
          <p:nvPr/>
        </p:nvSpPr>
        <p:spPr>
          <a:xfrm>
            <a:off x="2524108" y="2428868"/>
            <a:ext cx="1940800" cy="965121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26" name="직사각형 25"/>
          <p:cNvSpPr/>
          <p:nvPr/>
        </p:nvSpPr>
        <p:spPr>
          <a:xfrm>
            <a:off x="2524108" y="3390514"/>
            <a:ext cx="1940800" cy="1181494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1" name="타원 10"/>
          <p:cNvSpPr/>
          <p:nvPr/>
        </p:nvSpPr>
        <p:spPr>
          <a:xfrm>
            <a:off x="523844" y="2285992"/>
            <a:ext cx="249939" cy="274798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200" dirty="0">
                <a:solidFill>
                  <a:schemeClr val="tx1"/>
                </a:solidFill>
              </a:rPr>
              <a:t>1</a:t>
            </a:r>
            <a:endParaRPr lang="ko-KR" altLang="en-US" sz="1200" dirty="0">
              <a:solidFill>
                <a:schemeClr val="tx1"/>
              </a:solidFill>
            </a:endParaRPr>
          </a:p>
        </p:txBody>
      </p:sp>
      <p:sp>
        <p:nvSpPr>
          <p:cNvPr id="12" name="타원 11"/>
          <p:cNvSpPr/>
          <p:nvPr/>
        </p:nvSpPr>
        <p:spPr>
          <a:xfrm>
            <a:off x="523844" y="4214818"/>
            <a:ext cx="249939" cy="274798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200" dirty="0" smtClean="0">
                <a:solidFill>
                  <a:schemeClr val="tx1"/>
                </a:solidFill>
              </a:rPr>
              <a:t>4</a:t>
            </a:r>
            <a:endParaRPr lang="ko-KR" altLang="en-US" sz="1200" dirty="0">
              <a:solidFill>
                <a:schemeClr val="tx1"/>
              </a:solidFill>
            </a:endParaRPr>
          </a:p>
        </p:txBody>
      </p:sp>
      <p:sp>
        <p:nvSpPr>
          <p:cNvPr id="13" name="타원 12"/>
          <p:cNvSpPr/>
          <p:nvPr/>
        </p:nvSpPr>
        <p:spPr>
          <a:xfrm>
            <a:off x="4310058" y="2285992"/>
            <a:ext cx="249939" cy="274798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200" dirty="0" smtClean="0">
                <a:solidFill>
                  <a:schemeClr val="tx1"/>
                </a:solidFill>
              </a:rPr>
              <a:t>3</a:t>
            </a:r>
            <a:endParaRPr lang="ko-KR" altLang="en-US" sz="1200" dirty="0">
              <a:solidFill>
                <a:schemeClr val="tx1"/>
              </a:solidFill>
            </a:endParaRPr>
          </a:p>
        </p:txBody>
      </p:sp>
      <p:sp>
        <p:nvSpPr>
          <p:cNvPr id="14" name="타원 13"/>
          <p:cNvSpPr/>
          <p:nvPr/>
        </p:nvSpPr>
        <p:spPr>
          <a:xfrm>
            <a:off x="4310058" y="3214686"/>
            <a:ext cx="249939" cy="274798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200" dirty="0" smtClean="0">
                <a:solidFill>
                  <a:schemeClr val="tx1"/>
                </a:solidFill>
              </a:rPr>
              <a:t>5</a:t>
            </a:r>
            <a:endParaRPr lang="ko-KR" altLang="en-US" sz="1200" dirty="0">
              <a:solidFill>
                <a:schemeClr val="tx1"/>
              </a:solidFill>
            </a:endParaRPr>
          </a:p>
        </p:txBody>
      </p:sp>
      <p:sp>
        <p:nvSpPr>
          <p:cNvPr id="15" name="직사각형 14"/>
          <p:cNvSpPr/>
          <p:nvPr/>
        </p:nvSpPr>
        <p:spPr>
          <a:xfrm>
            <a:off x="2524108" y="4572008"/>
            <a:ext cx="1940800" cy="1181494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6" name="타원 15"/>
          <p:cNvSpPr/>
          <p:nvPr/>
        </p:nvSpPr>
        <p:spPr>
          <a:xfrm>
            <a:off x="4310058" y="4429132"/>
            <a:ext cx="249939" cy="274798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200" dirty="0" smtClean="0">
                <a:solidFill>
                  <a:schemeClr val="tx1"/>
                </a:solidFill>
              </a:rPr>
              <a:t>2</a:t>
            </a:r>
            <a:endParaRPr lang="ko-KR" altLang="en-US" sz="1200" dirty="0">
              <a:solidFill>
                <a:schemeClr val="tx1"/>
              </a:solidFill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직사각형 4"/>
          <p:cNvSpPr/>
          <p:nvPr/>
        </p:nvSpPr>
        <p:spPr>
          <a:xfrm flipH="1">
            <a:off x="0" y="0"/>
            <a:ext cx="9906000" cy="6858000"/>
          </a:xfrm>
          <a:prstGeom prst="rect">
            <a:avLst/>
          </a:prstGeom>
          <a:solidFill>
            <a:srgbClr val="BED39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/>
          </a:p>
        </p:txBody>
      </p:sp>
      <p:sp>
        <p:nvSpPr>
          <p:cNvPr id="25603" name="TextBox 13"/>
          <p:cNvSpPr txBox="1">
            <a:spLocks noChangeArrowheads="1"/>
          </p:cNvSpPr>
          <p:nvPr/>
        </p:nvSpPr>
        <p:spPr bwMode="auto">
          <a:xfrm>
            <a:off x="3440113" y="2636838"/>
            <a:ext cx="1757212" cy="92333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pPr marL="457200" indent="-457200">
              <a:lnSpc>
                <a:spcPct val="150000"/>
              </a:lnSpc>
            </a:pPr>
            <a:r>
              <a:rPr kumimoji="0" lang="en-US" altLang="ko-KR" sz="3600" b="1" dirty="0" smtClean="0">
                <a:solidFill>
                  <a:schemeClr val="bg1"/>
                </a:solidFill>
                <a:latin typeface="나눔고딕OTF" pitchFamily="34" charset="-127"/>
                <a:ea typeface="나눔고딕OTF" pitchFamily="34" charset="-127"/>
              </a:rPr>
              <a:t>Ⅲ. </a:t>
            </a:r>
            <a:r>
              <a:rPr kumimoji="0" lang="ko-KR" altLang="en-US" sz="3600" b="1" dirty="0">
                <a:solidFill>
                  <a:schemeClr val="bg1"/>
                </a:solidFill>
                <a:latin typeface="나눔고딕OTF" pitchFamily="34" charset="-127"/>
                <a:ea typeface="나눔고딕OTF" pitchFamily="34" charset="-127"/>
              </a:rPr>
              <a:t>예약</a:t>
            </a:r>
            <a:endParaRPr kumimoji="0" lang="en-US" altLang="ko-KR" sz="3600" dirty="0">
              <a:solidFill>
                <a:schemeClr val="bg1"/>
              </a:solidFill>
              <a:latin typeface="나눔고딕OTF" pitchFamily="34" charset="-127"/>
              <a:ea typeface="나눔고딕OTF" pitchFamily="34" charset="-127"/>
            </a:endParaRPr>
          </a:p>
        </p:txBody>
      </p:sp>
      <p:pic>
        <p:nvPicPr>
          <p:cNvPr id="25604" name="그림 7" descr="앨리스화면.png"/>
          <p:cNvPicPr>
            <a:picLocks noChangeAspect="1"/>
          </p:cNvPicPr>
          <p:nvPr/>
        </p:nvPicPr>
        <p:blipFill>
          <a:blip r:embed="rId2"/>
          <a:srcRect l="13019" t="12311" r="2361" b="5617"/>
          <a:stretch>
            <a:fillRect/>
          </a:stretch>
        </p:blipFill>
        <p:spPr bwMode="auto">
          <a:xfrm>
            <a:off x="1639888" y="2708275"/>
            <a:ext cx="1944687" cy="996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6626" name="Picture 2"/>
          <p:cNvPicPr>
            <a:picLocks noChangeAspect="1" noChangeArrowheads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606892" y="1357313"/>
            <a:ext cx="6685865" cy="492918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6" name="TextBox 5"/>
          <p:cNvSpPr txBox="1"/>
          <p:nvPr/>
        </p:nvSpPr>
        <p:spPr>
          <a:xfrm>
            <a:off x="1497013" y="282575"/>
            <a:ext cx="617537" cy="3698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kumimoji="0" lang="ko-KR" altLang="en-US" dirty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예약</a:t>
            </a:r>
          </a:p>
        </p:txBody>
      </p:sp>
      <p:sp>
        <p:nvSpPr>
          <p:cNvPr id="26628" name="TextBox 4"/>
          <p:cNvSpPr txBox="1">
            <a:spLocks noChangeArrowheads="1"/>
          </p:cNvSpPr>
          <p:nvPr/>
        </p:nvSpPr>
        <p:spPr bwMode="auto">
          <a:xfrm>
            <a:off x="381000" y="785813"/>
            <a:ext cx="1022350" cy="3079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kumimoji="0" lang="en-US" altLang="ko-KR" sz="1400" b="1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400" b="1">
                <a:latin typeface="나눔고딕OTF" pitchFamily="34" charset="-127"/>
                <a:ea typeface="나눔고딕OTF" pitchFamily="34" charset="-127"/>
              </a:rPr>
              <a:t>메인 화면</a:t>
            </a:r>
          </a:p>
        </p:txBody>
      </p:sp>
      <p:sp>
        <p:nvSpPr>
          <p:cNvPr id="13" name="직사각형 12"/>
          <p:cNvSpPr/>
          <p:nvPr/>
        </p:nvSpPr>
        <p:spPr>
          <a:xfrm>
            <a:off x="1524000" y="1500188"/>
            <a:ext cx="1285860" cy="714366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26630" name="TextBox 59"/>
          <p:cNvSpPr txBox="1">
            <a:spLocks noChangeArrowheads="1"/>
          </p:cNvSpPr>
          <p:nvPr/>
        </p:nvSpPr>
        <p:spPr bwMode="auto">
          <a:xfrm>
            <a:off x="415925" y="1052513"/>
            <a:ext cx="4965700" cy="2762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kumimoji="0" lang="en-US" altLang="ko-KR" sz="1200" dirty="0">
                <a:latin typeface="나눔고딕OTF" pitchFamily="34" charset="-127"/>
                <a:ea typeface="나눔고딕OTF" pitchFamily="34" charset="-127"/>
              </a:rPr>
              <a:t> - </a:t>
            </a:r>
            <a:r>
              <a:rPr kumimoji="0" lang="ko-KR" altLang="en-US" sz="1200" dirty="0">
                <a:latin typeface="나눔고딕OTF" pitchFamily="34" charset="-127"/>
                <a:ea typeface="나눔고딕OTF" pitchFamily="34" charset="-127"/>
              </a:rPr>
              <a:t>예약관리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  <a:sym typeface="Wingdings" pitchFamily="2" charset="2"/>
              </a:rPr>
              <a:t>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검진예약 </a:t>
            </a:r>
            <a:r>
              <a:rPr kumimoji="0" lang="ko-KR" altLang="en-US" sz="1200" dirty="0">
                <a:latin typeface="나눔고딕OTF" pitchFamily="34" charset="-127"/>
                <a:ea typeface="나눔고딕OTF" pitchFamily="34" charset="-127"/>
              </a:rPr>
              <a:t>버튼을 클릭하면</a:t>
            </a:r>
            <a:r>
              <a:rPr kumimoji="0" lang="en-US" altLang="ko-KR" sz="1200" dirty="0"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200" dirty="0">
                <a:latin typeface="나눔고딕OTF" pitchFamily="34" charset="-127"/>
                <a:ea typeface="나눔고딕OTF" pitchFamily="34" charset="-127"/>
              </a:rPr>
              <a:t>검진예약 화면이 나타납니다</a:t>
            </a:r>
            <a:r>
              <a:rPr kumimoji="0" lang="en-US" altLang="ko-KR" sz="1200" dirty="0">
                <a:latin typeface="나눔고딕OTF" pitchFamily="34" charset="-127"/>
                <a:ea typeface="나눔고딕OTF" pitchFamily="34" charset="-127"/>
              </a:rPr>
              <a:t>.</a:t>
            </a:r>
          </a:p>
        </p:txBody>
      </p:sp>
      <p:sp>
        <p:nvSpPr>
          <p:cNvPr id="8" name="직사각형 7"/>
          <p:cNvSpPr/>
          <p:nvPr/>
        </p:nvSpPr>
        <p:spPr>
          <a:xfrm>
            <a:off x="1758094" y="1855092"/>
            <a:ext cx="704850" cy="16986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>
              <a:latin typeface="나눔고딕OTF" pitchFamily="34" charset="-127"/>
              <a:ea typeface="나눔고딕OTF" pitchFamily="34" charset="-127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530" name="Picture 8"/>
          <p:cNvPicPr>
            <a:picLocks noChangeAspect="1" noChangeArrowheads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04925" y="1814122"/>
            <a:ext cx="5930726" cy="408700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6" name="TextBox 5"/>
          <p:cNvSpPr txBox="1"/>
          <p:nvPr/>
        </p:nvSpPr>
        <p:spPr>
          <a:xfrm>
            <a:off x="1497013" y="282575"/>
            <a:ext cx="617477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kumimoji="0" lang="ko-KR" altLang="en-US" dirty="0" smtClean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예약</a:t>
            </a:r>
            <a:endParaRPr kumimoji="0" lang="ko-KR" altLang="en-US" dirty="0">
              <a:solidFill>
                <a:schemeClr val="bg1">
                  <a:lumMod val="50000"/>
                </a:schemeClr>
              </a:solidFill>
              <a:latin typeface="나눔고딕OTF ExtraBold" pitchFamily="34" charset="-127"/>
              <a:ea typeface="나눔고딕OTF ExtraBold" pitchFamily="34" charset="-127"/>
            </a:endParaRPr>
          </a:p>
        </p:txBody>
      </p:sp>
      <p:sp>
        <p:nvSpPr>
          <p:cNvPr id="22532" name="TextBox 4"/>
          <p:cNvSpPr txBox="1">
            <a:spLocks noChangeArrowheads="1"/>
          </p:cNvSpPr>
          <p:nvPr/>
        </p:nvSpPr>
        <p:spPr bwMode="auto">
          <a:xfrm>
            <a:off x="381000" y="785813"/>
            <a:ext cx="1023037" cy="30777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kumimoji="0" lang="en-US" altLang="ko-KR" sz="1400" b="1" dirty="0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400" b="1" dirty="0" smtClean="0">
                <a:latin typeface="나눔고딕OTF" pitchFamily="34" charset="-127"/>
                <a:ea typeface="나눔고딕OTF" pitchFamily="34" charset="-127"/>
              </a:rPr>
              <a:t>예약 </a:t>
            </a:r>
            <a:r>
              <a:rPr kumimoji="0" lang="ko-KR" altLang="en-US" sz="1400" b="1" dirty="0">
                <a:latin typeface="나눔고딕OTF" pitchFamily="34" charset="-127"/>
                <a:ea typeface="나눔고딕OTF" pitchFamily="34" charset="-127"/>
              </a:rPr>
              <a:t>화면</a:t>
            </a:r>
          </a:p>
        </p:txBody>
      </p:sp>
      <p:sp>
        <p:nvSpPr>
          <p:cNvPr id="11" name="직사각형 10"/>
          <p:cNvSpPr/>
          <p:nvPr/>
        </p:nvSpPr>
        <p:spPr>
          <a:xfrm>
            <a:off x="611188" y="1975526"/>
            <a:ext cx="2555862" cy="35578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22535" name="TextBox 4"/>
          <p:cNvSpPr txBox="1">
            <a:spLocks noChangeArrowheads="1"/>
          </p:cNvSpPr>
          <p:nvPr/>
        </p:nvSpPr>
        <p:spPr bwMode="auto">
          <a:xfrm>
            <a:off x="6524625" y="1593850"/>
            <a:ext cx="3108325" cy="286232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 marL="228600" indent="-228600">
              <a:lnSpc>
                <a:spcPct val="120000"/>
              </a:lnSpc>
              <a:buFontTx/>
              <a:buAutoNum type="arabicParenR"/>
            </a:pPr>
            <a:r>
              <a:rPr kumimoji="0" lang="ko-KR" altLang="en-US" sz="1000" b="1" dirty="0" smtClean="0">
                <a:latin typeface="나눔고딕OTF" pitchFamily="34" charset="-127"/>
                <a:ea typeface="나눔고딕OTF" pitchFamily="34" charset="-127"/>
              </a:rPr>
              <a:t>검진 구분 선택</a:t>
            </a:r>
            <a:endParaRPr kumimoji="0" lang="en-US" altLang="ko-KR" sz="1000" b="1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b="1" dirty="0" smtClean="0">
                <a:latin typeface="나눔고딕OTF" pitchFamily="34" charset="-127"/>
                <a:ea typeface="나눔고딕OTF" pitchFamily="34" charset="-127"/>
              </a:rPr>
              <a:t>  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예약할 검진 구분을 선택합니다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접수와 동일하게 중복선택 가능합니다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  <a:buAutoNum type="arabicParenR" startAt="2"/>
            </a:pPr>
            <a:r>
              <a:rPr kumimoji="0" lang="ko-KR" altLang="en-US" sz="1000" b="1" dirty="0" err="1" smtClean="0">
                <a:latin typeface="나눔고딕OTF" pitchFamily="34" charset="-127"/>
                <a:ea typeface="나눔고딕OTF" pitchFamily="34" charset="-127"/>
              </a:rPr>
              <a:t>인적사항</a:t>
            </a:r>
            <a:r>
              <a:rPr kumimoji="0" lang="ko-KR" altLang="en-US" sz="1000" b="1" dirty="0" smtClean="0">
                <a:latin typeface="나눔고딕OTF" pitchFamily="34" charset="-127"/>
                <a:ea typeface="나눔고딕OTF" pitchFamily="34" charset="-127"/>
              </a:rPr>
              <a:t> 입력</a:t>
            </a:r>
            <a:endParaRPr kumimoji="0" lang="en-US" altLang="ko-KR" sz="1000" b="1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예약할 검진자의 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인적정보를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 입력합니다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노란색으로 표시된 항목은 필수 입력항목 입니다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파란색으로 표시된 항목은 공단조회 시 자동으로 </a:t>
            </a:r>
            <a:endParaRPr kumimoji="0" lang="en-US" altLang="ko-KR" sz="1000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	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입력되는 항목입니다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* 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하단의 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“View” 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버튼을 클릭하면 공단조회 화면이 표시됩니다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  <a:buAutoNum type="arabicParenR" startAt="3"/>
            </a:pPr>
            <a:r>
              <a:rPr kumimoji="0" lang="ko-KR" altLang="en-US" sz="1000" b="1" dirty="0" smtClean="0">
                <a:latin typeface="나눔고딕OTF" pitchFamily="34" charset="-127"/>
                <a:ea typeface="나눔고딕OTF" pitchFamily="34" charset="-127"/>
              </a:rPr>
              <a:t>검진항목 선택</a:t>
            </a:r>
            <a:endParaRPr kumimoji="0" lang="en-US" altLang="ko-KR" sz="1000" b="1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b="1" dirty="0" smtClean="0">
                <a:latin typeface="나눔고딕OTF" pitchFamily="34" charset="-127"/>
                <a:ea typeface="나눔고딕OTF" pitchFamily="34" charset="-127"/>
              </a:rPr>
              <a:t>  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생성되어있는 묶음코드가 표시됩니다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  <a:endParaRPr kumimoji="0" lang="en-US" altLang="ko-KR" sz="1000" b="1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추가할 묶음을 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더블클릭하면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“</a:t>
            </a:r>
            <a:r>
              <a:rPr kumimoji="0" lang="en-US" altLang="ko-KR" sz="1000" b="1" dirty="0" smtClean="0">
                <a:latin typeface="나눔고딕OTF" pitchFamily="34" charset="-127"/>
                <a:ea typeface="나눔고딕OTF" pitchFamily="34" charset="-127"/>
              </a:rPr>
              <a:t>4</a:t>
            </a:r>
            <a:r>
              <a:rPr kumimoji="0" lang="ko-KR" altLang="en-US" sz="1000" b="1" dirty="0" smtClean="0">
                <a:latin typeface="나눔고딕OTF" pitchFamily="34" charset="-127"/>
                <a:ea typeface="나눔고딕OTF" pitchFamily="34" charset="-127"/>
              </a:rPr>
              <a:t>번</a:t>
            </a:r>
            <a:r>
              <a:rPr kumimoji="0" lang="en-US" altLang="ko-KR" sz="1000" b="1" dirty="0" smtClean="0">
                <a:latin typeface="나눔고딕OTF" pitchFamily="34" charset="-127"/>
                <a:ea typeface="나눔고딕OTF" pitchFamily="34" charset="-127"/>
              </a:rPr>
              <a:t>”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에 묶음이 표시됩니다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b="1" dirty="0" smtClean="0">
                <a:latin typeface="나눔고딕OTF" pitchFamily="34" charset="-127"/>
                <a:ea typeface="나눔고딕OTF" pitchFamily="34" charset="-127"/>
              </a:rPr>
              <a:t>  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- “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저장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”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버튼을 클릭하여 예약을 완료합니다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</p:txBody>
      </p:sp>
      <p:sp>
        <p:nvSpPr>
          <p:cNvPr id="9" name="직사각형 8"/>
          <p:cNvSpPr/>
          <p:nvPr/>
        </p:nvSpPr>
        <p:spPr>
          <a:xfrm>
            <a:off x="603520" y="2332716"/>
            <a:ext cx="2643206" cy="266792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22537" name="TextBox 59"/>
          <p:cNvSpPr txBox="1">
            <a:spLocks noChangeArrowheads="1"/>
          </p:cNvSpPr>
          <p:nvPr/>
        </p:nvSpPr>
        <p:spPr bwMode="auto">
          <a:xfrm>
            <a:off x="415925" y="1052513"/>
            <a:ext cx="4965700" cy="46166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kumimoji="0" lang="en-US" altLang="ko-KR" sz="1200" dirty="0">
                <a:latin typeface="나눔고딕OTF" pitchFamily="34" charset="-127"/>
                <a:ea typeface="나눔고딕OTF" pitchFamily="34" charset="-127"/>
              </a:rPr>
              <a:t> -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(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신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)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검진예약 화면</a:t>
            </a:r>
            <a:endParaRPr kumimoji="0" lang="en-US" altLang="ko-KR" sz="1200" dirty="0" smtClean="0">
              <a:latin typeface="나눔고딕OTF" pitchFamily="34" charset="-127"/>
              <a:ea typeface="나눔고딕OTF" pitchFamily="34" charset="-127"/>
            </a:endParaRPr>
          </a:p>
          <a:p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  </a:t>
            </a:r>
            <a:r>
              <a:rPr kumimoji="0" lang="en-US" altLang="ko-KR" sz="12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* </a:t>
            </a:r>
            <a:r>
              <a:rPr kumimoji="0" lang="ko-KR" altLang="en-US" sz="12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검진접수 방식과 사용법이 유사합니다</a:t>
            </a:r>
            <a:r>
              <a:rPr kumimoji="0" lang="en-US" altLang="ko-KR" sz="12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.</a:t>
            </a:r>
            <a:endParaRPr kumimoji="0" lang="en-US" altLang="ko-KR" sz="1200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0" name="타원 9"/>
          <p:cNvSpPr/>
          <p:nvPr/>
        </p:nvSpPr>
        <p:spPr>
          <a:xfrm>
            <a:off x="367196" y="2338124"/>
            <a:ext cx="285750" cy="285750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600" dirty="0" smtClean="0">
                <a:solidFill>
                  <a:schemeClr val="tx1"/>
                </a:solidFill>
              </a:rPr>
              <a:t>2</a:t>
            </a:r>
            <a:endParaRPr lang="ko-KR" altLang="en-US" sz="1600" dirty="0">
              <a:solidFill>
                <a:schemeClr val="tx1"/>
              </a:solidFill>
            </a:endParaRPr>
          </a:p>
        </p:txBody>
      </p:sp>
      <p:sp>
        <p:nvSpPr>
          <p:cNvPr id="13" name="타원 12"/>
          <p:cNvSpPr/>
          <p:nvPr/>
        </p:nvSpPr>
        <p:spPr>
          <a:xfrm>
            <a:off x="367196" y="1785926"/>
            <a:ext cx="285750" cy="285750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600" dirty="0" smtClean="0">
                <a:solidFill>
                  <a:schemeClr val="tx1"/>
                </a:solidFill>
              </a:rPr>
              <a:t>1</a:t>
            </a:r>
            <a:endParaRPr lang="ko-KR" altLang="en-US" sz="1600" dirty="0">
              <a:solidFill>
                <a:schemeClr val="tx1"/>
              </a:solidFill>
            </a:endParaRPr>
          </a:p>
        </p:txBody>
      </p:sp>
      <p:sp>
        <p:nvSpPr>
          <p:cNvPr id="14" name="직사각형 13"/>
          <p:cNvSpPr/>
          <p:nvPr/>
        </p:nvSpPr>
        <p:spPr>
          <a:xfrm>
            <a:off x="3238488" y="1975526"/>
            <a:ext cx="3286148" cy="3882366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5" name="타원 14"/>
          <p:cNvSpPr/>
          <p:nvPr/>
        </p:nvSpPr>
        <p:spPr>
          <a:xfrm>
            <a:off x="3095612" y="1714488"/>
            <a:ext cx="285750" cy="285750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600" dirty="0" smtClean="0">
                <a:solidFill>
                  <a:schemeClr val="tx1"/>
                </a:solidFill>
              </a:rPr>
              <a:t>3</a:t>
            </a:r>
            <a:endParaRPr lang="ko-KR" altLang="en-US" sz="1600" dirty="0">
              <a:solidFill>
                <a:schemeClr val="tx1"/>
              </a:solidFill>
            </a:endParaRPr>
          </a:p>
        </p:txBody>
      </p:sp>
      <p:sp>
        <p:nvSpPr>
          <p:cNvPr id="21" name="직사각형 20"/>
          <p:cNvSpPr/>
          <p:nvPr/>
        </p:nvSpPr>
        <p:spPr>
          <a:xfrm>
            <a:off x="611188" y="5000636"/>
            <a:ext cx="2555862" cy="71438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22" name="타원 21"/>
          <p:cNvSpPr/>
          <p:nvPr/>
        </p:nvSpPr>
        <p:spPr>
          <a:xfrm>
            <a:off x="367196" y="4786322"/>
            <a:ext cx="285750" cy="285750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600" dirty="0" smtClean="0">
                <a:solidFill>
                  <a:schemeClr val="tx1"/>
                </a:solidFill>
              </a:rPr>
              <a:t>4</a:t>
            </a:r>
            <a:endParaRPr lang="ko-KR" altLang="en-US" sz="1600" dirty="0">
              <a:solidFill>
                <a:schemeClr val="tx1"/>
              </a:solidFill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530" name="Picture 8"/>
          <p:cNvPicPr>
            <a:picLocks noChangeAspect="1" noChangeArrowheads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04925" y="1815200"/>
            <a:ext cx="5930726" cy="408485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6" name="TextBox 5"/>
          <p:cNvSpPr txBox="1"/>
          <p:nvPr/>
        </p:nvSpPr>
        <p:spPr>
          <a:xfrm>
            <a:off x="1497013" y="282575"/>
            <a:ext cx="617477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kumimoji="0" lang="ko-KR" altLang="en-US" dirty="0" smtClean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예약</a:t>
            </a:r>
            <a:endParaRPr kumimoji="0" lang="ko-KR" altLang="en-US" dirty="0">
              <a:solidFill>
                <a:schemeClr val="bg1">
                  <a:lumMod val="50000"/>
                </a:schemeClr>
              </a:solidFill>
              <a:latin typeface="나눔고딕OTF ExtraBold" pitchFamily="34" charset="-127"/>
              <a:ea typeface="나눔고딕OTF ExtraBold" pitchFamily="34" charset="-127"/>
            </a:endParaRPr>
          </a:p>
        </p:txBody>
      </p:sp>
      <p:sp>
        <p:nvSpPr>
          <p:cNvPr id="22532" name="TextBox 4"/>
          <p:cNvSpPr txBox="1">
            <a:spLocks noChangeArrowheads="1"/>
          </p:cNvSpPr>
          <p:nvPr/>
        </p:nvSpPr>
        <p:spPr bwMode="auto">
          <a:xfrm>
            <a:off x="381000" y="785813"/>
            <a:ext cx="1023037" cy="30777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kumimoji="0" lang="en-US" altLang="ko-KR" sz="1400" b="1" dirty="0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400" b="1" dirty="0" smtClean="0">
                <a:latin typeface="나눔고딕OTF" pitchFamily="34" charset="-127"/>
                <a:ea typeface="나눔고딕OTF" pitchFamily="34" charset="-127"/>
              </a:rPr>
              <a:t>예약 </a:t>
            </a:r>
            <a:r>
              <a:rPr kumimoji="0" lang="ko-KR" altLang="en-US" sz="1400" b="1" dirty="0">
                <a:latin typeface="나눔고딕OTF" pitchFamily="34" charset="-127"/>
                <a:ea typeface="나눔고딕OTF" pitchFamily="34" charset="-127"/>
              </a:rPr>
              <a:t>화면</a:t>
            </a:r>
          </a:p>
        </p:txBody>
      </p:sp>
      <p:sp>
        <p:nvSpPr>
          <p:cNvPr id="22537" name="TextBox 59"/>
          <p:cNvSpPr txBox="1">
            <a:spLocks noChangeArrowheads="1"/>
          </p:cNvSpPr>
          <p:nvPr/>
        </p:nvSpPr>
        <p:spPr bwMode="auto">
          <a:xfrm>
            <a:off x="415925" y="1052513"/>
            <a:ext cx="4965700" cy="276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kumimoji="0" lang="en-US" altLang="ko-KR" sz="1200" dirty="0">
                <a:latin typeface="나눔고딕OTF" pitchFamily="34" charset="-127"/>
                <a:ea typeface="나눔고딕OTF" pitchFamily="34" charset="-127"/>
              </a:rPr>
              <a:t> -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(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신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)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검진예약 화면</a:t>
            </a:r>
            <a:endParaRPr kumimoji="0" lang="en-US" altLang="ko-KR" sz="1200" dirty="0" smtClean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4" name="직사각형 13"/>
          <p:cNvSpPr/>
          <p:nvPr/>
        </p:nvSpPr>
        <p:spPr>
          <a:xfrm>
            <a:off x="3238488" y="1975526"/>
            <a:ext cx="3286148" cy="3882366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>
              <a:latin typeface="나눔고딕OTF" pitchFamily="34" charset="-127"/>
              <a:ea typeface="나눔고딕OTF" pitchFamily="34" charset="-127"/>
            </a:endParaRPr>
          </a:p>
        </p:txBody>
      </p:sp>
      <p:grpSp>
        <p:nvGrpSpPr>
          <p:cNvPr id="17" name="그룹 16"/>
          <p:cNvGrpSpPr/>
          <p:nvPr/>
        </p:nvGrpSpPr>
        <p:grpSpPr>
          <a:xfrm>
            <a:off x="6524625" y="1593850"/>
            <a:ext cx="3108325" cy="3970318"/>
            <a:chOff x="6524625" y="1593850"/>
            <a:chExt cx="3108325" cy="3970318"/>
          </a:xfrm>
        </p:grpSpPr>
        <p:sp>
          <p:nvSpPr>
            <p:cNvPr id="22535" name="TextBox 4"/>
            <p:cNvSpPr txBox="1">
              <a:spLocks noChangeArrowheads="1"/>
            </p:cNvSpPr>
            <p:nvPr/>
          </p:nvSpPr>
          <p:spPr bwMode="auto">
            <a:xfrm>
              <a:off x="6524625" y="1593850"/>
              <a:ext cx="3108325" cy="3970318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>
              <a:spAutoFit/>
            </a:bodyPr>
            <a:lstStyle/>
            <a:p>
              <a:pPr marL="228600" indent="-228600">
                <a:lnSpc>
                  <a:spcPct val="120000"/>
                </a:lnSpc>
                <a:buFontTx/>
                <a:buAutoNum type="arabicParenR"/>
              </a:pPr>
              <a:r>
                <a:rPr kumimoji="0" lang="ko-KR" altLang="en-US" sz="1000" b="1" dirty="0" smtClean="0">
                  <a:latin typeface="나눔고딕OTF" pitchFamily="34" charset="-127"/>
                  <a:ea typeface="나눔고딕OTF" pitchFamily="34" charset="-127"/>
                </a:rPr>
                <a:t>검진 예약 내역 조회</a:t>
              </a:r>
              <a:endParaRPr kumimoji="0" lang="en-US" altLang="ko-KR" sz="1000" b="1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b="1" dirty="0" smtClean="0">
                  <a:latin typeface="나눔고딕OTF" pitchFamily="34" charset="-127"/>
                  <a:ea typeface="나눔고딕OTF" pitchFamily="34" charset="-127"/>
                </a:rPr>
                <a:t>   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-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검진구분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,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예약일자 등 조건을 설정하여 예약 내역을 조회합니다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b="1" dirty="0" smtClean="0">
                  <a:latin typeface="나눔고딕OTF" pitchFamily="34" charset="-127"/>
                  <a:ea typeface="나눔고딕OTF" pitchFamily="34" charset="-127"/>
                </a:rPr>
                <a:t>   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-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이미 접수된 사람은 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“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접수자 제외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’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를 체크하여 제외하고 조회할 수 있습니다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- “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접수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” :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조회한 내역에서 접수할 인원을 체크한 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클릭하면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,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접수일자 선택 화면이 표시됩니다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</a:t>
              </a: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-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접수처리 된 내역은 예약일자 칸의 색이 변경됩니다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- “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접수취소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” :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예약내역의 접수 처리를 취소합니다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- “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일자변경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”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 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: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검진자의 예약 일자를 변경합니다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- “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엑셀저장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” :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조회 내역을 엑셀파일로 저장합니다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 smtClean="0">
                <a:latin typeface="나눔고딕OTF" pitchFamily="34" charset="-127"/>
                <a:ea typeface="나눔고딕OTF" pitchFamily="34" charset="-127"/>
              </a:endParaRPr>
            </a:p>
          </p:txBody>
        </p:sp>
        <p:pic>
          <p:nvPicPr>
            <p:cNvPr id="1026" name="Picture 2"/>
            <p:cNvPicPr>
              <a:picLocks noChangeAspect="1" noChangeArrowheads="1"/>
            </p:cNvPicPr>
            <p:nvPr/>
          </p:nvPicPr>
          <p:blipFill>
            <a:blip r:embed="rId3">
              <a:lum contrast="1000"/>
            </a:blip>
            <a:srcRect/>
            <a:stretch>
              <a:fillRect/>
            </a:stretch>
          </p:blipFill>
          <p:spPr bwMode="auto">
            <a:xfrm>
              <a:off x="7167578" y="2995807"/>
              <a:ext cx="1864908" cy="908545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  <a:effectLst/>
          </p:spPr>
        </p:pic>
        <p:pic>
          <p:nvPicPr>
            <p:cNvPr id="1027" name="Picture 3"/>
            <p:cNvPicPr>
              <a:picLocks noChangeAspect="1" noChangeArrowheads="1"/>
            </p:cNvPicPr>
            <p:nvPr/>
          </p:nvPicPr>
          <p:blipFill>
            <a:blip r:embed="rId4"/>
            <a:srcRect/>
            <a:stretch>
              <a:fillRect/>
            </a:stretch>
          </p:blipFill>
          <p:spPr bwMode="auto">
            <a:xfrm>
              <a:off x="6925846" y="4225118"/>
              <a:ext cx="962025" cy="495300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  <a:effectLst/>
          </p:spPr>
        </p:pic>
      </p:grp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530" name="Picture 8"/>
          <p:cNvPicPr>
            <a:picLocks noChangeAspect="1" noChangeArrowheads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1900" y="1815200"/>
            <a:ext cx="5916775" cy="408485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6" name="TextBox 5"/>
          <p:cNvSpPr txBox="1"/>
          <p:nvPr/>
        </p:nvSpPr>
        <p:spPr>
          <a:xfrm>
            <a:off x="1497013" y="282575"/>
            <a:ext cx="617477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kumimoji="0" lang="ko-KR" altLang="en-US" dirty="0" smtClean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예약</a:t>
            </a:r>
            <a:endParaRPr kumimoji="0" lang="ko-KR" altLang="en-US" dirty="0">
              <a:solidFill>
                <a:schemeClr val="bg1">
                  <a:lumMod val="50000"/>
                </a:schemeClr>
              </a:solidFill>
              <a:latin typeface="나눔고딕OTF ExtraBold" pitchFamily="34" charset="-127"/>
              <a:ea typeface="나눔고딕OTF ExtraBold" pitchFamily="34" charset="-127"/>
            </a:endParaRPr>
          </a:p>
        </p:txBody>
      </p:sp>
      <p:sp>
        <p:nvSpPr>
          <p:cNvPr id="22532" name="TextBox 4"/>
          <p:cNvSpPr txBox="1">
            <a:spLocks noChangeArrowheads="1"/>
          </p:cNvSpPr>
          <p:nvPr/>
        </p:nvSpPr>
        <p:spPr bwMode="auto">
          <a:xfrm>
            <a:off x="381000" y="785813"/>
            <a:ext cx="1023037" cy="30777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kumimoji="0" lang="en-US" altLang="ko-KR" sz="1400" b="1" dirty="0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400" b="1" dirty="0" smtClean="0">
                <a:latin typeface="나눔고딕OTF" pitchFamily="34" charset="-127"/>
                <a:ea typeface="나눔고딕OTF" pitchFamily="34" charset="-127"/>
              </a:rPr>
              <a:t>예약 </a:t>
            </a:r>
            <a:r>
              <a:rPr kumimoji="0" lang="ko-KR" altLang="en-US" sz="1400" b="1" dirty="0">
                <a:latin typeface="나눔고딕OTF" pitchFamily="34" charset="-127"/>
                <a:ea typeface="나눔고딕OTF" pitchFamily="34" charset="-127"/>
              </a:rPr>
              <a:t>화면</a:t>
            </a:r>
          </a:p>
        </p:txBody>
      </p:sp>
      <p:sp>
        <p:nvSpPr>
          <p:cNvPr id="22535" name="TextBox 4"/>
          <p:cNvSpPr txBox="1">
            <a:spLocks noChangeArrowheads="1"/>
          </p:cNvSpPr>
          <p:nvPr/>
        </p:nvSpPr>
        <p:spPr bwMode="auto">
          <a:xfrm>
            <a:off x="6524625" y="1593850"/>
            <a:ext cx="3108325" cy="175432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 marL="228600" indent="-228600">
              <a:lnSpc>
                <a:spcPct val="120000"/>
              </a:lnSpc>
              <a:buFontTx/>
              <a:buAutoNum type="arabicParenR"/>
            </a:pPr>
            <a:r>
              <a:rPr kumimoji="0" lang="ko-KR" altLang="en-US" sz="1000" b="1" dirty="0" smtClean="0">
                <a:latin typeface="나눔고딕OTF" pitchFamily="34" charset="-127"/>
                <a:ea typeface="나눔고딕OTF" pitchFamily="34" charset="-127"/>
              </a:rPr>
              <a:t>일괄예약</a:t>
            </a:r>
            <a:endParaRPr kumimoji="0" lang="en-US" altLang="ko-KR" sz="1000" b="1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엑셀파일 양식을 이용하여 일괄예약을 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“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엑셀 양식 다운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” :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일괄예약 엑셀양식을 다운로드</a:t>
            </a:r>
            <a:endParaRPr kumimoji="0" lang="en-US" altLang="ko-KR" sz="1000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	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* </a:t>
            </a:r>
            <a:r>
              <a:rPr kumimoji="0" lang="ko-KR" altLang="en-US" sz="1000" dirty="0" err="1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다운로드된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 양식대로 정확히 입력해야 합니다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“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엑셀 불러오기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” :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양식대로 예약정보가 입력된 </a:t>
            </a:r>
            <a:endParaRPr kumimoji="0" lang="en-US" altLang="ko-KR" sz="1000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	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엑셀 파일을 불러옵니다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파일을 불러오면 그림과 같이 엑셀파일의 내용이 표시됩니다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“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일괄예약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” :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불러온 엑셀파일을 예약처리 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</p:txBody>
      </p:sp>
      <p:sp>
        <p:nvSpPr>
          <p:cNvPr id="22537" name="TextBox 59"/>
          <p:cNvSpPr txBox="1">
            <a:spLocks noChangeArrowheads="1"/>
          </p:cNvSpPr>
          <p:nvPr/>
        </p:nvSpPr>
        <p:spPr bwMode="auto">
          <a:xfrm>
            <a:off x="415925" y="1052513"/>
            <a:ext cx="4965700" cy="276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kumimoji="0" lang="en-US" altLang="ko-KR" sz="1200" dirty="0">
                <a:latin typeface="나눔고딕OTF" pitchFamily="34" charset="-127"/>
                <a:ea typeface="나눔고딕OTF" pitchFamily="34" charset="-127"/>
              </a:rPr>
              <a:t> -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(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신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)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검진예약 화면</a:t>
            </a:r>
            <a:endParaRPr kumimoji="0" lang="en-US" altLang="ko-KR" sz="1200" dirty="0" smtClean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4" name="직사각형 13"/>
          <p:cNvSpPr/>
          <p:nvPr/>
        </p:nvSpPr>
        <p:spPr>
          <a:xfrm>
            <a:off x="3238488" y="1975526"/>
            <a:ext cx="3286148" cy="3882366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>
              <a:latin typeface="나눔고딕OTF" pitchFamily="34" charset="-127"/>
              <a:ea typeface="나눔고딕OTF" pitchFamily="34" charset="-127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직사각형 4"/>
          <p:cNvSpPr/>
          <p:nvPr/>
        </p:nvSpPr>
        <p:spPr>
          <a:xfrm flipH="1">
            <a:off x="0" y="0"/>
            <a:ext cx="9906000" cy="6858000"/>
          </a:xfrm>
          <a:prstGeom prst="rect">
            <a:avLst/>
          </a:prstGeom>
          <a:solidFill>
            <a:srgbClr val="BED39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/>
          </a:p>
        </p:txBody>
      </p:sp>
      <p:sp>
        <p:nvSpPr>
          <p:cNvPr id="25603" name="TextBox 13"/>
          <p:cNvSpPr txBox="1">
            <a:spLocks noChangeArrowheads="1"/>
          </p:cNvSpPr>
          <p:nvPr/>
        </p:nvSpPr>
        <p:spPr bwMode="auto">
          <a:xfrm>
            <a:off x="3440113" y="2636838"/>
            <a:ext cx="2626040" cy="92333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pPr marL="457200" indent="-457200">
              <a:lnSpc>
                <a:spcPct val="150000"/>
              </a:lnSpc>
            </a:pPr>
            <a:r>
              <a:rPr kumimoji="0" lang="en-US" altLang="ko-KR" sz="3600" b="1" dirty="0" smtClean="0">
                <a:solidFill>
                  <a:schemeClr val="bg1"/>
                </a:solidFill>
                <a:latin typeface="나눔고딕OTF" pitchFamily="34" charset="-127"/>
                <a:ea typeface="나눔고딕OTF" pitchFamily="34" charset="-127"/>
              </a:rPr>
              <a:t>Ⅳ. </a:t>
            </a:r>
            <a:r>
              <a:rPr kumimoji="0" lang="ko-KR" altLang="en-US" sz="3600" b="1" dirty="0" smtClean="0">
                <a:solidFill>
                  <a:schemeClr val="bg1"/>
                </a:solidFill>
                <a:latin typeface="나눔고딕OTF" pitchFamily="34" charset="-127"/>
                <a:ea typeface="나눔고딕OTF" pitchFamily="34" charset="-127"/>
              </a:rPr>
              <a:t>건강검진</a:t>
            </a:r>
            <a:endParaRPr kumimoji="0" lang="en-US" altLang="ko-KR" sz="3600" dirty="0">
              <a:solidFill>
                <a:schemeClr val="bg1"/>
              </a:solidFill>
              <a:latin typeface="나눔고딕OTF" pitchFamily="34" charset="-127"/>
              <a:ea typeface="나눔고딕OTF" pitchFamily="34" charset="-127"/>
            </a:endParaRPr>
          </a:p>
        </p:txBody>
      </p:sp>
      <p:pic>
        <p:nvPicPr>
          <p:cNvPr id="25604" name="그림 7" descr="앨리스화면.png"/>
          <p:cNvPicPr>
            <a:picLocks noChangeAspect="1"/>
          </p:cNvPicPr>
          <p:nvPr/>
        </p:nvPicPr>
        <p:blipFill>
          <a:blip r:embed="rId2"/>
          <a:srcRect l="13019" t="12311" r="2361" b="5617"/>
          <a:stretch>
            <a:fillRect/>
          </a:stretch>
        </p:blipFill>
        <p:spPr bwMode="auto">
          <a:xfrm>
            <a:off x="1639888" y="2708275"/>
            <a:ext cx="1944687" cy="996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6626" name="Picture 2"/>
          <p:cNvPicPr>
            <a:picLocks noChangeAspect="1" noChangeArrowheads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606892" y="1368913"/>
            <a:ext cx="6685865" cy="490598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6" name="TextBox 5"/>
          <p:cNvSpPr txBox="1"/>
          <p:nvPr/>
        </p:nvSpPr>
        <p:spPr>
          <a:xfrm>
            <a:off x="1497013" y="282575"/>
            <a:ext cx="2419252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kumimoji="0" lang="ko-KR" altLang="en-US" dirty="0" smtClean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건강검진 </a:t>
            </a:r>
            <a:r>
              <a:rPr kumimoji="0" lang="en-US" altLang="ko-KR" dirty="0" smtClean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– </a:t>
            </a:r>
            <a:r>
              <a:rPr kumimoji="0" lang="ko-KR" altLang="en-US" dirty="0" smtClean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기록지 출력</a:t>
            </a:r>
            <a:endParaRPr kumimoji="0" lang="ko-KR" altLang="en-US" dirty="0">
              <a:solidFill>
                <a:schemeClr val="bg1">
                  <a:lumMod val="50000"/>
                </a:schemeClr>
              </a:solidFill>
              <a:latin typeface="나눔고딕OTF ExtraBold" pitchFamily="34" charset="-127"/>
              <a:ea typeface="나눔고딕OTF ExtraBold" pitchFamily="34" charset="-127"/>
            </a:endParaRPr>
          </a:p>
        </p:txBody>
      </p:sp>
      <p:sp>
        <p:nvSpPr>
          <p:cNvPr id="26628" name="TextBox 4"/>
          <p:cNvSpPr txBox="1">
            <a:spLocks noChangeArrowheads="1"/>
          </p:cNvSpPr>
          <p:nvPr/>
        </p:nvSpPr>
        <p:spPr bwMode="auto">
          <a:xfrm>
            <a:off x="381000" y="785813"/>
            <a:ext cx="1022350" cy="3079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kumimoji="0" lang="en-US" altLang="ko-KR" sz="1400" b="1" dirty="0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400" b="1" dirty="0">
                <a:latin typeface="나눔고딕OTF" pitchFamily="34" charset="-127"/>
                <a:ea typeface="나눔고딕OTF" pitchFamily="34" charset="-127"/>
              </a:rPr>
              <a:t>메인 화면</a:t>
            </a:r>
          </a:p>
        </p:txBody>
      </p:sp>
      <p:sp>
        <p:nvSpPr>
          <p:cNvPr id="13" name="직사각형 12"/>
          <p:cNvSpPr/>
          <p:nvPr/>
        </p:nvSpPr>
        <p:spPr>
          <a:xfrm>
            <a:off x="2524108" y="1500174"/>
            <a:ext cx="2214578" cy="714366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26630" name="TextBox 59"/>
          <p:cNvSpPr txBox="1">
            <a:spLocks noChangeArrowheads="1"/>
          </p:cNvSpPr>
          <p:nvPr/>
        </p:nvSpPr>
        <p:spPr bwMode="auto">
          <a:xfrm>
            <a:off x="415924" y="1052513"/>
            <a:ext cx="5751521" cy="276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r>
              <a:rPr kumimoji="0" lang="en-US" altLang="ko-KR" sz="1200" dirty="0">
                <a:latin typeface="나눔고딕OTF" pitchFamily="34" charset="-127"/>
                <a:ea typeface="나눔고딕OTF" pitchFamily="34" charset="-127"/>
              </a:rPr>
              <a:t> -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건강검진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  <a:sym typeface="Wingdings" pitchFamily="2" charset="2"/>
              </a:rPr>
              <a:t>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  <a:sym typeface="Wingdings" pitchFamily="2" charset="2"/>
              </a:rPr>
              <a:t>기록지 출력 버튼을 클릭하면 기록지 출력 프로그램이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  <a:sym typeface="Wingdings" pitchFamily="2" charset="2"/>
              </a:rPr>
              <a:t>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  <a:sym typeface="Wingdings" pitchFamily="2" charset="2"/>
              </a:rPr>
              <a:t>표시됩니다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  <a:sym typeface="Wingdings" pitchFamily="2" charset="2"/>
              </a:rPr>
              <a:t>.</a:t>
            </a:r>
            <a:endParaRPr kumimoji="0" lang="en-US" altLang="ko-KR" sz="1200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8" name="직사각형 7"/>
          <p:cNvSpPr/>
          <p:nvPr/>
        </p:nvSpPr>
        <p:spPr>
          <a:xfrm>
            <a:off x="2595546" y="1863316"/>
            <a:ext cx="2071702" cy="14516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>
              <a:latin typeface="나눔고딕OTF" pitchFamily="34" charset="-127"/>
              <a:ea typeface="나눔고딕OTF" pitchFamily="34" charset="-127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6626" name="Picture 2"/>
          <p:cNvPicPr>
            <a:picLocks noChangeAspect="1" noChangeArrowheads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523976" y="1392478"/>
            <a:ext cx="6685865" cy="153645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6" name="TextBox 5"/>
          <p:cNvSpPr txBox="1"/>
          <p:nvPr/>
        </p:nvSpPr>
        <p:spPr>
          <a:xfrm>
            <a:off x="1497013" y="282575"/>
            <a:ext cx="2419252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kumimoji="0" lang="ko-KR" altLang="en-US" dirty="0" smtClean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건강검진 </a:t>
            </a:r>
            <a:r>
              <a:rPr kumimoji="0" lang="en-US" altLang="ko-KR" dirty="0" smtClean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– </a:t>
            </a:r>
            <a:r>
              <a:rPr kumimoji="0" lang="ko-KR" altLang="en-US" dirty="0" smtClean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기록지 출력</a:t>
            </a:r>
            <a:endParaRPr kumimoji="0" lang="ko-KR" altLang="en-US" dirty="0">
              <a:solidFill>
                <a:schemeClr val="bg1">
                  <a:lumMod val="50000"/>
                </a:schemeClr>
              </a:solidFill>
              <a:latin typeface="나눔고딕OTF ExtraBold" pitchFamily="34" charset="-127"/>
              <a:ea typeface="나눔고딕OTF ExtraBold" pitchFamily="34" charset="-127"/>
            </a:endParaRPr>
          </a:p>
        </p:txBody>
      </p:sp>
      <p:sp>
        <p:nvSpPr>
          <p:cNvPr id="26628" name="TextBox 4"/>
          <p:cNvSpPr txBox="1">
            <a:spLocks noChangeArrowheads="1"/>
          </p:cNvSpPr>
          <p:nvPr/>
        </p:nvSpPr>
        <p:spPr bwMode="auto">
          <a:xfrm>
            <a:off x="381000" y="785813"/>
            <a:ext cx="1914307" cy="30777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kumimoji="0" lang="en-US" altLang="ko-KR" sz="1400" b="1" dirty="0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400" b="1" dirty="0" smtClean="0">
                <a:latin typeface="나눔고딕OTF" pitchFamily="34" charset="-127"/>
                <a:ea typeface="나눔고딕OTF" pitchFamily="34" charset="-127"/>
              </a:rPr>
              <a:t>기록지 출력 프로그램</a:t>
            </a:r>
            <a:endParaRPr kumimoji="0" lang="ko-KR" altLang="en-US" sz="1400" b="1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26630" name="TextBox 59"/>
          <p:cNvSpPr txBox="1">
            <a:spLocks noChangeArrowheads="1"/>
          </p:cNvSpPr>
          <p:nvPr/>
        </p:nvSpPr>
        <p:spPr bwMode="auto">
          <a:xfrm>
            <a:off x="415924" y="1052513"/>
            <a:ext cx="5751521" cy="276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r>
              <a:rPr kumimoji="0" lang="en-US" altLang="ko-KR" sz="1200" dirty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200" dirty="0" err="1" smtClean="0">
                <a:latin typeface="나눔고딕OTF" pitchFamily="34" charset="-127"/>
                <a:ea typeface="나눔고딕OTF" pitchFamily="34" charset="-127"/>
              </a:rPr>
              <a:t>검진자를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 조회하여 기록지를 출력합니다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.</a:t>
            </a:r>
            <a:endParaRPr kumimoji="0" lang="en-US" altLang="ko-KR" sz="1200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9" name="TextBox 4"/>
          <p:cNvSpPr txBox="1">
            <a:spLocks noChangeArrowheads="1"/>
          </p:cNvSpPr>
          <p:nvPr/>
        </p:nvSpPr>
        <p:spPr bwMode="auto">
          <a:xfrm>
            <a:off x="738158" y="3143248"/>
            <a:ext cx="3857652" cy="323165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228600" indent="-228600">
              <a:lnSpc>
                <a:spcPct val="120000"/>
              </a:lnSpc>
              <a:buFontTx/>
              <a:buAutoNum type="arabicParenR"/>
            </a:pPr>
            <a:r>
              <a:rPr kumimoji="0" lang="ko-KR" altLang="en-US" sz="1000" b="1" dirty="0" smtClean="0">
                <a:latin typeface="나눔고딕OTF" pitchFamily="34" charset="-127"/>
                <a:ea typeface="나눔고딕OTF" pitchFamily="34" charset="-127"/>
              </a:rPr>
              <a:t>접수 </a:t>
            </a:r>
            <a:r>
              <a:rPr kumimoji="0" lang="en-US" altLang="ko-KR" sz="1000" b="1" dirty="0" smtClean="0">
                <a:latin typeface="나눔고딕OTF" pitchFamily="34" charset="-127"/>
                <a:ea typeface="나눔고딕OTF" pitchFamily="34" charset="-127"/>
              </a:rPr>
              <a:t>or </a:t>
            </a:r>
            <a:r>
              <a:rPr kumimoji="0" lang="ko-KR" altLang="en-US" sz="1000" b="1" dirty="0" smtClean="0">
                <a:latin typeface="나눔고딕OTF" pitchFamily="34" charset="-127"/>
                <a:ea typeface="나눔고딕OTF" pitchFamily="34" charset="-127"/>
              </a:rPr>
              <a:t>예약 구분</a:t>
            </a:r>
            <a:endParaRPr kumimoji="0" lang="en-US" altLang="ko-KR" sz="1000" b="1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접수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: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예약하지 않고 바로 접수한 검진자만 조회합니다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예약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: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예약으로 접수된 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검진자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예약 후 접수처리 완료된 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검진자를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 모두 조회합니다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  <a:buAutoNum type="arabicParenR" startAt="2"/>
            </a:pPr>
            <a:r>
              <a:rPr kumimoji="0" lang="ko-KR" altLang="en-US" sz="1000" b="1" dirty="0" smtClean="0">
                <a:latin typeface="나눔고딕OTF" pitchFamily="34" charset="-127"/>
                <a:ea typeface="나눔고딕OTF" pitchFamily="34" charset="-127"/>
              </a:rPr>
              <a:t>정렬순서</a:t>
            </a:r>
            <a:endParaRPr kumimoji="0" lang="en-US" altLang="ko-KR" sz="1000" b="1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조회된 검진자가 두 명 이상일 경우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출력 순서를 설정합니다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  <a:buAutoNum type="arabicParenR" startAt="3"/>
            </a:pPr>
            <a:r>
              <a:rPr kumimoji="0" lang="ko-KR" altLang="en-US" sz="1000" b="1" dirty="0" smtClean="0">
                <a:latin typeface="나눔고딕OTF" pitchFamily="34" charset="-127"/>
                <a:ea typeface="나눔고딕OTF" pitchFamily="34" charset="-127"/>
              </a:rPr>
              <a:t>검진장소</a:t>
            </a:r>
            <a:endParaRPr kumimoji="0" lang="en-US" altLang="ko-KR" sz="1000" b="1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b="1" dirty="0" smtClean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en-US" altLang="ko-KR" sz="1000" b="1" dirty="0" smtClean="0">
                <a:latin typeface="나눔고딕OTF" pitchFamily="34" charset="-127"/>
                <a:ea typeface="나눔고딕OTF" pitchFamily="34" charset="-127"/>
              </a:rPr>
              <a:t> 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접수 시 설정한 검진 장소를 구분합니다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  <a:buAutoNum type="arabicParenR" startAt="4"/>
            </a:pPr>
            <a:r>
              <a:rPr kumimoji="0" lang="ko-KR" altLang="en-US" sz="1000" b="1" dirty="0" err="1" smtClean="0">
                <a:latin typeface="나눔고딕OTF" pitchFamily="34" charset="-127"/>
                <a:ea typeface="나눔고딕OTF" pitchFamily="34" charset="-127"/>
              </a:rPr>
              <a:t>폼지여백</a:t>
            </a:r>
            <a:endParaRPr kumimoji="0" lang="en-US" altLang="ko-KR" sz="1000" b="1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출력 시 여백을 설정합니다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  <a:buAutoNum type="arabicParenR" startAt="5"/>
            </a:pPr>
            <a:r>
              <a:rPr kumimoji="0" lang="ko-KR" altLang="en-US" sz="1000" b="1" dirty="0" smtClean="0">
                <a:latin typeface="나눔고딕OTF" pitchFamily="34" charset="-127"/>
                <a:ea typeface="나눔고딕OTF" pitchFamily="34" charset="-127"/>
              </a:rPr>
              <a:t>기본 </a:t>
            </a:r>
            <a:r>
              <a:rPr kumimoji="0" lang="ko-KR" altLang="en-US" sz="1000" b="1" dirty="0" err="1" smtClean="0">
                <a:latin typeface="나눔고딕OTF" pitchFamily="34" charset="-127"/>
                <a:ea typeface="나눔고딕OTF" pitchFamily="34" charset="-127"/>
              </a:rPr>
              <a:t>인적정보</a:t>
            </a:r>
            <a:r>
              <a:rPr kumimoji="0" lang="ko-KR" altLang="en-US" sz="1000" b="1" dirty="0" smtClean="0">
                <a:latin typeface="나눔고딕OTF" pitchFamily="34" charset="-127"/>
                <a:ea typeface="나눔고딕OTF" pitchFamily="34" charset="-127"/>
              </a:rPr>
              <a:t> 설정</a:t>
            </a:r>
            <a:endParaRPr kumimoji="0" lang="en-US" altLang="ko-KR" sz="1000" b="1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조회할 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검진자들의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 기본 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인적정보를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 입력합니다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예시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)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특정 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검진자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한명만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 출력하는 경우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: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검진일자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검체번호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성명을 정확히 입력합니다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특정 사업장에 해당하는 인원을 출력하는 경우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: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검진일자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사업장을 입력합니다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</p:txBody>
      </p:sp>
      <p:sp>
        <p:nvSpPr>
          <p:cNvPr id="10" name="TextBox 4"/>
          <p:cNvSpPr txBox="1">
            <a:spLocks noChangeArrowheads="1"/>
          </p:cNvSpPr>
          <p:nvPr/>
        </p:nvSpPr>
        <p:spPr bwMode="auto">
          <a:xfrm>
            <a:off x="4738686" y="3143248"/>
            <a:ext cx="4357718" cy="156966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위 예시와 같이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출력할 대상의 범위를 설정합니다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  <a:buAutoNum type="arabicParenR" startAt="6"/>
            </a:pPr>
            <a:r>
              <a:rPr kumimoji="0" lang="ko-KR" altLang="en-US" sz="1000" b="1" dirty="0" smtClean="0">
                <a:latin typeface="나눔고딕OTF" pitchFamily="34" charset="-127"/>
                <a:ea typeface="나눔고딕OTF" pitchFamily="34" charset="-127"/>
              </a:rPr>
              <a:t>출력 옵션 설정</a:t>
            </a:r>
            <a:endParaRPr kumimoji="0" lang="en-US" altLang="ko-KR" sz="1000" b="1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기록지 출력 시 사용할 옵션에 체크합니다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  <a:buAutoNum type="arabicParenR" startAt="7"/>
            </a:pPr>
            <a:r>
              <a:rPr kumimoji="0" lang="ko-KR" altLang="en-US" sz="1000" b="1" dirty="0" smtClean="0">
                <a:latin typeface="나눔고딕OTF" pitchFamily="34" charset="-127"/>
                <a:ea typeface="나눔고딕OTF" pitchFamily="34" charset="-127"/>
              </a:rPr>
              <a:t>기록지 종류 선택</a:t>
            </a:r>
            <a:endParaRPr kumimoji="0" lang="en-US" altLang="ko-KR" sz="1000" b="1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출력할 기록지의 유형을 선택합니다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* ex) 1</a:t>
            </a:r>
            <a:r>
              <a:rPr kumimoji="0" lang="ko-KR" altLang="en-US" sz="1000" dirty="0" err="1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차검진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ko-KR" altLang="en-US" sz="1000" dirty="0" err="1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검진자는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ko-KR" altLang="en-US" sz="1000" dirty="0" err="1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암검진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 기록지로 출력되지 않습니다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  <a:buAutoNum type="arabicParenR" startAt="8"/>
            </a:pPr>
            <a:r>
              <a:rPr kumimoji="0" lang="ko-KR" altLang="en-US" sz="1000" b="1" dirty="0" smtClean="0">
                <a:latin typeface="나눔고딕OTF" pitchFamily="34" charset="-127"/>
                <a:ea typeface="나눔고딕OTF" pitchFamily="34" charset="-127"/>
              </a:rPr>
              <a:t>실행</a:t>
            </a:r>
            <a:endParaRPr kumimoji="0" lang="en-US" altLang="ko-KR" sz="1000" b="1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위에서 설정한 조건을 토대로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검진자를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 조회하고 기록지를 출력합니다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</p:txBody>
      </p:sp>
      <p:sp>
        <p:nvSpPr>
          <p:cNvPr id="21" name="타원 20"/>
          <p:cNvSpPr/>
          <p:nvPr/>
        </p:nvSpPr>
        <p:spPr>
          <a:xfrm>
            <a:off x="1523976" y="1500174"/>
            <a:ext cx="214314" cy="214314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000" dirty="0" smtClean="0">
                <a:solidFill>
                  <a:schemeClr val="tx1"/>
                </a:solidFill>
              </a:rPr>
              <a:t>1</a:t>
            </a:r>
            <a:endParaRPr lang="ko-KR" altLang="en-US" sz="1000" dirty="0">
              <a:solidFill>
                <a:schemeClr val="tx1"/>
              </a:solidFill>
            </a:endParaRPr>
          </a:p>
        </p:txBody>
      </p:sp>
      <p:sp>
        <p:nvSpPr>
          <p:cNvPr id="22" name="타원 21"/>
          <p:cNvSpPr/>
          <p:nvPr/>
        </p:nvSpPr>
        <p:spPr>
          <a:xfrm>
            <a:off x="1523976" y="1928802"/>
            <a:ext cx="214314" cy="214314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000" dirty="0" smtClean="0">
                <a:solidFill>
                  <a:schemeClr val="tx1"/>
                </a:solidFill>
              </a:rPr>
              <a:t>2</a:t>
            </a:r>
            <a:endParaRPr lang="ko-KR" altLang="en-US" sz="1000" dirty="0">
              <a:solidFill>
                <a:schemeClr val="tx1"/>
              </a:solidFill>
            </a:endParaRPr>
          </a:p>
        </p:txBody>
      </p:sp>
      <p:sp>
        <p:nvSpPr>
          <p:cNvPr id="23" name="타원 22"/>
          <p:cNvSpPr/>
          <p:nvPr/>
        </p:nvSpPr>
        <p:spPr>
          <a:xfrm>
            <a:off x="1523976" y="2214554"/>
            <a:ext cx="214314" cy="214314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000" dirty="0" smtClean="0">
                <a:solidFill>
                  <a:schemeClr val="tx1"/>
                </a:solidFill>
              </a:rPr>
              <a:t>3</a:t>
            </a:r>
            <a:endParaRPr lang="ko-KR" altLang="en-US" sz="1000" dirty="0">
              <a:solidFill>
                <a:schemeClr val="tx1"/>
              </a:solidFill>
            </a:endParaRPr>
          </a:p>
        </p:txBody>
      </p:sp>
      <p:sp>
        <p:nvSpPr>
          <p:cNvPr id="24" name="타원 23"/>
          <p:cNvSpPr/>
          <p:nvPr/>
        </p:nvSpPr>
        <p:spPr>
          <a:xfrm>
            <a:off x="1523976" y="2571744"/>
            <a:ext cx="214314" cy="214314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000" dirty="0" smtClean="0">
                <a:solidFill>
                  <a:schemeClr val="tx1"/>
                </a:solidFill>
              </a:rPr>
              <a:t>4</a:t>
            </a:r>
            <a:endParaRPr lang="ko-KR" altLang="en-US" sz="1000" dirty="0">
              <a:solidFill>
                <a:schemeClr val="tx1"/>
              </a:solidFill>
            </a:endParaRPr>
          </a:p>
        </p:txBody>
      </p:sp>
      <p:sp>
        <p:nvSpPr>
          <p:cNvPr id="28" name="타원 27"/>
          <p:cNvSpPr/>
          <p:nvPr/>
        </p:nvSpPr>
        <p:spPr>
          <a:xfrm>
            <a:off x="7167578" y="2500306"/>
            <a:ext cx="214314" cy="214314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000" dirty="0" smtClean="0">
                <a:solidFill>
                  <a:schemeClr val="tx1"/>
                </a:solidFill>
              </a:rPr>
              <a:t>8</a:t>
            </a:r>
            <a:endParaRPr lang="ko-KR" altLang="en-US" sz="1000" dirty="0">
              <a:solidFill>
                <a:schemeClr val="tx1"/>
              </a:solidFill>
            </a:endParaRPr>
          </a:p>
        </p:txBody>
      </p:sp>
      <p:sp>
        <p:nvSpPr>
          <p:cNvPr id="29" name="직사각형 28"/>
          <p:cNvSpPr/>
          <p:nvPr/>
        </p:nvSpPr>
        <p:spPr>
          <a:xfrm>
            <a:off x="3936392" y="1698012"/>
            <a:ext cx="3231186" cy="945170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30" name="직사각형 29"/>
          <p:cNvSpPr/>
          <p:nvPr/>
        </p:nvSpPr>
        <p:spPr>
          <a:xfrm>
            <a:off x="7239016" y="1596326"/>
            <a:ext cx="883492" cy="669079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26" name="타원 25"/>
          <p:cNvSpPr/>
          <p:nvPr/>
        </p:nvSpPr>
        <p:spPr>
          <a:xfrm>
            <a:off x="7096140" y="1428736"/>
            <a:ext cx="214314" cy="214314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000" dirty="0" smtClean="0">
                <a:solidFill>
                  <a:schemeClr val="tx1"/>
                </a:solidFill>
              </a:rPr>
              <a:t>6</a:t>
            </a:r>
            <a:endParaRPr lang="ko-KR" altLang="en-US" sz="1000" dirty="0">
              <a:solidFill>
                <a:schemeClr val="tx1"/>
              </a:solidFill>
            </a:endParaRPr>
          </a:p>
        </p:txBody>
      </p:sp>
      <p:sp>
        <p:nvSpPr>
          <p:cNvPr id="27" name="타원 26"/>
          <p:cNvSpPr/>
          <p:nvPr/>
        </p:nvSpPr>
        <p:spPr>
          <a:xfrm>
            <a:off x="6096008" y="2500306"/>
            <a:ext cx="214314" cy="214314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000" dirty="0" smtClean="0">
                <a:solidFill>
                  <a:schemeClr val="tx1"/>
                </a:solidFill>
              </a:rPr>
              <a:t>7</a:t>
            </a:r>
            <a:endParaRPr lang="ko-KR" altLang="en-US" sz="1000" dirty="0">
              <a:solidFill>
                <a:schemeClr val="tx1"/>
              </a:solidFill>
            </a:endParaRPr>
          </a:p>
        </p:txBody>
      </p:sp>
      <p:sp>
        <p:nvSpPr>
          <p:cNvPr id="25" name="타원 24"/>
          <p:cNvSpPr/>
          <p:nvPr/>
        </p:nvSpPr>
        <p:spPr>
          <a:xfrm>
            <a:off x="3809992" y="1516650"/>
            <a:ext cx="214314" cy="214314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000" dirty="0" smtClean="0">
                <a:solidFill>
                  <a:schemeClr val="tx1"/>
                </a:solidFill>
              </a:rPr>
              <a:t>5</a:t>
            </a:r>
            <a:endParaRPr lang="ko-KR" altLang="en-US" sz="1000" dirty="0">
              <a:solidFill>
                <a:schemeClr val="tx1"/>
              </a:solidFill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직사각형 4"/>
          <p:cNvSpPr/>
          <p:nvPr/>
        </p:nvSpPr>
        <p:spPr>
          <a:xfrm flipH="1">
            <a:off x="0" y="0"/>
            <a:ext cx="9906000" cy="6858000"/>
          </a:xfrm>
          <a:prstGeom prst="rect">
            <a:avLst/>
          </a:prstGeom>
          <a:solidFill>
            <a:srgbClr val="BED39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/>
          </a:p>
        </p:txBody>
      </p:sp>
      <p:sp>
        <p:nvSpPr>
          <p:cNvPr id="25603" name="TextBox 13"/>
          <p:cNvSpPr txBox="1">
            <a:spLocks noChangeArrowheads="1"/>
          </p:cNvSpPr>
          <p:nvPr/>
        </p:nvSpPr>
        <p:spPr bwMode="auto">
          <a:xfrm>
            <a:off x="3952868" y="2636838"/>
            <a:ext cx="1053494" cy="85408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pPr marL="457200" indent="-457200">
              <a:lnSpc>
                <a:spcPct val="150000"/>
              </a:lnSpc>
            </a:pPr>
            <a:r>
              <a:rPr kumimoji="0" lang="ko-KR" altLang="en-US" sz="3600" b="1" dirty="0" smtClean="0">
                <a:solidFill>
                  <a:schemeClr val="bg1"/>
                </a:solidFill>
                <a:latin typeface="나눔고딕OTF" pitchFamily="34" charset="-127"/>
                <a:ea typeface="나눔고딕OTF" pitchFamily="34" charset="-127"/>
              </a:rPr>
              <a:t>기타</a:t>
            </a:r>
            <a:endParaRPr kumimoji="0" lang="en-US" altLang="ko-KR" sz="3600" b="1" dirty="0" smtClean="0">
              <a:solidFill>
                <a:schemeClr val="bg1"/>
              </a:solidFill>
              <a:latin typeface="나눔고딕OTF" pitchFamily="34" charset="-127"/>
              <a:ea typeface="나눔고딕OTF" pitchFamily="34" charset="-127"/>
            </a:endParaRPr>
          </a:p>
        </p:txBody>
      </p:sp>
      <p:pic>
        <p:nvPicPr>
          <p:cNvPr id="25604" name="그림 7" descr="앨리스화면.png"/>
          <p:cNvPicPr>
            <a:picLocks noChangeAspect="1"/>
          </p:cNvPicPr>
          <p:nvPr/>
        </p:nvPicPr>
        <p:blipFill>
          <a:blip r:embed="rId2"/>
          <a:srcRect l="13019" t="12311" r="2361" b="5617"/>
          <a:stretch>
            <a:fillRect/>
          </a:stretch>
        </p:blipFill>
        <p:spPr bwMode="auto">
          <a:xfrm>
            <a:off x="1639888" y="2708275"/>
            <a:ext cx="1944687" cy="996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530" name="Picture 8"/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595313" y="1500188"/>
            <a:ext cx="5949950" cy="47148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6" name="TextBox 5"/>
          <p:cNvSpPr txBox="1"/>
          <p:nvPr/>
        </p:nvSpPr>
        <p:spPr>
          <a:xfrm>
            <a:off x="1497013" y="282575"/>
            <a:ext cx="617537" cy="3698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kumimoji="0" lang="ko-KR" altLang="en-US" dirty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수납</a:t>
            </a:r>
          </a:p>
        </p:txBody>
      </p:sp>
      <p:sp>
        <p:nvSpPr>
          <p:cNvPr id="22532" name="TextBox 4"/>
          <p:cNvSpPr txBox="1">
            <a:spLocks noChangeArrowheads="1"/>
          </p:cNvSpPr>
          <p:nvPr/>
        </p:nvSpPr>
        <p:spPr bwMode="auto">
          <a:xfrm>
            <a:off x="381000" y="785813"/>
            <a:ext cx="1022350" cy="3079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kumimoji="0" lang="en-US" altLang="ko-KR" sz="1400" b="1" dirty="0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400" b="1" dirty="0">
                <a:latin typeface="나눔고딕OTF" pitchFamily="34" charset="-127"/>
                <a:ea typeface="나눔고딕OTF" pitchFamily="34" charset="-127"/>
              </a:rPr>
              <a:t>접수 화면</a:t>
            </a:r>
          </a:p>
        </p:txBody>
      </p:sp>
      <p:sp>
        <p:nvSpPr>
          <p:cNvPr id="11" name="직사각형 10"/>
          <p:cNvSpPr/>
          <p:nvPr/>
        </p:nvSpPr>
        <p:spPr>
          <a:xfrm>
            <a:off x="611188" y="2627313"/>
            <a:ext cx="1484312" cy="351631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2" name="타원 11"/>
          <p:cNvSpPr/>
          <p:nvPr/>
        </p:nvSpPr>
        <p:spPr>
          <a:xfrm>
            <a:off x="468313" y="2413000"/>
            <a:ext cx="285750" cy="285750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600" dirty="0">
                <a:solidFill>
                  <a:schemeClr val="tx1"/>
                </a:solidFill>
              </a:rPr>
              <a:t>5</a:t>
            </a:r>
            <a:endParaRPr lang="ko-KR" altLang="en-US" sz="1600" dirty="0">
              <a:solidFill>
                <a:schemeClr val="tx1"/>
              </a:solidFill>
            </a:endParaRPr>
          </a:p>
        </p:txBody>
      </p:sp>
      <p:sp>
        <p:nvSpPr>
          <p:cNvPr id="22535" name="TextBox 4"/>
          <p:cNvSpPr txBox="1">
            <a:spLocks noChangeArrowheads="1"/>
          </p:cNvSpPr>
          <p:nvPr/>
        </p:nvSpPr>
        <p:spPr bwMode="auto">
          <a:xfrm>
            <a:off x="6524625" y="1593850"/>
            <a:ext cx="3108325" cy="39703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 marL="228600" indent="-228600">
              <a:lnSpc>
                <a:spcPct val="120000"/>
              </a:lnSpc>
              <a:buFontTx/>
              <a:buAutoNum type="arabicParenR"/>
            </a:pPr>
            <a:r>
              <a:rPr kumimoji="0" lang="ko-KR" altLang="en-US" sz="1000" b="1">
                <a:latin typeface="나눔고딕OTF" pitchFamily="34" charset="-127"/>
                <a:ea typeface="나눔고딕OTF" pitchFamily="34" charset="-127"/>
              </a:rPr>
              <a:t>선 수납</a:t>
            </a:r>
            <a:endParaRPr kumimoji="0" lang="en-US" altLang="ko-KR" sz="1000" b="1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b="1">
                <a:latin typeface="나눔고딕OTF" pitchFamily="34" charset="-127"/>
                <a:ea typeface="나눔고딕OTF" pitchFamily="34" charset="-127"/>
              </a:rPr>
              <a:t>   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접수 저장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(F2)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를 완료하면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해당 인원은 왼쪽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(5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번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) 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화면으로 이동하고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수납업무를 진행할 수</a:t>
            </a:r>
            <a:endParaRPr kumimoji="0" lang="en-US" altLang="ko-KR" sz="100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	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있습니다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접수 화면의 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“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검사금액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” 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에 표시된 금액이 검진자가 수납할 금액입니다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   </a:t>
            </a:r>
            <a:r>
              <a:rPr kumimoji="0" lang="en-US" altLang="ko-KR" sz="100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* </a:t>
            </a:r>
            <a:r>
              <a:rPr kumimoji="0" lang="ko-KR" altLang="en-US" sz="100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검사금액</a:t>
            </a:r>
            <a:r>
              <a:rPr kumimoji="0" lang="en-US" altLang="ko-KR" sz="100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 : </a:t>
            </a:r>
            <a:r>
              <a:rPr kumimoji="0" lang="ko-KR" altLang="en-US" sz="100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검진자가 수납하는 금액</a:t>
            </a:r>
            <a:r>
              <a:rPr kumimoji="0" lang="en-US" altLang="ko-KR" sz="100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   * </a:t>
            </a:r>
            <a:r>
              <a:rPr kumimoji="0" lang="ko-KR" altLang="en-US" sz="100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후불금액 </a:t>
            </a:r>
            <a:r>
              <a:rPr kumimoji="0" lang="en-US" altLang="ko-KR" sz="100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: </a:t>
            </a:r>
            <a:r>
              <a:rPr kumimoji="0" lang="ko-KR" altLang="en-US" sz="100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공단에 청구하여 지급받을 금액</a:t>
            </a:r>
            <a:r>
              <a:rPr kumimoji="0" lang="en-US" altLang="ko-KR" sz="100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   ** </a:t>
            </a:r>
            <a:r>
              <a:rPr kumimoji="0" lang="ko-KR" altLang="en-US" sz="100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검사금액</a:t>
            </a:r>
            <a:r>
              <a:rPr kumimoji="0" lang="en-US" altLang="ko-KR" sz="100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후불금액 설정은 </a:t>
            </a:r>
            <a:r>
              <a:rPr kumimoji="0" lang="en-US" altLang="ko-KR" sz="100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“</a:t>
            </a:r>
            <a:r>
              <a:rPr kumimoji="0" lang="ko-KR" altLang="en-US" sz="100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묶음코드</a:t>
            </a:r>
            <a:r>
              <a:rPr kumimoji="0" lang="en-US" altLang="ko-KR" sz="100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” </a:t>
            </a:r>
            <a:r>
              <a:rPr kumimoji="0" lang="ko-KR" altLang="en-US" sz="100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메뉴에서 설정 할 수 있습니다</a:t>
            </a:r>
            <a:r>
              <a:rPr kumimoji="0" lang="en-US" altLang="ko-KR" sz="100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   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할인구분에서 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F1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키를 누르면 할인 종류 화면이</a:t>
            </a:r>
            <a:endParaRPr kumimoji="0" lang="en-US" altLang="ko-KR" sz="100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	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나타납니다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. (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더블클릭 혹은 엔터키로 선택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.)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감면금액 혹은 감면할인율을 입력합니다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수납구분에서 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F1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키를 누르면 수납 종류 화면이</a:t>
            </a:r>
            <a:endParaRPr kumimoji="0" lang="en-US" altLang="ko-KR" sz="100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	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나타납니다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영수증 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“Y” : 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저장버튼 클릭과 동시에 설정된 프린터에서 영수증이 출력됩니다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. (“N” : 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영수증 미출력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)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수납금액란에는 최종적으로 할인액과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감면액을</a:t>
            </a:r>
            <a:endParaRPr kumimoji="0" lang="en-US" altLang="ko-KR" sz="100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	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제외한 금액이 자동으로 나타납니다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수납 정보를 맞게 입력한 뒤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저장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(F3)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버튼을 클릭하면 수납정보가 저장됩니다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.</a:t>
            </a:r>
          </a:p>
        </p:txBody>
      </p:sp>
      <p:sp>
        <p:nvSpPr>
          <p:cNvPr id="9" name="직사각형 8"/>
          <p:cNvSpPr/>
          <p:nvPr/>
        </p:nvSpPr>
        <p:spPr>
          <a:xfrm>
            <a:off x="2128838" y="3786188"/>
            <a:ext cx="1487487" cy="192087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22537" name="TextBox 59"/>
          <p:cNvSpPr txBox="1">
            <a:spLocks noChangeArrowheads="1"/>
          </p:cNvSpPr>
          <p:nvPr/>
        </p:nvSpPr>
        <p:spPr bwMode="auto">
          <a:xfrm>
            <a:off x="415925" y="1052513"/>
            <a:ext cx="4965700" cy="46166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kumimoji="0" lang="en-US" altLang="ko-KR" sz="1200" dirty="0">
                <a:latin typeface="나눔고딕OTF" pitchFamily="34" charset="-127"/>
                <a:ea typeface="나눔고딕OTF" pitchFamily="34" charset="-127"/>
              </a:rPr>
              <a:t> - </a:t>
            </a:r>
            <a:r>
              <a:rPr kumimoji="0" lang="ko-KR" altLang="en-US" sz="1200" dirty="0">
                <a:latin typeface="나눔고딕OTF" pitchFamily="34" charset="-127"/>
                <a:ea typeface="나눔고딕OTF" pitchFamily="34" charset="-127"/>
              </a:rPr>
              <a:t>선 수납</a:t>
            </a:r>
            <a:r>
              <a:rPr kumimoji="0" lang="en-US" altLang="ko-KR" sz="1200" dirty="0">
                <a:latin typeface="나눔고딕OTF" pitchFamily="34" charset="-127"/>
                <a:ea typeface="나눔고딕OTF" pitchFamily="34" charset="-127"/>
              </a:rPr>
              <a:t>(</a:t>
            </a:r>
            <a:r>
              <a:rPr kumimoji="0" lang="ko-KR" altLang="en-US" sz="1200" dirty="0">
                <a:latin typeface="나눔고딕OTF" pitchFamily="34" charset="-127"/>
                <a:ea typeface="나눔고딕OTF" pitchFamily="34" charset="-127"/>
              </a:rPr>
              <a:t>접수화면에서 접수와 동시에 수납할 경우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)</a:t>
            </a:r>
          </a:p>
          <a:p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en-US" altLang="ko-KR" sz="12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* </a:t>
            </a:r>
            <a:r>
              <a:rPr kumimoji="0" lang="ko-KR" altLang="en-US" sz="1200" dirty="0" err="1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아름누리</a:t>
            </a:r>
            <a:r>
              <a:rPr kumimoji="0" lang="ko-KR" altLang="en-US" sz="12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 프로그램에서 수납하지 않는 경우 사용하지 않습니다</a:t>
            </a:r>
            <a:r>
              <a:rPr kumimoji="0" lang="en-US" altLang="ko-KR" sz="12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.</a:t>
            </a:r>
            <a:endParaRPr kumimoji="0" lang="en-US" altLang="ko-KR" sz="1200" dirty="0">
              <a:latin typeface="나눔고딕OTF" pitchFamily="34" charset="-127"/>
              <a:ea typeface="나눔고딕OTF" pitchFamily="34" charset="-127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554" name="Picture 3"/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595313" y="1500188"/>
            <a:ext cx="4714875" cy="46958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6" name="TextBox 5"/>
          <p:cNvSpPr txBox="1"/>
          <p:nvPr/>
        </p:nvSpPr>
        <p:spPr>
          <a:xfrm>
            <a:off x="1497013" y="282575"/>
            <a:ext cx="617537" cy="3698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kumimoji="0" lang="ko-KR" altLang="en-US" dirty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수납</a:t>
            </a:r>
          </a:p>
        </p:txBody>
      </p:sp>
      <p:sp>
        <p:nvSpPr>
          <p:cNvPr id="23556" name="TextBox 4"/>
          <p:cNvSpPr txBox="1">
            <a:spLocks noChangeArrowheads="1"/>
          </p:cNvSpPr>
          <p:nvPr/>
        </p:nvSpPr>
        <p:spPr bwMode="auto">
          <a:xfrm>
            <a:off x="381000" y="785813"/>
            <a:ext cx="1409700" cy="3079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kumimoji="0" lang="en-US" altLang="ko-KR" sz="1400" b="1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400" b="1">
                <a:latin typeface="나눔고딕OTF" pitchFamily="34" charset="-127"/>
                <a:ea typeface="나눔고딕OTF" pitchFamily="34" charset="-127"/>
              </a:rPr>
              <a:t>인적 수정 화면</a:t>
            </a:r>
          </a:p>
        </p:txBody>
      </p:sp>
      <p:sp>
        <p:nvSpPr>
          <p:cNvPr id="11" name="직사각형 10"/>
          <p:cNvSpPr/>
          <p:nvPr/>
        </p:nvSpPr>
        <p:spPr>
          <a:xfrm>
            <a:off x="3810000" y="2286000"/>
            <a:ext cx="1484313" cy="2401888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23558" name="TextBox 4"/>
          <p:cNvSpPr txBox="1">
            <a:spLocks noChangeArrowheads="1"/>
          </p:cNvSpPr>
          <p:nvPr/>
        </p:nvSpPr>
        <p:spPr bwMode="auto">
          <a:xfrm>
            <a:off x="5738813" y="1593850"/>
            <a:ext cx="3894137" cy="267811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 marL="228600" indent="-228600">
              <a:lnSpc>
                <a:spcPct val="120000"/>
              </a:lnSpc>
              <a:buFontTx/>
              <a:buAutoNum type="arabicParenR" startAt="2"/>
            </a:pPr>
            <a:r>
              <a:rPr kumimoji="0" lang="ko-KR" altLang="en-US" sz="1000" b="1">
                <a:latin typeface="나눔고딕OTF" pitchFamily="34" charset="-127"/>
                <a:ea typeface="나눔고딕OTF" pitchFamily="34" charset="-127"/>
              </a:rPr>
              <a:t>후 수납</a:t>
            </a:r>
            <a:endParaRPr kumimoji="0" lang="en-US" altLang="ko-KR" sz="1000" b="1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b="1">
                <a:latin typeface="나눔고딕OTF" pitchFamily="34" charset="-127"/>
                <a:ea typeface="나눔고딕OTF" pitchFamily="34" charset="-127"/>
              </a:rPr>
              <a:t>   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앨리스 메인 화면의 접수자 조회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화면의 접수자를 더블클릭 하거나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접수자를 선택한 뒤 수정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(F4) 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버튼을 클릭하면 해당 접수자의 </a:t>
            </a:r>
            <a:endParaRPr kumimoji="0" lang="en-US" altLang="ko-KR" sz="100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	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인적 수정화면이 나타납니다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수정 화면 우측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(1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번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)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에 수납관련 정보가 나타납니다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하단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(2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번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)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에 수납 내역이 표시됩니다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기본적으로 총 수납금액이 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“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수납금액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”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에 표시되며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다 받지 않을</a:t>
            </a:r>
            <a:endParaRPr kumimoji="0" lang="en-US" altLang="ko-KR" sz="100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	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경우에 단계적으로 저장 가능합니다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수납 내역을 추가하려면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, “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추가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” 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버튼을 클릭한 뒤 수납 정보를</a:t>
            </a:r>
            <a:endParaRPr kumimoji="0" lang="en-US" altLang="ko-KR" sz="100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	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입력합니다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수납 정보 입력 방법은 선 수납과 동일하고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, “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저장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” 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버튼을 클릭</a:t>
            </a:r>
            <a:endParaRPr kumimoji="0" lang="en-US" altLang="ko-KR" sz="100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	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하여 수납정보를 저장합니다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수납 내역 화면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(2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번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)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에서 수납내역을 선택한 뒤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, “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영수증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” 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버튼을 클릭하면 영수증을 출력합니다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.</a:t>
            </a:r>
          </a:p>
        </p:txBody>
      </p:sp>
      <p:sp>
        <p:nvSpPr>
          <p:cNvPr id="23559" name="TextBox 59"/>
          <p:cNvSpPr txBox="1">
            <a:spLocks noChangeArrowheads="1"/>
          </p:cNvSpPr>
          <p:nvPr/>
        </p:nvSpPr>
        <p:spPr bwMode="auto">
          <a:xfrm>
            <a:off x="415925" y="1052513"/>
            <a:ext cx="4965700" cy="2762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kumimoji="0" lang="en-US" altLang="ko-KR" sz="1200">
                <a:latin typeface="나눔고딕OTF" pitchFamily="34" charset="-127"/>
                <a:ea typeface="나눔고딕OTF" pitchFamily="34" charset="-127"/>
              </a:rPr>
              <a:t> - </a:t>
            </a:r>
            <a:r>
              <a:rPr kumimoji="0" lang="ko-KR" altLang="en-US" sz="1200">
                <a:latin typeface="나눔고딕OTF" pitchFamily="34" charset="-127"/>
                <a:ea typeface="나눔고딕OTF" pitchFamily="34" charset="-127"/>
              </a:rPr>
              <a:t>후 수납</a:t>
            </a:r>
            <a:r>
              <a:rPr kumimoji="0" lang="en-US" altLang="ko-KR" sz="1200">
                <a:latin typeface="나눔고딕OTF" pitchFamily="34" charset="-127"/>
                <a:ea typeface="나눔고딕OTF" pitchFamily="34" charset="-127"/>
              </a:rPr>
              <a:t>(</a:t>
            </a:r>
            <a:r>
              <a:rPr kumimoji="0" lang="ko-KR" altLang="en-US" sz="1200">
                <a:latin typeface="나눔고딕OTF" pitchFamily="34" charset="-127"/>
                <a:ea typeface="나눔고딕OTF" pitchFamily="34" charset="-127"/>
              </a:rPr>
              <a:t>검진 후 수납할 경우</a:t>
            </a:r>
            <a:r>
              <a:rPr kumimoji="0" lang="en-US" altLang="ko-KR" sz="1200">
                <a:latin typeface="나눔고딕OTF" pitchFamily="34" charset="-127"/>
                <a:ea typeface="나눔고딕OTF" pitchFamily="34" charset="-127"/>
              </a:rPr>
              <a:t>)</a:t>
            </a:r>
          </a:p>
        </p:txBody>
      </p:sp>
      <p:sp>
        <p:nvSpPr>
          <p:cNvPr id="13" name="직사각형 12"/>
          <p:cNvSpPr/>
          <p:nvPr/>
        </p:nvSpPr>
        <p:spPr>
          <a:xfrm>
            <a:off x="3810000" y="4687888"/>
            <a:ext cx="1484313" cy="955675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4" name="타원 13"/>
          <p:cNvSpPr/>
          <p:nvPr/>
        </p:nvSpPr>
        <p:spPr>
          <a:xfrm>
            <a:off x="3609975" y="2071688"/>
            <a:ext cx="285750" cy="285750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600" dirty="0">
                <a:solidFill>
                  <a:schemeClr val="tx1"/>
                </a:solidFill>
              </a:rPr>
              <a:t>1</a:t>
            </a:r>
            <a:endParaRPr lang="ko-KR" altLang="en-US" sz="1600" dirty="0">
              <a:solidFill>
                <a:schemeClr val="tx1"/>
              </a:solidFill>
            </a:endParaRPr>
          </a:p>
        </p:txBody>
      </p:sp>
      <p:sp>
        <p:nvSpPr>
          <p:cNvPr id="15" name="타원 14"/>
          <p:cNvSpPr/>
          <p:nvPr/>
        </p:nvSpPr>
        <p:spPr>
          <a:xfrm>
            <a:off x="3546475" y="4500563"/>
            <a:ext cx="285750" cy="285750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600" dirty="0">
                <a:solidFill>
                  <a:schemeClr val="tx1"/>
                </a:solidFill>
              </a:rPr>
              <a:t>2</a:t>
            </a:r>
            <a:endParaRPr lang="ko-KR" altLang="en-US" sz="1600" dirty="0">
              <a:solidFill>
                <a:schemeClr val="tx1"/>
              </a:solidFill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578" name="Picture 2"/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595313" y="1473200"/>
            <a:ext cx="4687887" cy="46704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6" name="TextBox 5"/>
          <p:cNvSpPr txBox="1"/>
          <p:nvPr/>
        </p:nvSpPr>
        <p:spPr>
          <a:xfrm>
            <a:off x="1497013" y="282575"/>
            <a:ext cx="617537" cy="3698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kumimoji="0" lang="ko-KR" altLang="en-US" dirty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수납</a:t>
            </a:r>
          </a:p>
        </p:txBody>
      </p:sp>
      <p:sp>
        <p:nvSpPr>
          <p:cNvPr id="24580" name="TextBox 4"/>
          <p:cNvSpPr txBox="1">
            <a:spLocks noChangeArrowheads="1"/>
          </p:cNvSpPr>
          <p:nvPr/>
        </p:nvSpPr>
        <p:spPr bwMode="auto">
          <a:xfrm>
            <a:off x="381000" y="785813"/>
            <a:ext cx="1409700" cy="3079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kumimoji="0" lang="en-US" altLang="ko-KR" sz="1400" b="1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400" b="1">
                <a:latin typeface="나눔고딕OTF" pitchFamily="34" charset="-127"/>
                <a:ea typeface="나눔고딕OTF" pitchFamily="34" charset="-127"/>
              </a:rPr>
              <a:t>인적 수정 화면</a:t>
            </a:r>
          </a:p>
        </p:txBody>
      </p:sp>
      <p:sp>
        <p:nvSpPr>
          <p:cNvPr id="11" name="직사각형 10"/>
          <p:cNvSpPr/>
          <p:nvPr/>
        </p:nvSpPr>
        <p:spPr>
          <a:xfrm>
            <a:off x="3810000" y="3929063"/>
            <a:ext cx="857250" cy="142875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24582" name="TextBox 4"/>
          <p:cNvSpPr txBox="1">
            <a:spLocks noChangeArrowheads="1"/>
          </p:cNvSpPr>
          <p:nvPr/>
        </p:nvSpPr>
        <p:spPr bwMode="auto">
          <a:xfrm>
            <a:off x="5738813" y="1593850"/>
            <a:ext cx="3894137" cy="12001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 marL="228600" indent="-228600">
              <a:lnSpc>
                <a:spcPct val="120000"/>
              </a:lnSpc>
              <a:buFontTx/>
              <a:buAutoNum type="arabicParenR" startAt="3"/>
            </a:pPr>
            <a:r>
              <a:rPr kumimoji="0" lang="ko-KR" altLang="en-US" sz="1000" b="1">
                <a:latin typeface="나눔고딕OTF" pitchFamily="34" charset="-127"/>
                <a:ea typeface="나눔고딕OTF" pitchFamily="34" charset="-127"/>
              </a:rPr>
              <a:t>환불</a:t>
            </a:r>
            <a:endParaRPr kumimoji="0" lang="en-US" altLang="ko-KR" sz="1000" b="1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b="1">
                <a:latin typeface="나눔고딕OTF" pitchFamily="34" charset="-127"/>
                <a:ea typeface="나눔고딕OTF" pitchFamily="34" charset="-127"/>
              </a:rPr>
              <a:t>   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- “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검사금액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”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란에 </a:t>
            </a:r>
            <a:r>
              <a:rPr kumimoji="0" lang="ko-KR" altLang="en-US" sz="1000" u="sng">
                <a:latin typeface="나눔고딕OTF" pitchFamily="34" charset="-127"/>
                <a:ea typeface="나눔고딕OTF" pitchFamily="34" charset="-127"/>
              </a:rPr>
              <a:t>총 검진금액에서 환불금액을 뺀 금액을 입력합니다</a:t>
            </a:r>
            <a:r>
              <a:rPr kumimoji="0" lang="en-US" altLang="ko-KR" sz="1000" u="sng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   - “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추가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” 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버튼을 클릭하면 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“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수납금액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”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란에 환불액이 나타납니다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   - “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환불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”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에 체크하고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수납구분을 입력한 뒤 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“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저장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” 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버튼을 클릭하면 환불 처리가 완료됩니다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   </a:t>
            </a:r>
            <a:r>
              <a:rPr kumimoji="0" lang="en-US" altLang="ko-KR" sz="100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* </a:t>
            </a:r>
            <a:r>
              <a:rPr kumimoji="0" lang="ko-KR" altLang="en-US" sz="100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수납할 때 설정한 할인 및 감면 금액 정보 초기화 여부를 묻습니다</a:t>
            </a:r>
            <a:r>
              <a:rPr kumimoji="0" lang="en-US" altLang="ko-KR" sz="100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.</a:t>
            </a:r>
            <a:endParaRPr kumimoji="0" lang="en-US" altLang="ko-KR" sz="100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3" name="직사각형 12"/>
          <p:cNvSpPr/>
          <p:nvPr/>
        </p:nvSpPr>
        <p:spPr>
          <a:xfrm>
            <a:off x="1350963" y="3740150"/>
            <a:ext cx="857250" cy="169863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4" name="타원 13"/>
          <p:cNvSpPr/>
          <p:nvPr/>
        </p:nvSpPr>
        <p:spPr>
          <a:xfrm>
            <a:off x="1222375" y="3587750"/>
            <a:ext cx="214313" cy="214313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400" dirty="0">
                <a:solidFill>
                  <a:schemeClr val="tx1"/>
                </a:solidFill>
              </a:rPr>
              <a:t>1</a:t>
            </a:r>
          </a:p>
        </p:txBody>
      </p:sp>
      <p:sp>
        <p:nvSpPr>
          <p:cNvPr id="12" name="타원 11"/>
          <p:cNvSpPr/>
          <p:nvPr/>
        </p:nvSpPr>
        <p:spPr>
          <a:xfrm>
            <a:off x="3667125" y="3786188"/>
            <a:ext cx="214313" cy="214312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400" dirty="0">
                <a:solidFill>
                  <a:schemeClr val="tx1"/>
                </a:solidFill>
              </a:rPr>
              <a:t>2</a:t>
            </a:r>
          </a:p>
        </p:txBody>
      </p:sp>
      <p:sp>
        <p:nvSpPr>
          <p:cNvPr id="16" name="직사각형 15"/>
          <p:cNvSpPr/>
          <p:nvPr/>
        </p:nvSpPr>
        <p:spPr>
          <a:xfrm>
            <a:off x="4826000" y="3668713"/>
            <a:ext cx="428625" cy="142875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7" name="타원 16"/>
          <p:cNvSpPr/>
          <p:nvPr/>
        </p:nvSpPr>
        <p:spPr>
          <a:xfrm>
            <a:off x="4667250" y="3500438"/>
            <a:ext cx="214313" cy="214312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400" dirty="0">
                <a:solidFill>
                  <a:schemeClr val="tx1"/>
                </a:solidFill>
              </a:rPr>
              <a:t>3</a:t>
            </a:r>
          </a:p>
        </p:txBody>
      </p:sp>
      <p:pic>
        <p:nvPicPr>
          <p:cNvPr id="24588" name="Picture 3"/>
          <p:cNvPicPr>
            <a:picLocks noChangeAspect="1" noChangeArrowheads="1"/>
          </p:cNvPicPr>
          <p:nvPr/>
        </p:nvPicPr>
        <p:blipFill>
          <a:blip r:embed="rId3"/>
          <a:srcRect/>
          <a:stretch>
            <a:fillRect/>
          </a:stretch>
        </p:blipFill>
        <p:spPr bwMode="auto">
          <a:xfrm>
            <a:off x="6024570" y="3214686"/>
            <a:ext cx="2857500" cy="1196975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디자인 사용자 지정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lnDef>
      <a:spPr>
        <a:ln w="19050">
          <a:solidFill>
            <a:srgbClr val="7030A0"/>
          </a:solidFill>
          <a:tailEnd type="stealth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9392</TotalTime>
  <Words>1952</Words>
  <Application>Microsoft Office PowerPoint</Application>
  <PresentationFormat>A4 용지(210x297mm)</PresentationFormat>
  <Paragraphs>395</Paragraphs>
  <Slides>29</Slides>
  <Notes>0</Notes>
  <HiddenSlides>0</HiddenSlides>
  <MMClips>0</MMClips>
  <ScaleCrop>false</ScaleCrop>
  <HeadingPairs>
    <vt:vector size="4" baseType="variant">
      <vt:variant>
        <vt:lpstr>테마</vt:lpstr>
      </vt:variant>
      <vt:variant>
        <vt:i4>1</vt:i4>
      </vt:variant>
      <vt:variant>
        <vt:lpstr>슬라이드 제목</vt:lpstr>
      </vt:variant>
      <vt:variant>
        <vt:i4>29</vt:i4>
      </vt:variant>
    </vt:vector>
  </HeadingPairs>
  <TitlesOfParts>
    <vt:vector size="30" baseType="lpstr">
      <vt:lpstr>디자인 사용자 지정</vt:lpstr>
      <vt:lpstr>슬라이드 0</vt:lpstr>
      <vt:lpstr>슬라이드 1</vt:lpstr>
      <vt:lpstr>슬라이드 2</vt:lpstr>
      <vt:lpstr>슬라이드 3</vt:lpstr>
      <vt:lpstr>슬라이드 4</vt:lpstr>
      <vt:lpstr>슬라이드 5</vt:lpstr>
      <vt:lpstr>슬라이드 6</vt:lpstr>
      <vt:lpstr>슬라이드 7</vt:lpstr>
      <vt:lpstr>슬라이드 8</vt:lpstr>
      <vt:lpstr>슬라이드 9</vt:lpstr>
      <vt:lpstr>슬라이드 10</vt:lpstr>
      <vt:lpstr>슬라이드 11</vt:lpstr>
      <vt:lpstr>슬라이드 12</vt:lpstr>
      <vt:lpstr>슬라이드 13</vt:lpstr>
      <vt:lpstr>슬라이드 14</vt:lpstr>
      <vt:lpstr>슬라이드 15</vt:lpstr>
      <vt:lpstr>슬라이드 16</vt:lpstr>
      <vt:lpstr>슬라이드 17</vt:lpstr>
      <vt:lpstr>슬라이드 18</vt:lpstr>
      <vt:lpstr>슬라이드 19</vt:lpstr>
      <vt:lpstr>슬라이드 20</vt:lpstr>
      <vt:lpstr>슬라이드 21</vt:lpstr>
      <vt:lpstr>슬라이드 22</vt:lpstr>
      <vt:lpstr>슬라이드 23</vt:lpstr>
      <vt:lpstr>슬라이드 24</vt:lpstr>
      <vt:lpstr>슬라이드 25</vt:lpstr>
      <vt:lpstr>슬라이드 26</vt:lpstr>
      <vt:lpstr>슬라이드 27</vt:lpstr>
      <vt:lpstr>슬라이드 28</vt:lpstr>
    </vt:vector>
  </TitlesOfParts>
  <Company>Microsoft Corporation</Company>
  <LinksUpToDate>false</LinksUpToDate>
  <SharedDoc>false</SharedDoc>
  <HyperlinksChanged>false</HyperlinksChanged>
  <AppVersion>12.0000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슬라이드 1</dc:title>
  <dc:creator>Registered User</dc:creator>
  <cp:lastModifiedBy>mchnca</cp:lastModifiedBy>
  <cp:revision>908</cp:revision>
  <dcterms:created xsi:type="dcterms:W3CDTF">2015-12-03T08:16:51Z</dcterms:created>
  <dcterms:modified xsi:type="dcterms:W3CDTF">2017-02-15T15:44:18Z</dcterms:modified>
</cp:coreProperties>
</file>