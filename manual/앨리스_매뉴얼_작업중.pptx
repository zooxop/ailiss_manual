
<file path=[Content_Types].xml><?xml version="1.0" encoding="utf-8"?>
<Types xmlns="http://schemas.openxmlformats.org/package/2006/content-types">
  <Override PartName="/ppt/slides/slide6.xml" ContentType="application/vnd.openxmlformats-officedocument.presentationml.slide+xml"/>
  <Override PartName="/ppt/slides/slide29.xml" ContentType="application/vnd.openxmlformats-officedocument.presentationml.slide+xml"/>
  <Override PartName="/ppt/slides/slide38.xml" ContentType="application/vnd.openxmlformats-officedocument.presentationml.slide+xml"/>
  <Override PartName="/ppt/slideLayouts/slideLayout8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4.xml" ContentType="application/vnd.openxmlformats-officedocument.presentationml.slide+xml"/>
  <Override PartName="/ppt/slides/slide18.xml" ContentType="application/vnd.openxmlformats-officedocument.presentationml.slide+xml"/>
  <Override PartName="/ppt/slides/slide27.xml" ContentType="application/vnd.openxmlformats-officedocument.presentationml.slide+xml"/>
  <Override PartName="/ppt/slides/slide36.xml" ContentType="application/vnd.openxmlformats-officedocument.presentationml.slide+xml"/>
  <Override PartName="/ppt/slides/slide45.xml" ContentType="application/vnd.openxmlformats-officedocument.presentationml.slide+xml"/>
  <Override PartName="/ppt/slideLayouts/slideLayout4.xml" ContentType="application/vnd.openxmlformats-officedocument.presentationml.slideLayout+xml"/>
  <Override PartName="/ppt/slideLayouts/slideLayout6.xml" ContentType="application/vnd.openxmlformats-officedocument.presentationml.slideLayout+xml"/>
  <Override PartName="/ppt/theme/theme3.xml" ContentType="application/vnd.openxmlformats-officedocument.theme+xml"/>
  <Override PartName="/ppt/slides/slide2.xml" ContentType="application/vnd.openxmlformats-officedocument.presentationml.slide+xml"/>
  <Override PartName="/ppt/slides/slide16.xml" ContentType="application/vnd.openxmlformats-officedocument.presentationml.slide+xml"/>
  <Override PartName="/ppt/slides/slide25.xml" ContentType="application/vnd.openxmlformats-officedocument.presentationml.slide+xml"/>
  <Override PartName="/ppt/slides/slide34.xml" ContentType="application/vnd.openxmlformats-officedocument.presentationml.slide+xml"/>
  <Override PartName="/ppt/slides/slide43.xml" ContentType="application/vnd.openxmlformats-officedocument.presentationml.slide+xml"/>
  <Override PartName="/ppt/theme/theme1.xml" ContentType="application/vnd.openxmlformats-officedocument.theme+xml"/>
  <Override PartName="/ppt/slideLayouts/slideLayout2.xml" ContentType="application/vnd.openxmlformats-officedocument.presentationml.slideLayout+xml"/>
  <Default Extension="rels" ContentType="application/vnd.openxmlformats-package.relationships+xml"/>
  <Default Extension="xml" ContentType="application/xml"/>
  <Override PartName="/ppt/slides/slide14.xml" ContentType="application/vnd.openxmlformats-officedocument.presentationml.slide+xml"/>
  <Override PartName="/ppt/slides/slide23.xml" ContentType="application/vnd.openxmlformats-officedocument.presentationml.slide+xml"/>
  <Override PartName="/ppt/slides/slide32.xml" ContentType="application/vnd.openxmlformats-officedocument.presentationml.slide+xml"/>
  <Override PartName="/ppt/slides/slide41.xml" ContentType="application/vnd.openxmlformats-officedocument.presentationml.slide+xml"/>
  <Override PartName="/ppt/notesMasters/notesMaster1.xml" ContentType="application/vnd.openxmlformats-officedocument.presentationml.notesMaster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30.xml" ContentType="application/vnd.openxmlformats-officedocument.presentationml.slide+xml"/>
  <Override PartName="/ppt/slides/slide40.xml" ContentType="application/vnd.openxmlformats-officedocument.presentationml.slide+xml"/>
  <Override PartName="/ppt/tableStyles.xml" ContentType="application/vnd.openxmlformats-officedocument.presentationml.tableStyles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handoutMasters/handoutMaster1.xml" ContentType="application/vnd.openxmlformats-officedocument.presentationml.handoutMaster+xml"/>
  <Override PartName="/ppt/viewProps.xml" ContentType="application/vnd.openxmlformats-officedocument.presentationml.viewProps+xml"/>
  <Override PartName="/ppt/slideLayouts/slideLayout9.xml" ContentType="application/vnd.openxmlformats-officedocument.presentationml.slideLayout+xml"/>
  <Override PartName="/docProps/core.xml" ContentType="application/vnd.openxmlformats-package.core-properties+xml"/>
  <Override PartName="/ppt/slides/slide5.xml" ContentType="application/vnd.openxmlformats-officedocument.presentationml.slide+xml"/>
  <Override PartName="/ppt/slides/slide19.xml" ContentType="application/vnd.openxmlformats-officedocument.presentationml.slide+xml"/>
  <Override PartName="/ppt/slides/slide28.xml" ContentType="application/vnd.openxmlformats-officedocument.presentationml.slide+xml"/>
  <Override PartName="/ppt/slides/slide39.xml" ContentType="application/vnd.openxmlformats-officedocument.presentationml.slide+xml"/>
  <Override PartName="/ppt/slideLayouts/slideLayout7.xml" ContentType="application/vnd.openxmlformats-officedocument.presentationml.slideLayout+xml"/>
  <Default Extension="png" ContentType="image/png"/>
  <Override PartName="/ppt/slides/slide3.xml" ContentType="application/vnd.openxmlformats-officedocument.presentationml.slide+xml"/>
  <Override PartName="/ppt/slides/slide17.xml" ContentType="application/vnd.openxmlformats-officedocument.presentationml.slide+xml"/>
  <Override PartName="/ppt/slides/slide26.xml" ContentType="application/vnd.openxmlformats-officedocument.presentationml.slide+xml"/>
  <Override PartName="/ppt/slides/slide37.xml" ContentType="application/vnd.openxmlformats-officedocument.presentationml.slide+xml"/>
  <Override PartName="/ppt/presProps.xml" ContentType="application/vnd.openxmlformats-officedocument.presentationml.presProps+xml"/>
  <Override PartName="/ppt/slideLayouts/slideLayout5.xml" ContentType="application/vnd.openxmlformats-officedocument.presentationml.slideLayout+xml"/>
  <Override PartName="/ppt/theme/theme2.xml" ContentType="application/vnd.openxmlformats-officedocument.theme+xml"/>
  <Override PartName="/ppt/slides/slide1.xml" ContentType="application/vnd.openxmlformats-officedocument.presentationml.slide+xml"/>
  <Override PartName="/ppt/slides/slide15.xml" ContentType="application/vnd.openxmlformats-officedocument.presentationml.slide+xml"/>
  <Override PartName="/ppt/slides/slide24.xml" ContentType="application/vnd.openxmlformats-officedocument.presentationml.slide+xml"/>
  <Override PartName="/ppt/slides/slide33.xml" ContentType="application/vnd.openxmlformats-officedocument.presentationml.slide+xml"/>
  <Override PartName="/ppt/slides/slide35.xml" ContentType="application/vnd.openxmlformats-officedocument.presentationml.slide+xml"/>
  <Override PartName="/ppt/slides/slide44.xml" ContentType="application/vnd.openxmlformats-officedocument.presentationml.slide+xml"/>
  <Override PartName="/ppt/slideLayouts/slideLayout3.xml" ContentType="application/vnd.openxmlformats-officedocument.presentationml.slideLayout+xml"/>
  <Default Extension="jpeg" ContentType="image/jpeg"/>
  <Override PartName="/ppt/presentation.xml" ContentType="application/vnd.openxmlformats-officedocument.presentationml.presentation.main+xml"/>
  <Override PartName="/ppt/slides/slide13.xml" ContentType="application/vnd.openxmlformats-officedocument.presentationml.slide+xml"/>
  <Override PartName="/ppt/slides/slide22.xml" ContentType="application/vnd.openxmlformats-officedocument.presentationml.slide+xml"/>
  <Override PartName="/ppt/slides/slide31.xml" ContentType="application/vnd.openxmlformats-officedocument.presentationml.slide+xml"/>
  <Override PartName="/ppt/slides/slide42.xml" ContentType="application/vnd.openxmlformats-officedocument.presentationml.slide+xml"/>
  <Override PartName="/ppt/slideLayouts/slideLayout1.xml" ContentType="application/vnd.openxmlformats-officedocument.presentationml.slideLayout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firstSlideNum="0" saveSubsetFonts="1">
  <p:sldMasterIdLst>
    <p:sldMasterId id="2147483660" r:id="rId1"/>
  </p:sldMasterIdLst>
  <p:notesMasterIdLst>
    <p:notesMasterId r:id="rId47"/>
  </p:notesMasterIdLst>
  <p:handoutMasterIdLst>
    <p:handoutMasterId r:id="rId48"/>
  </p:handoutMasterIdLst>
  <p:sldIdLst>
    <p:sldId id="400" r:id="rId2"/>
    <p:sldId id="258" r:id="rId3"/>
    <p:sldId id="403" r:id="rId4"/>
    <p:sldId id="405" r:id="rId5"/>
    <p:sldId id="406" r:id="rId6"/>
    <p:sldId id="407" r:id="rId7"/>
    <p:sldId id="408" r:id="rId8"/>
    <p:sldId id="416" r:id="rId9"/>
    <p:sldId id="417" r:id="rId10"/>
    <p:sldId id="420" r:id="rId11"/>
    <p:sldId id="418" r:id="rId12"/>
    <p:sldId id="419" r:id="rId13"/>
    <p:sldId id="424" r:id="rId14"/>
    <p:sldId id="421" r:id="rId15"/>
    <p:sldId id="422" r:id="rId16"/>
    <p:sldId id="423" r:id="rId17"/>
    <p:sldId id="426" r:id="rId18"/>
    <p:sldId id="413" r:id="rId19"/>
    <p:sldId id="414" r:id="rId20"/>
    <p:sldId id="425" r:id="rId21"/>
    <p:sldId id="427" r:id="rId22"/>
    <p:sldId id="428" r:id="rId23"/>
    <p:sldId id="433" r:id="rId24"/>
    <p:sldId id="435" r:id="rId25"/>
    <p:sldId id="437" r:id="rId26"/>
    <p:sldId id="438" r:id="rId27"/>
    <p:sldId id="439" r:id="rId28"/>
    <p:sldId id="442" r:id="rId29"/>
    <p:sldId id="443" r:id="rId30"/>
    <p:sldId id="444" r:id="rId31"/>
    <p:sldId id="445" r:id="rId32"/>
    <p:sldId id="441" r:id="rId33"/>
    <p:sldId id="446" r:id="rId34"/>
    <p:sldId id="447" r:id="rId35"/>
    <p:sldId id="448" r:id="rId36"/>
    <p:sldId id="449" r:id="rId37"/>
    <p:sldId id="450" r:id="rId38"/>
    <p:sldId id="451" r:id="rId39"/>
    <p:sldId id="452" r:id="rId40"/>
    <p:sldId id="453" r:id="rId41"/>
    <p:sldId id="454" r:id="rId42"/>
    <p:sldId id="429" r:id="rId43"/>
    <p:sldId id="430" r:id="rId44"/>
    <p:sldId id="431" r:id="rId45"/>
    <p:sldId id="432" r:id="rId46"/>
  </p:sldIdLst>
  <p:sldSz cx="9906000" cy="6858000" type="A4"/>
  <p:notesSz cx="9939338" cy="6807200"/>
  <p:defaultTextStyle>
    <a:defPPr>
      <a:defRPr lang="ko-KR"/>
    </a:defPPr>
    <a:lvl1pPr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1pPr>
    <a:lvl2pPr marL="4572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2pPr>
    <a:lvl3pPr marL="9144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3pPr>
    <a:lvl4pPr marL="13716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4pPr>
    <a:lvl5pPr marL="1828800" algn="l" rtl="0" fontAlgn="base" latinLnBrk="1">
      <a:spcBef>
        <a:spcPct val="0"/>
      </a:spcBef>
      <a:spcAft>
        <a:spcPct val="0"/>
      </a:spcAft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5pPr>
    <a:lvl6pPr marL="22860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6pPr>
    <a:lvl7pPr marL="27432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7pPr>
    <a:lvl8pPr marL="32004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8pPr>
    <a:lvl9pPr marL="3657600" algn="l" defTabSz="914400" rtl="0" eaLnBrk="1" latinLnBrk="1" hangingPunct="1">
      <a:defRPr kumimoji="1" kern="1200">
        <a:solidFill>
          <a:schemeClr val="tx1"/>
        </a:solidFill>
        <a:latin typeface="굴림" charset="-127"/>
        <a:ea typeface="굴림" charset="-127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BED395"/>
  </p:clrMru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보통 스타일 2 - 강조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showOutlineIcons="0" horzBarState="maximized">
    <p:restoredLeft sz="6583" autoAdjust="0"/>
    <p:restoredTop sz="94660" autoAdjust="0"/>
  </p:normalViewPr>
  <p:slideViewPr>
    <p:cSldViewPr>
      <p:cViewPr varScale="1">
        <p:scale>
          <a:sx n="116" d="100"/>
          <a:sy n="116" d="100"/>
        </p:scale>
        <p:origin x="-1710" y="-96"/>
      </p:cViewPr>
      <p:guideLst>
        <p:guide orient="horz" pos="935"/>
        <p:guide pos="2712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notesViewPr>
    <p:cSldViewPr>
      <p:cViewPr varScale="1">
        <p:scale>
          <a:sx n="87" d="100"/>
          <a:sy n="87" d="100"/>
        </p:scale>
        <p:origin x="-1398" y="-84"/>
      </p:cViewPr>
      <p:guideLst>
        <p:guide orient="horz" pos="2144"/>
        <p:guide pos="3131"/>
      </p:guideLst>
    </p:cSldViewPr>
  </p:notesViewPr>
  <p:gridSpacing cx="73736200" cy="7373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notesMaster" Target="notesMasters/notesMaster1.xml"/><Relationship Id="rId50" Type="http://schemas.openxmlformats.org/officeDocument/2006/relationships/viewProps" Target="viewProps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slide" Target="slides/slide45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29" Type="http://schemas.openxmlformats.org/officeDocument/2006/relationships/slide" Target="slides/slide28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slide" Target="slides/slide44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presProps" Target="presProp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52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handoutMaster" Target="handoutMasters/handoutMaster1.xml"/><Relationship Id="rId8" Type="http://schemas.openxmlformats.org/officeDocument/2006/relationships/slide" Target="slides/slide7.xml"/><Relationship Id="rId51" Type="http://schemas.openxmlformats.org/officeDocument/2006/relationships/theme" Target="theme/theme1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quarter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664829D3-746C-492A-B535-74211852E1E7}" type="datetimeFigureOut">
              <a:rPr lang="ko-KR" altLang="en-US"/>
              <a:pPr>
                <a:defRPr/>
              </a:pPr>
              <a:t>2017-03-06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2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3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553BE64-0F3E-4521-8FAC-3E16D95B93C6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머리글 개체 틀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idx="1"/>
          </p:nvPr>
        </p:nvSpPr>
        <p:spPr>
          <a:xfrm>
            <a:off x="5630863" y="0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201DBAEE-90F3-4D60-8273-847FCCCA3E8E}" type="datetimeFigureOut">
              <a:rPr lang="ko-KR" altLang="en-US"/>
              <a:pPr>
                <a:defRPr/>
              </a:pPr>
              <a:t>2017-03-06</a:t>
            </a:fld>
            <a:endParaRPr lang="ko-KR" altLang="en-US"/>
          </a:p>
        </p:txBody>
      </p:sp>
      <p:sp>
        <p:nvSpPr>
          <p:cNvPr id="4" name="슬라이드 이미지 개체 틀 3"/>
          <p:cNvSpPr>
            <a:spLocks noGrp="1" noRot="1" noChangeAspect="1"/>
          </p:cNvSpPr>
          <p:nvPr>
            <p:ph type="sldImg" idx="2"/>
          </p:nvPr>
        </p:nvSpPr>
        <p:spPr>
          <a:xfrm>
            <a:off x="3125788" y="511175"/>
            <a:ext cx="3687762" cy="25527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pPr lvl="0"/>
            <a:endParaRPr lang="ko-KR" altLang="en-US" noProof="0"/>
          </a:p>
        </p:txBody>
      </p:sp>
      <p:sp>
        <p:nvSpPr>
          <p:cNvPr id="5" name="슬라이드 노트 개체 틀 4"/>
          <p:cNvSpPr>
            <a:spLocks noGrp="1"/>
          </p:cNvSpPr>
          <p:nvPr>
            <p:ph type="body" sz="quarter" idx="3"/>
          </p:nvPr>
        </p:nvSpPr>
        <p:spPr>
          <a:xfrm>
            <a:off x="993775" y="3233738"/>
            <a:ext cx="7951788" cy="3062287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ko-KR" altLang="en-US" noProof="0" smtClean="0"/>
              <a:t>마스터 텍스트 스타일을 편집합니다</a:t>
            </a:r>
          </a:p>
          <a:p>
            <a:pPr lvl="1"/>
            <a:r>
              <a:rPr lang="ko-KR" altLang="en-US" noProof="0" smtClean="0"/>
              <a:t>둘째 수준</a:t>
            </a:r>
          </a:p>
          <a:p>
            <a:pPr lvl="2"/>
            <a:r>
              <a:rPr lang="ko-KR" altLang="en-US" noProof="0" smtClean="0"/>
              <a:t>셋째 수준</a:t>
            </a:r>
          </a:p>
          <a:p>
            <a:pPr lvl="3"/>
            <a:r>
              <a:rPr lang="ko-KR" altLang="en-US" noProof="0" smtClean="0"/>
              <a:t>넷째 수준</a:t>
            </a:r>
          </a:p>
          <a:p>
            <a:pPr lvl="4"/>
            <a:r>
              <a:rPr lang="ko-KR" altLang="en-US" noProof="0" smtClean="0"/>
              <a:t>다섯째 수준</a:t>
            </a:r>
            <a:endParaRPr lang="ko-KR" altLang="en-US" noProof="0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4"/>
          </p:nvPr>
        </p:nvSpPr>
        <p:spPr>
          <a:xfrm>
            <a:off x="0" y="6465888"/>
            <a:ext cx="4306888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5"/>
          </p:nvPr>
        </p:nvSpPr>
        <p:spPr>
          <a:xfrm>
            <a:off x="5630863" y="6465888"/>
            <a:ext cx="4306887" cy="339725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 fontAlgn="auto">
              <a:spcBef>
                <a:spcPts val="0"/>
              </a:spcBef>
              <a:spcAft>
                <a:spcPts val="0"/>
              </a:spcAft>
              <a:defRPr kumimoji="0" sz="1200">
                <a:latin typeface="+mn-lt"/>
                <a:ea typeface="+mn-ea"/>
              </a:defRPr>
            </a:lvl1pPr>
          </a:lstStyle>
          <a:p>
            <a:pPr>
              <a:defRPr/>
            </a:pPr>
            <a:fld id="{3B4F24FA-447D-4D57-A2C3-B49BDDD23AAC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rtl="0" eaLnBrk="0" fontAlgn="base" latinLnBrk="1" hangingPunct="0">
      <a:spcBef>
        <a:spcPct val="30000"/>
      </a:spcBef>
      <a:spcAft>
        <a:spcPct val="0"/>
      </a:spcAft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1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제목 슬라이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ctrTitle"/>
          </p:nvPr>
        </p:nvSpPr>
        <p:spPr>
          <a:xfrm>
            <a:off x="742950" y="2130425"/>
            <a:ext cx="8420100" cy="1470025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부제목 2"/>
          <p:cNvSpPr>
            <a:spLocks noGrp="1"/>
          </p:cNvSpPr>
          <p:nvPr>
            <p:ph type="subTitle" idx="1"/>
          </p:nvPr>
        </p:nvSpPr>
        <p:spPr>
          <a:xfrm>
            <a:off x="1485900" y="3886200"/>
            <a:ext cx="6934200" cy="1752600"/>
          </a:xfrm>
          <a:prstGeom prst="rect">
            <a:avLst/>
          </a:prstGeo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ko-KR" altLang="en-US" smtClean="0"/>
              <a:t>마스터 부제목 스타일 편집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373B02-72D4-45CA-8A8B-078A0A57C420}" type="datetimeFigureOut">
              <a:rPr lang="ko-KR" altLang="en-US"/>
              <a:pPr>
                <a:defRPr/>
              </a:pPr>
              <a:t>2017-03-06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135E2F8-7F66-4A31-BC0B-8350CBE42872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제목 및 내용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495300" y="1600200"/>
            <a:ext cx="8915400" cy="4525963"/>
          </a:xfrm>
          <a:prstGeom prst="rect">
            <a:avLst/>
          </a:prstGeom>
        </p:spPr>
        <p:txBody>
          <a:bodyPr/>
          <a:lstStyle/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80834DD4-1401-4CFB-B596-A74DBD21BD00}" type="datetimeFigureOut">
              <a:rPr lang="ko-KR" altLang="en-US"/>
              <a:pPr>
                <a:defRPr/>
              </a:pPr>
              <a:t>2017-03-06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FF1D31D9-8EF5-43C9-ABB1-29ECDF9A69AF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구역 머리글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782638" y="4406900"/>
            <a:ext cx="8420100" cy="1362075"/>
          </a:xfrm>
          <a:prstGeom prst="rect">
            <a:avLst/>
          </a:prstGeo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782638" y="2906713"/>
            <a:ext cx="8420100" cy="1500187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날짜 개체 틀 3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B2806167-A31C-4F7D-A890-3769C8F747FC}" type="datetimeFigureOut">
              <a:rPr lang="ko-KR" altLang="en-US"/>
              <a:pPr>
                <a:defRPr/>
              </a:pPr>
              <a:t>2017-03-06</a:t>
            </a:fld>
            <a:endParaRPr lang="ko-KR" altLang="en-US"/>
          </a:p>
        </p:txBody>
      </p:sp>
      <p:sp>
        <p:nvSpPr>
          <p:cNvPr id="5" name="바닥글 개체 틀 4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6" name="슬라이드 번호 개체 틀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C462FC1-78CF-4BC4-9B12-73E516CFA42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콘텐츠 2개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sz="half" idx="1"/>
          </p:nvPr>
        </p:nvSpPr>
        <p:spPr>
          <a:xfrm>
            <a:off x="4953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5029200" y="1600200"/>
            <a:ext cx="4381500" cy="4525963"/>
          </a:xfrm>
          <a:prstGeom prst="rect">
            <a:avLst/>
          </a:prstGeo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50105EA-A053-46BF-BBDF-744EC21B5AA4}" type="datetimeFigureOut">
              <a:rPr lang="ko-KR" altLang="en-US"/>
              <a:pPr>
                <a:defRPr/>
              </a:pPr>
              <a:t>2017-03-06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88D4188F-8B72-4058-82B7-3C94E91D2577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비교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>
            <a:lvl1pPr>
              <a:defRPr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텍스트 개체 틀 2"/>
          <p:cNvSpPr>
            <a:spLocks noGrp="1"/>
          </p:cNvSpPr>
          <p:nvPr>
            <p:ph type="body" idx="1"/>
          </p:nvPr>
        </p:nvSpPr>
        <p:spPr>
          <a:xfrm>
            <a:off x="495300" y="1535113"/>
            <a:ext cx="4376738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4" name="내용 개체 틀 3"/>
          <p:cNvSpPr>
            <a:spLocks noGrp="1"/>
          </p:cNvSpPr>
          <p:nvPr>
            <p:ph sz="half" idx="2"/>
          </p:nvPr>
        </p:nvSpPr>
        <p:spPr>
          <a:xfrm>
            <a:off x="495300" y="2174875"/>
            <a:ext cx="4376738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5" name="텍스트 개체 틀 4"/>
          <p:cNvSpPr>
            <a:spLocks noGrp="1"/>
          </p:cNvSpPr>
          <p:nvPr>
            <p:ph type="body" sz="quarter" idx="3"/>
          </p:nvPr>
        </p:nvSpPr>
        <p:spPr>
          <a:xfrm>
            <a:off x="5032375" y="1535113"/>
            <a:ext cx="4378325" cy="639762"/>
          </a:xfrm>
          <a:prstGeom prst="rect">
            <a:avLst/>
          </a:prstGeo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6" name="내용 개체 틀 5"/>
          <p:cNvSpPr>
            <a:spLocks noGrp="1"/>
          </p:cNvSpPr>
          <p:nvPr>
            <p:ph sz="quarter" idx="4"/>
          </p:nvPr>
        </p:nvSpPr>
        <p:spPr>
          <a:xfrm>
            <a:off x="5032375" y="2174875"/>
            <a:ext cx="4378325" cy="3951288"/>
          </a:xfrm>
          <a:prstGeom prst="rect">
            <a:avLst/>
          </a:prstGeo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7" name="날짜 개체 틀 6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68138F6C-8FCF-4624-B168-D396D1776FC2}" type="datetimeFigureOut">
              <a:rPr lang="ko-KR" altLang="en-US"/>
              <a:pPr>
                <a:defRPr/>
              </a:pPr>
              <a:t>2017-03-06</a:t>
            </a:fld>
            <a:endParaRPr lang="ko-KR" altLang="en-US"/>
          </a:p>
        </p:txBody>
      </p:sp>
      <p:sp>
        <p:nvSpPr>
          <p:cNvPr id="8" name="바닥글 개체 틀 7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9" name="슬라이드 번호 개체 틀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6C7D0227-9D2B-4017-A601-7923C2FE65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제목만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4638"/>
            <a:ext cx="8915400" cy="1143000"/>
          </a:xfrm>
          <a:prstGeom prst="rect">
            <a:avLst/>
          </a:prstGeom>
        </p:spPr>
        <p:txBody>
          <a:bodyPr/>
          <a:lstStyle/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날짜 개체 틀 2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4A3FE590-00FD-4950-9C6B-A62E414FD786}" type="datetimeFigureOut">
              <a:rPr lang="ko-KR" altLang="en-US"/>
              <a:pPr>
                <a:defRPr/>
              </a:pPr>
              <a:t>2017-03-06</a:t>
            </a:fld>
            <a:endParaRPr lang="ko-KR" altLang="en-US"/>
          </a:p>
        </p:txBody>
      </p:sp>
      <p:sp>
        <p:nvSpPr>
          <p:cNvPr id="4" name="바닥글 개체 틀 3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5" name="슬라이드 번호 개체 틀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A85F0C53-2369-446E-AFC1-735DF3D8596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빈 화면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날짜 개체 틀 1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902AEA6-957E-4A72-B4A7-0ECB356900BA}" type="datetimeFigureOut">
              <a:rPr lang="ko-KR" altLang="en-US"/>
              <a:pPr>
                <a:defRPr/>
              </a:pPr>
              <a:t>2017-03-06</a:t>
            </a:fld>
            <a:endParaRPr lang="ko-KR" altLang="en-US"/>
          </a:p>
        </p:txBody>
      </p:sp>
      <p:sp>
        <p:nvSpPr>
          <p:cNvPr id="3" name="바닥글 개체 틀 2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4" name="슬라이드 번호 개체 틀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C399B6E4-9478-48E8-B24E-6A0B5CBBFB2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캡션 있는 콘텐츠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495300" y="273050"/>
            <a:ext cx="3259138" cy="1162050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내용 개체 틀 2"/>
          <p:cNvSpPr>
            <a:spLocks noGrp="1"/>
          </p:cNvSpPr>
          <p:nvPr>
            <p:ph idx="1"/>
          </p:nvPr>
        </p:nvSpPr>
        <p:spPr>
          <a:xfrm>
            <a:off x="3873500" y="273050"/>
            <a:ext cx="5537200" cy="5853113"/>
          </a:xfrm>
          <a:prstGeom prst="rect">
            <a:avLst/>
          </a:prstGeo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  <a:p>
            <a:pPr lvl="1"/>
            <a:r>
              <a:rPr lang="ko-KR" altLang="en-US" smtClean="0"/>
              <a:t>둘째 수준</a:t>
            </a:r>
          </a:p>
          <a:p>
            <a:pPr lvl="2"/>
            <a:r>
              <a:rPr lang="ko-KR" altLang="en-US" smtClean="0"/>
              <a:t>셋째 수준</a:t>
            </a:r>
          </a:p>
          <a:p>
            <a:pPr lvl="3"/>
            <a:r>
              <a:rPr lang="ko-KR" altLang="en-US" smtClean="0"/>
              <a:t>넷째 수준</a:t>
            </a:r>
          </a:p>
          <a:p>
            <a:pPr lvl="4"/>
            <a:r>
              <a:rPr lang="ko-KR" altLang="en-US" smtClean="0"/>
              <a:t>다섯째 수준</a:t>
            </a:r>
            <a:endParaRPr lang="ko-KR" altLang="en-US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495300" y="1435100"/>
            <a:ext cx="3259138" cy="4691063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CBB71B16-A0D8-4BDB-BD65-A98DAE00D358}" type="datetimeFigureOut">
              <a:rPr lang="ko-KR" altLang="en-US"/>
              <a:pPr>
                <a:defRPr/>
              </a:pPr>
              <a:t>2017-03-06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5E42934C-85F8-4C50-AE48-8DB4D1EDFA38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캡션 있는 그림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제목 1"/>
          <p:cNvSpPr>
            <a:spLocks noGrp="1"/>
          </p:cNvSpPr>
          <p:nvPr>
            <p:ph type="title"/>
          </p:nvPr>
        </p:nvSpPr>
        <p:spPr>
          <a:xfrm>
            <a:off x="1941513" y="4800600"/>
            <a:ext cx="5943600" cy="566738"/>
          </a:xfrm>
          <a:prstGeom prst="rect">
            <a:avLst/>
          </a:prstGeo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ko-KR" altLang="en-US" smtClean="0"/>
              <a:t>마스터 제목 스타일 편집</a:t>
            </a:r>
            <a:endParaRPr lang="ko-KR" altLang="en-US"/>
          </a:p>
        </p:txBody>
      </p:sp>
      <p:sp>
        <p:nvSpPr>
          <p:cNvPr id="3" name="그림 개체 틀 2"/>
          <p:cNvSpPr>
            <a:spLocks noGrp="1"/>
          </p:cNvSpPr>
          <p:nvPr>
            <p:ph type="pic" idx="1"/>
          </p:nvPr>
        </p:nvSpPr>
        <p:spPr>
          <a:xfrm>
            <a:off x="1941513" y="612775"/>
            <a:ext cx="5943600" cy="4114800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pPr lvl="0"/>
            <a:endParaRPr lang="ko-KR" altLang="en-US" noProof="0"/>
          </a:p>
        </p:txBody>
      </p:sp>
      <p:sp>
        <p:nvSpPr>
          <p:cNvPr id="4" name="텍스트 개체 틀 3"/>
          <p:cNvSpPr>
            <a:spLocks noGrp="1"/>
          </p:cNvSpPr>
          <p:nvPr>
            <p:ph type="body" sz="half" idx="2"/>
          </p:nvPr>
        </p:nvSpPr>
        <p:spPr>
          <a:xfrm>
            <a:off x="1941513" y="5367338"/>
            <a:ext cx="5943600" cy="804862"/>
          </a:xfrm>
          <a:prstGeom prst="rect">
            <a:avLst/>
          </a:prstGeo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ko-KR" altLang="en-US" smtClean="0"/>
              <a:t>마스터 텍스트 스타일을 편집합니다</a:t>
            </a:r>
          </a:p>
        </p:txBody>
      </p:sp>
      <p:sp>
        <p:nvSpPr>
          <p:cNvPr id="5" name="날짜 개체 틀 4"/>
          <p:cNvSpPr>
            <a:spLocks noGrp="1"/>
          </p:cNvSpPr>
          <p:nvPr>
            <p:ph type="dt" sz="half" idx="10"/>
          </p:nvPr>
        </p:nvSpPr>
        <p:spPr>
          <a:xfrm>
            <a:off x="495300" y="6356350"/>
            <a:ext cx="23114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fld id="{54ECFBF2-A9E3-4487-AA31-3A8D1205B6BF}" type="datetimeFigureOut">
              <a:rPr lang="ko-KR" altLang="en-US"/>
              <a:pPr>
                <a:defRPr/>
              </a:pPr>
              <a:t>2017-03-06</a:t>
            </a:fld>
            <a:endParaRPr lang="ko-KR" altLang="en-US"/>
          </a:p>
        </p:txBody>
      </p:sp>
      <p:sp>
        <p:nvSpPr>
          <p:cNvPr id="6" name="바닥글 개체 틀 5"/>
          <p:cNvSpPr>
            <a:spLocks noGrp="1"/>
          </p:cNvSpPr>
          <p:nvPr>
            <p:ph type="ftr" sz="quarter" idx="11"/>
          </p:nvPr>
        </p:nvSpPr>
        <p:spPr>
          <a:xfrm>
            <a:off x="3384550" y="6356350"/>
            <a:ext cx="3136900" cy="365125"/>
          </a:xfrm>
          <a:prstGeom prst="rect">
            <a:avLst/>
          </a:prstGeom>
        </p:spPr>
        <p:txBody>
          <a:bodyPr/>
          <a:lstStyle>
            <a:lvl1pPr fontAlgn="auto">
              <a:spcBef>
                <a:spcPts val="0"/>
              </a:spcBef>
              <a:spcAft>
                <a:spcPts val="0"/>
              </a:spcAft>
              <a:defRPr kumimoji="0">
                <a:latin typeface="+mn-lt"/>
                <a:ea typeface="+mn-ea"/>
              </a:defRPr>
            </a:lvl1pPr>
          </a:lstStyle>
          <a:p>
            <a:pPr>
              <a:defRPr/>
            </a:pPr>
            <a:endParaRPr lang="ko-KR" altLang="en-US"/>
          </a:p>
        </p:txBody>
      </p:sp>
      <p:sp>
        <p:nvSpPr>
          <p:cNvPr id="7" name="슬라이드 번호 개체 틀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/>
            </a:lvl1pPr>
          </a:lstStyle>
          <a:p>
            <a:pPr>
              <a:defRPr/>
            </a:pPr>
            <a:fld id="{01FE57CE-58D3-41A0-9D38-D19A3179B0EE}" type="slidenum">
              <a:rPr lang="ko-KR" altLang="en-US"/>
              <a:pPr>
                <a:defRPr/>
              </a:pPr>
              <a:t>‹#›</a:t>
            </a:fld>
            <a:endParaRPr lang="ko-KR" alt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image" Target="../media/image1.jpeg"/><Relationship Id="rId5" Type="http://schemas.openxmlformats.org/officeDocument/2006/relationships/slideLayout" Target="../slideLayouts/slideLayout5.xml"/><Relationship Id="rId10" Type="http://schemas.openxmlformats.org/officeDocument/2006/relationships/theme" Target="../theme/theme1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Pr>
        <a:blipFill dpi="0" rotWithShape="1">
          <a:blip r:embed="rId11">
            <a:lum/>
          </a:blip>
          <a:srcRect/>
          <a:stretch>
            <a:fillRect t="-2000" b="-2000"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슬라이드 번호 개체 틀 5"/>
          <p:cNvSpPr>
            <a:spLocks noGrp="1"/>
          </p:cNvSpPr>
          <p:nvPr>
            <p:ph type="sldNum" sz="quarter" idx="4"/>
          </p:nvPr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 fontAlgn="auto">
              <a:spcBef>
                <a:spcPts val="0"/>
              </a:spcBef>
              <a:spcAft>
                <a:spcPts val="0"/>
              </a:spcAft>
              <a:defRPr kumimoji="0" sz="120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</a:defRPr>
            </a:lvl1pPr>
          </a:lstStyle>
          <a:p>
            <a:pPr>
              <a:defRPr/>
            </a:pPr>
            <a:fld id="{1F93DC16-645E-42DB-8B9D-584A40751F41}" type="slidenum">
              <a:rPr lang="ko-KR" altLang="en-US"/>
              <a:pPr>
                <a:defRPr/>
              </a:pPr>
              <a:t>‹#›</a:t>
            </a:fld>
            <a:endParaRPr lang="ko-KR" altLang="en-US" dirty="0"/>
          </a:p>
        </p:txBody>
      </p:sp>
      <p:sp>
        <p:nvSpPr>
          <p:cNvPr id="7" name="슬라이드 번호 개체 틀 5"/>
          <p:cNvSpPr txBox="1">
            <a:spLocks/>
          </p:cNvSpPr>
          <p:nvPr/>
        </p:nvSpPr>
        <p:spPr>
          <a:xfrm>
            <a:off x="3800475" y="6492875"/>
            <a:ext cx="2311400" cy="365125"/>
          </a:xfrm>
          <a:prstGeom prst="rect">
            <a:avLst/>
          </a:prstGeom>
        </p:spPr>
        <p:txBody>
          <a:bodyPr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fld id="{F471B887-FDF0-4FEA-B10D-CD7A5AB2A954}" type="slidenum">
              <a:rPr kumimoji="0" lang="ko-KR" altLang="en-US">
                <a:latin typeface="+mn-lt"/>
                <a:ea typeface="+mn-ea"/>
              </a:rPr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t>‹#›</a:t>
            </a:fld>
            <a:endParaRPr kumimoji="0" lang="ko-KR" altLang="en-US" dirty="0">
              <a:latin typeface="+mn-lt"/>
              <a:ea typeface="+mn-ea"/>
            </a:endParaRPr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985" r:id="rId1"/>
    <p:sldLayoutId id="2147483986" r:id="rId2"/>
    <p:sldLayoutId id="2147483987" r:id="rId3"/>
    <p:sldLayoutId id="2147483988" r:id="rId4"/>
    <p:sldLayoutId id="2147483989" r:id="rId5"/>
    <p:sldLayoutId id="2147483990" r:id="rId6"/>
    <p:sldLayoutId id="2147483991" r:id="rId7"/>
    <p:sldLayoutId id="2147483992" r:id="rId8"/>
    <p:sldLayoutId id="2147483993" r:id="rId9"/>
  </p:sldLayoutIdLst>
  <p:txStyles>
    <p:titleStyle>
      <a:lvl1pPr algn="ctr" rtl="0" eaLnBrk="0" fontAlgn="base" latinLnBrk="1" hangingPunct="0">
        <a:spcBef>
          <a:spcPct val="0"/>
        </a:spcBef>
        <a:spcAft>
          <a:spcPct val="0"/>
        </a:spcAft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2pPr>
      <a:lvl3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3pPr>
      <a:lvl4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4pPr>
      <a:lvl5pPr algn="ctr" rtl="0" eaLnBrk="0" fontAlgn="base" latinLnBrk="1" hangingPunct="0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5pPr>
      <a:lvl6pPr marL="4572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6pPr>
      <a:lvl7pPr marL="9144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7pPr>
      <a:lvl8pPr marL="13716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8pPr>
      <a:lvl9pPr marL="1828800" algn="ctr" rtl="0" fontAlgn="base" latinLnBrk="1">
        <a:spcBef>
          <a:spcPct val="0"/>
        </a:spcBef>
        <a:spcAft>
          <a:spcPct val="0"/>
        </a:spcAft>
        <a:defRPr sz="4400">
          <a:solidFill>
            <a:schemeClr val="tx1"/>
          </a:solidFill>
          <a:latin typeface="맑은 고딕" pitchFamily="50" charset="-127"/>
          <a:ea typeface="맑은 고딕" pitchFamily="50" charset="-127"/>
        </a:defRPr>
      </a:lvl9pPr>
    </p:titleStyle>
    <p:bodyStyle>
      <a:lvl1pPr marL="342900" indent="-3429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0" fontAlgn="base" latinLnBrk="1" hangingPunct="0">
        <a:spcBef>
          <a:spcPct val="20000"/>
        </a:spcBef>
        <a:spcAft>
          <a:spcPct val="0"/>
        </a:spcAft>
        <a:buFont typeface="Arial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1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ko-KR"/>
      </a:defPPr>
      <a:lvl1pPr marL="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1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4.png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5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10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2.xml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12.png"/><Relationship Id="rId2" Type="http://schemas.openxmlformats.org/officeDocument/2006/relationships/image" Target="../media/image11.png"/><Relationship Id="rId1" Type="http://schemas.openxmlformats.org/officeDocument/2006/relationships/slideLayout" Target="../slideLayouts/slideLayout2.xml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png"/><Relationship Id="rId1" Type="http://schemas.openxmlformats.org/officeDocument/2006/relationships/slideLayout" Target="../slideLayouts/slideLayout2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6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18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0.png"/><Relationship Id="rId2" Type="http://schemas.openxmlformats.org/officeDocument/2006/relationships/image" Target="../media/image19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1.png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pn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2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8.png"/><Relationship Id="rId7" Type="http://schemas.openxmlformats.org/officeDocument/2006/relationships/image" Target="../media/image32.png"/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31.png"/><Relationship Id="rId5" Type="http://schemas.openxmlformats.org/officeDocument/2006/relationships/image" Target="../media/image30.png"/><Relationship Id="rId4" Type="http://schemas.openxmlformats.org/officeDocument/2006/relationships/image" Target="../media/image29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33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34.png"/><Relationship Id="rId1" Type="http://schemas.openxmlformats.org/officeDocument/2006/relationships/slideLayout" Target="../slideLayouts/slideLayout2.xml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5.png"/><Relationship Id="rId1" Type="http://schemas.openxmlformats.org/officeDocument/2006/relationships/slideLayout" Target="../slideLayouts/slideLayout2.xml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37.png"/><Relationship Id="rId2" Type="http://schemas.openxmlformats.org/officeDocument/2006/relationships/image" Target="../media/image36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38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9.png"/><Relationship Id="rId1" Type="http://schemas.openxmlformats.org/officeDocument/2006/relationships/slideLayout" Target="../slideLayouts/slideLayout2.xml"/></Relationships>
</file>

<file path=ppt/slides/_rels/slide2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image" Target="../media/image40.png"/><Relationship Id="rId1" Type="http://schemas.openxmlformats.org/officeDocument/2006/relationships/slideLayout" Target="../slideLayouts/slideLayout2.xml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42.png"/><Relationship Id="rId2" Type="http://schemas.openxmlformats.org/officeDocument/2006/relationships/image" Target="../media/image41.png"/><Relationship Id="rId1" Type="http://schemas.openxmlformats.org/officeDocument/2006/relationships/slideLayout" Target="../slideLayouts/slideLayout2.xml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44.png"/><Relationship Id="rId2" Type="http://schemas.openxmlformats.org/officeDocument/2006/relationships/image" Target="../media/image43.png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45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47.png"/><Relationship Id="rId2" Type="http://schemas.openxmlformats.org/officeDocument/2006/relationships/image" Target="../media/image46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8.png"/><Relationship Id="rId1" Type="http://schemas.openxmlformats.org/officeDocument/2006/relationships/slideLayout" Target="../slideLayouts/slideLayout2.xml"/></Relationships>
</file>

<file path=ppt/slides/_rels/slide30.xml.rels><?xml version="1.0" encoding="UTF-8" standalone="yes"?>
<Relationships xmlns="http://schemas.openxmlformats.org/package/2006/relationships"><Relationship Id="rId2" Type="http://schemas.openxmlformats.org/officeDocument/2006/relationships/image" Target="../media/image49.png"/><Relationship Id="rId1" Type="http://schemas.openxmlformats.org/officeDocument/2006/relationships/slideLayout" Target="../slideLayouts/slideLayout2.xml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image" Target="../media/image50.png"/><Relationship Id="rId1" Type="http://schemas.openxmlformats.org/officeDocument/2006/relationships/slideLayout" Target="../slideLayouts/slideLayout2.xml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52.png"/><Relationship Id="rId2" Type="http://schemas.openxmlformats.org/officeDocument/2006/relationships/image" Target="../media/image51.png"/><Relationship Id="rId1" Type="http://schemas.openxmlformats.org/officeDocument/2006/relationships/slideLayout" Target="../slideLayouts/slideLayout2.xml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4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54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5.png"/><Relationship Id="rId1" Type="http://schemas.openxmlformats.org/officeDocument/2006/relationships/slideLayout" Target="../slideLayouts/slideLayout2.xml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56.png"/><Relationship Id="rId2" Type="http://schemas.openxmlformats.org/officeDocument/2006/relationships/image" Target="../media/image53.png"/><Relationship Id="rId1" Type="http://schemas.openxmlformats.org/officeDocument/2006/relationships/slideLayout" Target="../slideLayouts/slideLayout2.xml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image" Target="../media/image57.png"/><Relationship Id="rId1" Type="http://schemas.openxmlformats.org/officeDocument/2006/relationships/slideLayout" Target="../slideLayouts/slideLayout2.xml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59.png"/><Relationship Id="rId2" Type="http://schemas.openxmlformats.org/officeDocument/2006/relationships/image" Target="../media/image58.pn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image62.png"/><Relationship Id="rId5" Type="http://schemas.openxmlformats.org/officeDocument/2006/relationships/image" Target="../media/image61.png"/><Relationship Id="rId4" Type="http://schemas.openxmlformats.org/officeDocument/2006/relationships/image" Target="../media/image60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4.png"/><Relationship Id="rId2" Type="http://schemas.openxmlformats.org/officeDocument/2006/relationships/image" Target="../media/image63.png"/><Relationship Id="rId1" Type="http://schemas.openxmlformats.org/officeDocument/2006/relationships/slideLayout" Target="../slideLayouts/slideLayout2.xml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image" Target="../media/image65.png"/><Relationship Id="rId1" Type="http://schemas.openxmlformats.org/officeDocument/2006/relationships/slideLayout" Target="../slideLayouts/slideLayout2.xml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2.xml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image" Target="../media/image66.png"/><Relationship Id="rId1" Type="http://schemas.openxmlformats.org/officeDocument/2006/relationships/slideLayout" Target="../slideLayouts/slideLayout2.xml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image" Target="../media/image67.png"/><Relationship Id="rId1" Type="http://schemas.openxmlformats.org/officeDocument/2006/relationships/slideLayout" Target="../slideLayouts/slideLayout2.xml"/></Relationships>
</file>

<file path=ppt/slides/_rels/slide4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9.png"/><Relationship Id="rId2" Type="http://schemas.openxmlformats.org/officeDocument/2006/relationships/image" Target="../media/image68.png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1267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522912" cy="8540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Ⅰ.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1268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sp>
        <p:nvSpPr>
          <p:cNvPr id="1229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Health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아이콘을 더블클릭하면 앨리스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(AILISS)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프로그램이 실행됩니다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2292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809750" y="2000250"/>
            <a:ext cx="3322638" cy="1812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2293" name="TextBox 4"/>
          <p:cNvSpPr txBox="1">
            <a:spLocks noChangeArrowheads="1"/>
          </p:cNvSpPr>
          <p:nvPr/>
        </p:nvSpPr>
        <p:spPr bwMode="auto">
          <a:xfrm>
            <a:off x="5524500" y="1593850"/>
            <a:ext cx="4108450" cy="265944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자동 업데이트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프로그램을 실행할 때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 업데이트를 실시합니다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결과지 양식 추가 및 수정 등 프로그램과 관련된 항목들 대부분이 여기서 업데이트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업데이트가 완료된 후에 로그인해 주시기 바랍니다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PC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 설치되어 있는 백신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(ex: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Ahnlab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SafeTransaction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V3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등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의해 자동 업데이트 프로그램이 정상적으로 실행되지 않을 수 있습니다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로그인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업데이트가 완료되면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로그인 화면이 표시됩니다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설정되어 있는 아이디와 패스워드를 입력하면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프로그램에 접속할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주요변경사항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앨리스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프로그램의 변경 사항을 확인할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2294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2070100" y="4330700"/>
            <a:ext cx="2786063" cy="195580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pic>
        <p:nvPicPr>
          <p:cNvPr id="12295" name="Picture 1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23875" y="2428875"/>
            <a:ext cx="762000" cy="89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9" name="직선 화살표 연결선 8"/>
          <p:cNvCxnSpPr/>
          <p:nvPr/>
        </p:nvCxnSpPr>
        <p:spPr>
          <a:xfrm>
            <a:off x="1381125" y="2928938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10" name="직선 화살표 연결선 9"/>
          <p:cNvCxnSpPr/>
          <p:nvPr/>
        </p:nvCxnSpPr>
        <p:spPr>
          <a:xfrm rot="5400000">
            <a:off x="3284538" y="4070350"/>
            <a:ext cx="357188" cy="1587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229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192338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1.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프로그램 실행 </a:t>
            </a:r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로그인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2492375" cy="36830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프로그램 실행 </a:t>
            </a:r>
            <a:r>
              <a:rPr kumimoji="0" lang="en-US" altLang="ko-KR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&amp; </a:t>
            </a: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로그인</a:t>
            </a:r>
          </a:p>
        </p:txBody>
      </p:sp>
      <p:pic>
        <p:nvPicPr>
          <p:cNvPr id="13315" name="그림 11" descr="제목 없음.png"/>
          <p:cNvPicPr>
            <a:picLocks noChangeAspect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490663" y="1357313"/>
            <a:ext cx="6929437" cy="49609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13" name="직선 화살표 연결선 12"/>
          <p:cNvCxnSpPr>
            <a:endCxn id="13323" idx="0"/>
          </p:cNvCxnSpPr>
          <p:nvPr/>
        </p:nvCxnSpPr>
        <p:spPr>
          <a:xfrm rot="5400000">
            <a:off x="6142038" y="2765425"/>
            <a:ext cx="1355725" cy="3175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1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120775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2.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318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907415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앨리스 실행 시 초기 메인화면입니다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1533525" y="1571625"/>
            <a:ext cx="6475413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1524000" y="1714500"/>
            <a:ext cx="6119813" cy="3905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8" name="직선 화살표 연결선 17"/>
          <p:cNvCxnSpPr/>
          <p:nvPr/>
        </p:nvCxnSpPr>
        <p:spPr>
          <a:xfrm rot="16200000" flipH="1">
            <a:off x="4425156" y="2243932"/>
            <a:ext cx="1071563" cy="12700"/>
          </a:xfrm>
          <a:prstGeom prst="straightConnector1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322" name="TextBox 59"/>
          <p:cNvSpPr txBox="1">
            <a:spLocks noChangeArrowheads="1"/>
          </p:cNvSpPr>
          <p:nvPr/>
        </p:nvSpPr>
        <p:spPr bwMode="auto">
          <a:xfrm>
            <a:off x="4171950" y="2786063"/>
            <a:ext cx="1924050" cy="461962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유형 별 작업메뉴 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및 프로그램 관리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3" name="TextBox 59"/>
          <p:cNvSpPr txBox="1">
            <a:spLocks noChangeArrowheads="1"/>
          </p:cNvSpPr>
          <p:nvPr/>
        </p:nvSpPr>
        <p:spPr bwMode="auto">
          <a:xfrm>
            <a:off x="5821363" y="3444875"/>
            <a:ext cx="1993900" cy="277813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결과 입력 및 판정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4" name="TextBox 59"/>
          <p:cNvSpPr txBox="1">
            <a:spLocks noChangeArrowheads="1"/>
          </p:cNvSpPr>
          <p:nvPr/>
        </p:nvSpPr>
        <p:spPr bwMode="auto">
          <a:xfrm>
            <a:off x="5024438" y="4357688"/>
            <a:ext cx="1995487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 조회 화면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325" name="TextBox 59"/>
          <p:cNvSpPr txBox="1">
            <a:spLocks noChangeArrowheads="1"/>
          </p:cNvSpPr>
          <p:nvPr/>
        </p:nvSpPr>
        <p:spPr bwMode="auto">
          <a:xfrm>
            <a:off x="1666875" y="4357688"/>
            <a:ext cx="1995488" cy="276225"/>
          </a:xfrm>
          <a:prstGeom prst="rect">
            <a:avLst/>
          </a:prstGeom>
          <a:noFill/>
          <a:ln w="9525">
            <a:solidFill>
              <a:srgbClr val="FF0000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접수자 조회 화면</a:t>
            </a:r>
            <a:endParaRPr kumimoji="0" lang="en-US" altLang="ko-KR" sz="120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14339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5337175" cy="9239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Ⅱ. 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3600" b="1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결과 및 판정</a:t>
            </a:r>
            <a:endParaRPr kumimoji="0" lang="en-US" altLang="ko-KR" sz="360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4340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5363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536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접수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(F3)”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버튼을 누르면 아래 화면이 나타납니다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5365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7053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0" name="직사각형 19"/>
          <p:cNvSpPr/>
          <p:nvPr/>
        </p:nvSpPr>
        <p:spPr>
          <a:xfrm>
            <a:off x="666750" y="1714500"/>
            <a:ext cx="1285875" cy="6429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38" y="1571625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" name="직사각형 21"/>
          <p:cNvSpPr/>
          <p:nvPr/>
        </p:nvSpPr>
        <p:spPr>
          <a:xfrm>
            <a:off x="2095500" y="1714500"/>
            <a:ext cx="2428875" cy="27860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952625" y="1500188"/>
            <a:ext cx="285750" cy="263525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15370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검진 구분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접수 입력 시 가장 먼저 선택합니다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중복 선택이 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 환자는 다른 검진과 함께 생애검진을 선택해야 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생애검진만 선택하면 안됩니다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ex)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건강검진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+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생애검진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 ExtraBold" pitchFamily="34" charset="-127"/>
                <a:ea typeface="나눔고딕OTF ExtraBold" pitchFamily="34" charset="-127"/>
              </a:endParaRPr>
            </a:p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 err="1">
                  <a:latin typeface="나눔고딕OTF" pitchFamily="34" charset="-127"/>
                  <a:ea typeface="나눔고딕OTF" pitchFamily="34" charset="-127"/>
                </a:rPr>
                <a:t>인적사항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 Light" pitchFamily="34" charset="-127"/>
                  <a:ea typeface="나눔고딕OTF Light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검진일자를 입력하면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검체번호는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자동으로 생성됩니다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주민번호는 직접 입력하거나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검진 이력이 있는 수진자의 경우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눌러서  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보험번호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직역 등 </a:t>
              </a:r>
              <a:r>
                <a:rPr kumimoji="0" lang="ko-KR" altLang="en-US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파란색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으로 표시된 항목은 건강검진 청구 시 필요한 항목입니다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공단검진 환자는 검진일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성명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주민번호만 입력한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뒤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      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공단 웹 페이지에서 조회되는 항목이 자동으로 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chemeClr val="accent1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종합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채용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기타검진은 검진일자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수진자명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사업장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주민번호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청구구분 까지만 입력해도 접수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5371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024834" y="3635076"/>
              <a:ext cx="209550" cy="2095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  <p:pic>
          <p:nvPicPr>
            <p:cNvPr id="15372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3" y="4572008"/>
              <a:ext cx="428625" cy="17303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</a:p>
        </p:txBody>
      </p:sp>
      <p:sp>
        <p:nvSpPr>
          <p:cNvPr id="16387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pic>
        <p:nvPicPr>
          <p:cNvPr id="16388" name="Picture 2"/>
          <p:cNvPicPr>
            <a:picLocks noChangeAspect="1" noChangeArrowheads="1"/>
          </p:cNvPicPr>
          <p:nvPr/>
        </p:nvPicPr>
        <p:blipFill>
          <a:blip r:embed="rId2"/>
          <a:srcRect l="21686" r="31325" b="43826"/>
          <a:stretch>
            <a:fillRect/>
          </a:stretch>
        </p:blipFill>
        <p:spPr bwMode="auto">
          <a:xfrm>
            <a:off x="523875" y="1728788"/>
            <a:ext cx="3071813" cy="29146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22" name="직사각형 21"/>
          <p:cNvSpPr/>
          <p:nvPr/>
        </p:nvSpPr>
        <p:spPr>
          <a:xfrm>
            <a:off x="738188" y="2586038"/>
            <a:ext cx="571500" cy="2857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0" name="TextBox 4"/>
          <p:cNvSpPr txBox="1">
            <a:spLocks noChangeArrowheads="1"/>
          </p:cNvSpPr>
          <p:nvPr/>
        </p:nvSpPr>
        <p:spPr bwMode="auto">
          <a:xfrm>
            <a:off x="6524625" y="1822450"/>
            <a:ext cx="3108325" cy="11922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 검색은 접수 화면의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칸을 클릭하면 다음 주소검색 화면이 표시됩니다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주소를 검색한 뒤 상세주소만 추가로 입력해주시면 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주소 최대 길이는 한글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공백포함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 80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자 입니다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</a:t>
            </a:r>
          </a:p>
        </p:txBody>
      </p:sp>
      <p:sp>
        <p:nvSpPr>
          <p:cNvPr id="31" name="직사각형 30"/>
          <p:cNvSpPr/>
          <p:nvPr/>
        </p:nvSpPr>
        <p:spPr>
          <a:xfrm>
            <a:off x="1381125" y="3014663"/>
            <a:ext cx="785813" cy="285750"/>
          </a:xfrm>
          <a:prstGeom prst="rect">
            <a:avLst/>
          </a:prstGeom>
          <a:solidFill>
            <a:srgbClr val="FFFF00"/>
          </a:solidFill>
          <a:ln>
            <a:solidFill>
              <a:schemeClr val="tx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ko-KR" altLang="en-US" sz="14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클릭</a:t>
            </a:r>
          </a:p>
        </p:txBody>
      </p:sp>
      <p:cxnSp>
        <p:nvCxnSpPr>
          <p:cNvPr id="37" name="Shape 36"/>
          <p:cNvCxnSpPr>
            <a:stCxn id="31" idx="1"/>
            <a:endCxn id="22" idx="2"/>
          </p:cNvCxnSpPr>
          <p:nvPr/>
        </p:nvCxnSpPr>
        <p:spPr>
          <a:xfrm rot="10800000">
            <a:off x="1023938" y="2871788"/>
            <a:ext cx="357187" cy="285750"/>
          </a:xfrm>
          <a:prstGeom prst="bentConnector2">
            <a:avLst/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6393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3708400" y="1728788"/>
            <a:ext cx="2887663" cy="288131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cxnSp>
        <p:nvCxnSpPr>
          <p:cNvPr id="39" name="Shape 38"/>
          <p:cNvCxnSpPr>
            <a:stCxn id="22" idx="0"/>
          </p:cNvCxnSpPr>
          <p:nvPr/>
        </p:nvCxnSpPr>
        <p:spPr>
          <a:xfrm rot="16200000" flipH="1">
            <a:off x="2074863" y="1535113"/>
            <a:ext cx="582612" cy="2684462"/>
          </a:xfrm>
          <a:prstGeom prst="bentConnector4">
            <a:avLst>
              <a:gd name="adj1" fmla="val -39184"/>
              <a:gd name="adj2" fmla="val 55321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3" name="직사각형 12"/>
          <p:cNvSpPr/>
          <p:nvPr/>
        </p:nvSpPr>
        <p:spPr>
          <a:xfrm>
            <a:off x="2667000" y="3800475"/>
            <a:ext cx="727075" cy="3984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396" name="TextBox 4"/>
          <p:cNvSpPr txBox="1">
            <a:spLocks noChangeArrowheads="1"/>
          </p:cNvSpPr>
          <p:nvPr/>
        </p:nvSpPr>
        <p:spPr bwMode="auto">
          <a:xfrm>
            <a:off x="6524625" y="3371850"/>
            <a:ext cx="3179763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회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메르스로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인한 검진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회차인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차검진만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분리하여 접수하는 경우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타 병원에서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차검진을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한 수진자의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암추가검진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하여 추가지급 청구서가</a:t>
            </a: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필요한 경우 체크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1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</a:t>
            </a:r>
            <a:r>
              <a:rPr kumimoji="0" lang="ko-KR" altLang="en-US" sz="1000" dirty="0" err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암검진을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타 병원에서 하고 온 경우에는 체크 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X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cxnSp>
        <p:nvCxnSpPr>
          <p:cNvPr id="15" name="Shape 14"/>
          <p:cNvCxnSpPr/>
          <p:nvPr/>
        </p:nvCxnSpPr>
        <p:spPr>
          <a:xfrm rot="5400000" flipH="1" flipV="1">
            <a:off x="4706938" y="2327275"/>
            <a:ext cx="255587" cy="3636963"/>
          </a:xfrm>
          <a:prstGeom prst="bentConnector4">
            <a:avLst>
              <a:gd name="adj1" fmla="val -89337"/>
              <a:gd name="adj2" fmla="val 54997"/>
            </a:avLst>
          </a:prstGeom>
          <a:ln w="2540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410" name="Picture 7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452438" y="1433513"/>
            <a:ext cx="4476750" cy="45672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</a:t>
            </a:r>
            <a:endParaRPr kumimoji="0" lang="en-US" altLang="ko-KR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1741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2944813" y="1428750"/>
            <a:ext cx="1936750" cy="44291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타원 8"/>
          <p:cNvSpPr/>
          <p:nvPr/>
        </p:nvSpPr>
        <p:spPr>
          <a:xfrm>
            <a:off x="2730500" y="121443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452438" y="4714875"/>
            <a:ext cx="2428875" cy="7858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309563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4" name="그룹 13"/>
          <p:cNvGrpSpPr/>
          <p:nvPr/>
        </p:nvGrpSpPr>
        <p:grpSpPr>
          <a:xfrm>
            <a:off x="5310188" y="1500188"/>
            <a:ext cx="4322762" cy="3416300"/>
            <a:chOff x="5310188" y="1500188"/>
            <a:chExt cx="4322762" cy="3416300"/>
          </a:xfrm>
        </p:grpSpPr>
        <p:sp>
          <p:nvSpPr>
            <p:cNvPr id="17413" name="TextBox 4"/>
            <p:cNvSpPr txBox="1">
              <a:spLocks noChangeArrowheads="1"/>
            </p:cNvSpPr>
            <p:nvPr/>
          </p:nvSpPr>
          <p:spPr bwMode="auto">
            <a:xfrm>
              <a:off x="5310188" y="1500188"/>
              <a:ext cx="4322762" cy="341630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3)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검사항목 선택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오른쪽 화면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미리 설정해놓은 묶음 항목들이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기본적으로 묶음항목이 표시되고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상단에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항목이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4)   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선택 항목 관리</a:t>
              </a:r>
              <a:endParaRPr kumimoji="0" lang="en-US" altLang="ko-KR" sz="1000" b="1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- 3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번의 항목을 더블클릭 하면 화면 아래쪽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(4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번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에 해당 항목이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표시되며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수진자에게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항목이 등록됩니다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항목을 오른쪽 클릭하면 삭제할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검사항목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오더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까지 입력한 다음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(F2)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를 클릭하여 접수를 완료합니다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7418" name="Picture 11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595938" y="3286124"/>
              <a:ext cx="2552700" cy="93345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</p:grpSp>
      <p:sp>
        <p:nvSpPr>
          <p:cNvPr id="13" name="직사각형 12"/>
          <p:cNvSpPr/>
          <p:nvPr/>
        </p:nvSpPr>
        <p:spPr>
          <a:xfrm>
            <a:off x="2309813" y="3857625"/>
            <a:ext cx="571500" cy="21431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8434" name="Picture 1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29312" cy="4238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547812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접수내역 조회</a:t>
            </a:r>
          </a:p>
        </p:txBody>
      </p:sp>
      <p:sp>
        <p:nvSpPr>
          <p:cNvPr id="1843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84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메인화면에서 접수내역을 조회할 수 있습니다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635000" y="2000250"/>
            <a:ext cx="2103438" cy="121443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523875" y="17145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8440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308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사업장 등을 입력하여 설정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범위 내에서 조회하거나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차트번호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주민번호를 입력하여 특정 검진자를 검색합니다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찾기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(F6)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 혹은 엔터키를 입력하면 조회합니다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조회 내역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조회 조건에 해당하는 검진자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마우스 클릭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하면 우측에 검진자의 오더가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검진자를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상단에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인적정보 수정창이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635000" y="3214688"/>
            <a:ext cx="2103438" cy="23383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523875" y="364331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14750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2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78618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결과 입력 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b="1" dirty="0">
                <a:latin typeface="나눔고딕OTF" pitchFamily="34" charset="-127"/>
                <a:ea typeface="나눔고딕OTF" pitchFamily="34" charset="-127"/>
              </a:rPr>
              <a:t>혈액 검사</a:t>
            </a: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조회 화면에서 선택한 검진자의 검진 결과를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열에 검사 별 결과값을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검사항목의 결과 형태에 따라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입력방법이 다릅니다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결과값을 숫자로 입력한 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입력하면 결과값이 각각 저장되고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다음 항목으로 커서가 옮겨갑니다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결과형태가 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인 경우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검사항목코드 메뉴에서 설정한 결과값 코드를  입력합니다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ex)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흉부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X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선 결과에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를 입력하고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엔터를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누르면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자동으로 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사진불량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으로 입력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저장됩니다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</a:t>
            </a:r>
            <a:r>
              <a:rPr kumimoji="0" lang="ko-KR" altLang="en-US" sz="1000" dirty="0" err="1">
                <a:latin typeface="나눔고딕OTF" pitchFamily="34" charset="-127"/>
                <a:ea typeface="나눔고딕OTF" pitchFamily="34" charset="-127"/>
              </a:rPr>
              <a:t>입력창에서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 검사 항목명을 클릭하면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>
                <a:latin typeface="나눔고딕OTF" pitchFamily="34" charset="-127"/>
                <a:ea typeface="나눔고딕OTF" pitchFamily="34" charset="-127"/>
              </a:rPr>
              <a:t>결과 코드를 확인하고 입력할 수 있습니다</a:t>
            </a:r>
            <a:r>
              <a:rPr kumimoji="0" lang="en-US" altLang="ko-KR" sz="10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pic>
        <p:nvPicPr>
          <p:cNvPr id="19463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81563" y="2538413"/>
            <a:ext cx="4624387" cy="15716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13" name="직사각형 12"/>
          <p:cNvSpPr/>
          <p:nvPr/>
        </p:nvSpPr>
        <p:spPr>
          <a:xfrm>
            <a:off x="5784850" y="3087688"/>
            <a:ext cx="160338" cy="85725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5" name="TextBox 17"/>
          <p:cNvSpPr txBox="1">
            <a:spLocks noChangeArrowheads="1"/>
          </p:cNvSpPr>
          <p:nvPr/>
        </p:nvSpPr>
        <p:spPr bwMode="auto">
          <a:xfrm>
            <a:off x="6810375" y="3692525"/>
            <a:ext cx="1000125" cy="307975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400" b="1">
                <a:latin typeface="나눔고딕OTF" pitchFamily="34" charset="-127"/>
                <a:ea typeface="나눔고딕OTF" pitchFamily="34" charset="-127"/>
              </a:rPr>
              <a:t>결과코드</a:t>
            </a:r>
          </a:p>
        </p:txBody>
      </p:sp>
      <p:cxnSp>
        <p:nvCxnSpPr>
          <p:cNvPr id="22" name="꺾인 연결선 21"/>
          <p:cNvCxnSpPr>
            <a:stCxn id="13" idx="3"/>
            <a:endCxn id="19465" idx="1"/>
          </p:cNvCxnSpPr>
          <p:nvPr/>
        </p:nvCxnSpPr>
        <p:spPr>
          <a:xfrm>
            <a:off x="5945188" y="3516313"/>
            <a:ext cx="865187" cy="330200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19467" name="Picture 4"/>
          <p:cNvPicPr>
            <a:picLocks noChangeAspect="1" noChangeArrowheads="1"/>
          </p:cNvPicPr>
          <p:nvPr/>
        </p:nvPicPr>
        <p:blipFill>
          <a:blip r:embed="rId4"/>
          <a:srcRect/>
          <a:stretch>
            <a:fillRect/>
          </a:stretch>
        </p:blipFill>
        <p:spPr bwMode="auto">
          <a:xfrm>
            <a:off x="5111771" y="4740275"/>
            <a:ext cx="1555750" cy="1701800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23" name="직사각형 22"/>
          <p:cNvSpPr/>
          <p:nvPr/>
        </p:nvSpPr>
        <p:spPr>
          <a:xfrm>
            <a:off x="5103833" y="6270625"/>
            <a:ext cx="642938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69" name="TextBox 25"/>
          <p:cNvSpPr txBox="1">
            <a:spLocks noChangeArrowheads="1"/>
          </p:cNvSpPr>
          <p:nvPr/>
        </p:nvSpPr>
        <p:spPr bwMode="auto">
          <a:xfrm>
            <a:off x="7381896" y="5929313"/>
            <a:ext cx="500062" cy="246062"/>
          </a:xfrm>
          <a:prstGeom prst="rect">
            <a:avLst/>
          </a:prstGeom>
          <a:solidFill>
            <a:srgbClr val="FFFF00"/>
          </a:solidFill>
          <a:ln w="9525">
            <a:solidFill>
              <a:schemeClr val="tx1"/>
            </a:solidFill>
            <a:miter lim="800000"/>
            <a:headEnd/>
            <a:tailEnd/>
          </a:ln>
        </p:spPr>
        <p:txBody>
          <a:bodyPr>
            <a:spAutoFit/>
          </a:bodyPr>
          <a:lstStyle/>
          <a:p>
            <a:pPr algn="ctr"/>
            <a:r>
              <a:rPr lang="ko-KR" altLang="en-US" sz="1000" b="1">
                <a:latin typeface="나눔고딕OTF" pitchFamily="34" charset="-127"/>
                <a:ea typeface="나눔고딕OTF" pitchFamily="34" charset="-127"/>
              </a:rPr>
              <a:t>클릭</a:t>
            </a:r>
            <a:endParaRPr lang="en-US" altLang="ko-KR" sz="1000" b="1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5810271" y="4770438"/>
            <a:ext cx="785812" cy="144462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9" name="Shape 28"/>
          <p:cNvCxnSpPr>
            <a:stCxn id="23" idx="3"/>
            <a:endCxn id="19469" idx="2"/>
          </p:cNvCxnSpPr>
          <p:nvPr/>
        </p:nvCxnSpPr>
        <p:spPr>
          <a:xfrm flipV="1">
            <a:off x="5746771" y="6175375"/>
            <a:ext cx="1885950" cy="16668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2" name="Shape 31"/>
          <p:cNvCxnSpPr>
            <a:stCxn id="19469" idx="0"/>
            <a:endCxn id="27" idx="3"/>
          </p:cNvCxnSpPr>
          <p:nvPr/>
        </p:nvCxnSpPr>
        <p:spPr>
          <a:xfrm rot="16200000" flipV="1">
            <a:off x="6896120" y="5192713"/>
            <a:ext cx="436563" cy="103663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19473" name="TextBox 4"/>
          <p:cNvSpPr txBox="1">
            <a:spLocks noChangeArrowheads="1"/>
          </p:cNvSpPr>
          <p:nvPr/>
        </p:nvSpPr>
        <p:spPr bwMode="auto">
          <a:xfrm>
            <a:off x="6596063" y="4786313"/>
            <a:ext cx="3000375" cy="269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표시된 코드를 더블클릭해서 입력할 수 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458" name="Picture 12"/>
          <p:cNvPicPr>
            <a:picLocks noChangeAspect="1" noChangeArrowheads="1"/>
          </p:cNvPicPr>
          <p:nvPr/>
        </p:nvPicPr>
        <p:blipFill>
          <a:blip r:embed="rId2"/>
          <a:srcRect l="36079"/>
          <a:stretch>
            <a:fillRect/>
          </a:stretch>
        </p:blipFill>
        <p:spPr bwMode="auto">
          <a:xfrm>
            <a:off x="595313" y="1500188"/>
            <a:ext cx="3771900" cy="423862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1946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1738289" y="2000251"/>
            <a:ext cx="1571637" cy="14286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9474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혈액검사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4" name="그룹 13"/>
          <p:cNvGrpSpPr/>
          <p:nvPr/>
        </p:nvGrpSpPr>
        <p:grpSpPr>
          <a:xfrm>
            <a:off x="4738688" y="1000125"/>
            <a:ext cx="4894262" cy="4154984"/>
            <a:chOff x="4738688" y="1000125"/>
            <a:chExt cx="4894262" cy="4154984"/>
          </a:xfrm>
        </p:grpSpPr>
        <p:sp>
          <p:nvSpPr>
            <p:cNvPr id="19462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415498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검진자의 검진 항목을 추가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혹은 삭제할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입력창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상단에 추가코드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버튼을 이용하여 검사항목을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추가코드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추가검사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개별코드를 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항목삭제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개별코드를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전체삭제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들어가있는 검사항목 전체를 삭제합니다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방사선 촬영 방법을 변경할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방사선 촬영 유형을 선택하고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적용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046448" y="1285860"/>
              <a:ext cx="2000250" cy="409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9" name="직사각형 8"/>
            <p:cNvSpPr/>
            <p:nvPr/>
          </p:nvSpPr>
          <p:spPr>
            <a:xfrm>
              <a:off x="4999724" y="1420498"/>
              <a:ext cx="285752" cy="285752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" name="그림 9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024438" y="3500438"/>
              <a:ext cx="1629002" cy="876422"/>
            </a:xfrm>
            <a:prstGeom prst="rect">
              <a:avLst/>
            </a:prstGeom>
            <a:ln>
              <a:solidFill>
                <a:schemeClr val="tx1"/>
              </a:solidFill>
            </a:ln>
          </p:spPr>
        </p:pic>
      </p:grpSp>
      <p:sp>
        <p:nvSpPr>
          <p:cNvPr id="11" name="직사각형 10"/>
          <p:cNvSpPr/>
          <p:nvPr/>
        </p:nvSpPr>
        <p:spPr>
          <a:xfrm>
            <a:off x="3342878" y="1983764"/>
            <a:ext cx="967180" cy="23079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13" name="Shape 12"/>
          <p:cNvCxnSpPr>
            <a:stCxn id="11" idx="2"/>
            <a:endCxn id="10" idx="1"/>
          </p:cNvCxnSpPr>
          <p:nvPr/>
        </p:nvCxnSpPr>
        <p:spPr>
          <a:xfrm rot="16200000" flipH="1">
            <a:off x="3563406" y="2477616"/>
            <a:ext cx="1724095" cy="1197970"/>
          </a:xfrm>
          <a:prstGeom prst="bentConnector2">
            <a:avLst/>
          </a:prstGeom>
          <a:ln w="19050">
            <a:solidFill>
              <a:srgbClr val="FF000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482" name="Picture 8"/>
          <p:cNvPicPr>
            <a:picLocks noChangeAspect="1" noChangeArrowheads="1"/>
          </p:cNvPicPr>
          <p:nvPr/>
        </p:nvPicPr>
        <p:blipFill>
          <a:blip r:embed="rId2"/>
          <a:srcRect l="35715"/>
          <a:stretch>
            <a:fillRect/>
          </a:stretch>
        </p:blipFill>
        <p:spPr bwMode="auto">
          <a:xfrm>
            <a:off x="561975" y="1479550"/>
            <a:ext cx="3857625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0484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2000250"/>
            <a:ext cx="3786187" cy="3571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048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장비검사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0" name="그룹 9"/>
          <p:cNvGrpSpPr/>
          <p:nvPr/>
        </p:nvGrpSpPr>
        <p:grpSpPr>
          <a:xfrm>
            <a:off x="4738688" y="1000125"/>
            <a:ext cx="4894262" cy="4310055"/>
            <a:chOff x="4738688" y="1000125"/>
            <a:chExt cx="4894262" cy="4310055"/>
          </a:xfrm>
        </p:grpSpPr>
        <p:sp>
          <p:nvSpPr>
            <p:cNvPr id="20486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6004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2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장비 검사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장비검사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소견형식의 결과 </a:t>
              </a:r>
              <a:r>
                <a:rPr kumimoji="0" lang="ko-KR" altLang="en-US" sz="1000" dirty="0" err="1">
                  <a:latin typeface="나눔고딕OTF" pitchFamily="34" charset="-127"/>
                  <a:ea typeface="나눔고딕OTF" pitchFamily="34" charset="-127"/>
                </a:rPr>
                <a:t>입력창이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검사 항목별로 소견 코드를 등록하여 사용하거나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직접 입력할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b="1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 코드로 결과 입력</a:t>
              </a:r>
              <a:endParaRPr kumimoji="0" lang="en-US" altLang="ko-KR" sz="1000" b="1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검사항목명 밑의           버튼을 클릭하면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해당 검사항목에 등록되어 있는 소견    코드를 검색할 수 있습니다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               </a:t>
              </a:r>
              <a:r>
                <a:rPr kumimoji="0" lang="ko-KR" altLang="en-US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조회 화면 </a:t>
              </a: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=&gt;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결과를 입력한 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저장 버튼을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클릭하면 저장됩니다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상단의 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정상 결과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버튼을 클릭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하면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각 항목에 정상으로 등록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되어 있는 소견이 자동으로</a:t>
              </a:r>
              <a:endParaRPr kumimoji="0" lang="en-US" altLang="ko-KR" sz="1000" dirty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입력됩니다</a:t>
              </a: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. </a:t>
              </a:r>
            </a:p>
          </p:txBody>
        </p:sp>
        <p:pic>
          <p:nvPicPr>
            <p:cNvPr id="20488" name="Picture 9"/>
            <p:cNvPicPr>
              <a:picLocks noChangeAspect="1" noChangeArrowheads="1"/>
            </p:cNvPicPr>
            <p:nvPr/>
          </p:nvPicPr>
          <p:blipFill>
            <a:blip r:embed="rId3"/>
            <a:srcRect t="5560"/>
            <a:stretch>
              <a:fillRect/>
            </a:stretch>
          </p:blipFill>
          <p:spPr bwMode="auto">
            <a:xfrm>
              <a:off x="6096008" y="1979613"/>
              <a:ext cx="238125" cy="160337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</p:spPr>
        </p:pic>
        <p:pic>
          <p:nvPicPr>
            <p:cNvPr id="20489" name="Picture 10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738950" y="2357430"/>
              <a:ext cx="2643187" cy="29527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79550"/>
            <a:ext cx="3727281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0" name="직사각형 19"/>
          <p:cNvSpPr/>
          <p:nvPr/>
        </p:nvSpPr>
        <p:spPr>
          <a:xfrm>
            <a:off x="595313" y="1967299"/>
            <a:ext cx="1928795" cy="10715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소견 결과입력 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종합소견 입력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0" name="직사각형 9"/>
          <p:cNvSpPr/>
          <p:nvPr/>
        </p:nvSpPr>
        <p:spPr>
          <a:xfrm>
            <a:off x="595313" y="3824676"/>
            <a:ext cx="3714745" cy="174746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직사각형 10"/>
          <p:cNvSpPr/>
          <p:nvPr/>
        </p:nvSpPr>
        <p:spPr>
          <a:xfrm>
            <a:off x="2524109" y="2643182"/>
            <a:ext cx="1785950" cy="64294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16781" y="179688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2381232" y="242886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364331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grpSp>
        <p:nvGrpSpPr>
          <p:cNvPr id="16" name="그룹 15"/>
          <p:cNvGrpSpPr/>
          <p:nvPr/>
        </p:nvGrpSpPr>
        <p:grpSpPr>
          <a:xfrm>
            <a:off x="4738688" y="1000125"/>
            <a:ext cx="4894262" cy="5385650"/>
            <a:chOff x="4738688" y="1000125"/>
            <a:chExt cx="4894262" cy="5385650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23165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 startAt="3"/>
              </a:pP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소견 결과 입력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(</a:t>
              </a:r>
              <a:r>
                <a:rPr kumimoji="0" lang="ko-KR" altLang="en-US" sz="1000" b="1" dirty="0">
                  <a:latin typeface="나눔고딕OTF" pitchFamily="34" charset="-127"/>
                  <a:ea typeface="나눔고딕OTF" pitchFamily="34" charset="-127"/>
                </a:rPr>
                <a:t>종합 소견</a:t>
              </a: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 결과에 대한 종합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/>
                </a:rPr>
                <a:t>소견을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프로그램에서 기본적으로 제공하는 종합소견 코드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(X999, Y999)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를 검사 항목에 추가해야 사용할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추가하지 않으면 안내 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이상결과 항목을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선택한 이상결과 항목에 속해있는 소견코드를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더블클릭하면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 소견이 ③에 입력됩니다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③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종합소견 입력 화면입니다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②에서 선택한 소견이 표시되고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추가로 직접 입력할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r>
                <a:rPr kumimoji="0" lang="ko-KR" altLang="en-US" sz="1000" dirty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소견을 입력하거나 수정한 뒤에는 반드시 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(F2)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눌러주시기 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②의 소견코드는 상단 메뉴의 코드관리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–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소견코드 에서 관리할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1512" name="Picture 8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167446" y="1857364"/>
              <a:ext cx="1785950" cy="90837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15" name="그림 14" descr="캡처.PNG"/>
            <p:cNvPicPr>
              <a:picLocks noChangeAspect="1"/>
            </p:cNvPicPr>
            <p:nvPr/>
          </p:nvPicPr>
          <p:blipFill>
            <a:blip r:embed="rId4"/>
            <a:stretch>
              <a:fillRect/>
            </a:stretch>
          </p:blipFill>
          <p:spPr>
            <a:xfrm>
              <a:off x="5738818" y="4286256"/>
              <a:ext cx="2601939" cy="2099519"/>
            </a:xfrm>
            <a:prstGeom prst="rect">
              <a:avLst/>
            </a:prstGeom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27146" y="1491823"/>
            <a:ext cx="3727281" cy="4274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문진 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건강검진 문진표 입력</a:t>
            </a:r>
            <a:endParaRPr kumimoji="0" lang="en-US" altLang="ko-KR" sz="1000" b="1" dirty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공단검진 문진표를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 접수와 동시에 각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기본값으로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정상값이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입력되어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상단에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기본값해제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기본값이 삭제됩니다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문진값에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숫자를 입력하고 키보드의 탭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(Tab)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엔터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(Enter)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키를 입력하면 커서가 다음으로 넘어갑니다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값을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저장해주어야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저장버튼을 클릭하면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작업자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작업자의 아이디와 작업일자가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15" name="그룹 14"/>
          <p:cNvGrpSpPr/>
          <p:nvPr/>
        </p:nvGrpSpPr>
        <p:grpSpPr>
          <a:xfrm>
            <a:off x="4738688" y="1000125"/>
            <a:ext cx="4894262" cy="5262979"/>
            <a:chOff x="4738688" y="1000125"/>
            <a:chExt cx="4894262" cy="5262979"/>
          </a:xfrm>
        </p:grpSpPr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5262979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 화면에서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대상자를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메인 화면 상단의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 입력화면이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위암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대장암 등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유형을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순서대로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각각 숫자 결과값을 입력한 뒤 키보드의 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(Tab)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누르면 다음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입력칸으로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커서가 옮겨갑니다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커서가 옮겨가면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결과 입력 가이드가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  <a:sym typeface="Wingdings" pitchFamily="2" charset="2"/>
                </a:rPr>
                <a:t>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판정일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판정의를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입력한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 내용이 저장됩니다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눌러 최종완료 처리를 해야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출력할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 처리된 상태에서는 결과값을 수정할 수 없습니다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수정하려면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버튼을 한번 더 클릭하여 완료처리를 취소하고 수정한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검진일자동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을 체크하면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 결과 입력 시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입력할 때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자동으로 현재 날짜가 입력됩니다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차검진과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추가검진을 같은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인적사항에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입력하면 청구파일이 생성되지 않으니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이 점 유의하여 주시기 바랍니다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예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)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위내시경과 대장내시경을 동시에 하는 경우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위 내시경은 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”1</a:t>
              </a:r>
              <a:r>
                <a:rPr kumimoji="0" lang="ko-KR" altLang="en-US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 검진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이고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대장 내시경은 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추가검진</a:t>
              </a:r>
              <a:r>
                <a:rPr kumimoji="0" lang="en-US" altLang="ko-KR" sz="1200" b="1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이므로 접수를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2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번하여 각각 입력하여야 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8147299" y="2500306"/>
              <a:ext cx="1306295" cy="1428760"/>
            </a:xfrm>
            <a:prstGeom prst="rect">
              <a:avLst/>
            </a:prstGeom>
            <a:noFill/>
            <a:ln w="9525">
              <a:solidFill>
                <a:srgbClr val="FF0000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79550"/>
            <a:ext cx="3582457" cy="4298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114425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결과 입력</a:t>
            </a: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암 결과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입력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grpSp>
        <p:nvGrpSpPr>
          <p:cNvPr id="26" name="그룹 25"/>
          <p:cNvGrpSpPr/>
          <p:nvPr/>
        </p:nvGrpSpPr>
        <p:grpSpPr>
          <a:xfrm>
            <a:off x="4738688" y="1000125"/>
            <a:ext cx="4894262" cy="5357833"/>
            <a:chOff x="4738688" y="1000125"/>
            <a:chExt cx="4894262" cy="5357833"/>
          </a:xfrm>
        </p:grpSpPr>
        <p:pic>
          <p:nvPicPr>
            <p:cNvPr id="3077" name="Picture 5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593124" y="2261278"/>
              <a:ext cx="1643074" cy="66797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1510" name="TextBox 4"/>
            <p:cNvSpPr txBox="1">
              <a:spLocks noChangeArrowheads="1"/>
            </p:cNvSpPr>
            <p:nvPr/>
          </p:nvSpPr>
          <p:spPr bwMode="auto">
            <a:xfrm>
              <a:off x="4738688" y="1000125"/>
              <a:ext cx="4894262" cy="3323987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50000"/>
                </a:lnSpc>
                <a:buAutoNum type="arabicParenR" startAt="5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추가체크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이력이 있는 경우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(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대장분변검사 후 조영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or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내시경 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에는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암 추가검사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로 접수해야 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타 병원에서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차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암검진을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하고 온 경우에는 해당되지 않습니다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접수 시 추가검진 체크를 하지 못한 경우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인적수정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창에서 설정할 수 있습니다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암검진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결과를 동일하게 입력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완료처리까지 한 뒤에                    버튼을 클릭합니다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추가청구체크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화면이 호출됩니다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여기서 추가 검사한 항목을 선택하고 저장한 뒤 청구파일을 생성해야 정상적인 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50000"/>
                </a:lnSpc>
              </a:pP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3074" name="Picture 2"/>
            <p:cNvPicPr>
              <a:picLocks noChangeAspect="1" noChangeArrowheads="1"/>
            </p:cNvPicPr>
            <p:nvPr/>
          </p:nvPicPr>
          <p:blipFill>
            <a:blip r:embed="rId4">
              <a:lum contrast="2000"/>
            </a:blip>
            <a:srcRect/>
            <a:stretch>
              <a:fillRect/>
            </a:stretch>
          </p:blipFill>
          <p:spPr bwMode="auto">
            <a:xfrm>
              <a:off x="8453462" y="1285860"/>
              <a:ext cx="1000125" cy="4857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grpSp>
          <p:nvGrpSpPr>
            <p:cNvPr id="11" name="그룹 10"/>
            <p:cNvGrpSpPr/>
            <p:nvPr/>
          </p:nvGrpSpPr>
          <p:grpSpPr>
            <a:xfrm>
              <a:off x="5095876" y="2285992"/>
              <a:ext cx="4143404" cy="642936"/>
              <a:chOff x="7179484" y="2571744"/>
              <a:chExt cx="4143404" cy="642936"/>
            </a:xfrm>
          </p:grpSpPr>
          <p:pic>
            <p:nvPicPr>
              <p:cNvPr id="3075" name="Picture 3"/>
              <p:cNvPicPr>
                <a:picLocks noChangeAspect="1" noChangeArrowheads="1"/>
              </p:cNvPicPr>
              <p:nvPr/>
            </p:nvPicPr>
            <p:blipFill>
              <a:blip r:embed="rId5"/>
              <a:srcRect/>
              <a:stretch>
                <a:fillRect/>
              </a:stretch>
            </p:blipFill>
            <p:spPr bwMode="auto">
              <a:xfrm>
                <a:off x="7179484" y="2571744"/>
                <a:ext cx="1535903" cy="642936"/>
              </a:xfrm>
              <a:prstGeom prst="rect">
                <a:avLst/>
              </a:prstGeom>
              <a:noFill/>
              <a:ln w="9525">
                <a:solidFill>
                  <a:schemeClr val="tx1"/>
                </a:solidFill>
                <a:miter lim="800000"/>
                <a:headEnd/>
                <a:tailEnd/>
              </a:ln>
              <a:effectLst/>
            </p:spPr>
          </p:pic>
          <p:sp>
            <p:nvSpPr>
              <p:cNvPr id="10" name="직사각형 9"/>
              <p:cNvSpPr/>
              <p:nvPr/>
            </p:nvSpPr>
            <p:spPr>
              <a:xfrm>
                <a:off x="8382024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  <p:sp>
            <p:nvSpPr>
              <p:cNvPr id="14" name="직사각형 13"/>
              <p:cNvSpPr/>
              <p:nvPr/>
            </p:nvSpPr>
            <p:spPr>
              <a:xfrm>
                <a:off x="10965698" y="2857496"/>
                <a:ext cx="357190" cy="214314"/>
              </a:xfrm>
              <a:prstGeom prst="rect">
                <a:avLst/>
              </a:prstGeom>
              <a:noFill/>
              <a:ln>
                <a:solidFill>
                  <a:srgbClr val="FF0000"/>
                </a:solidFill>
              </a:ln>
            </p:spPr>
            <p:style>
              <a:lnRef idx="2">
                <a:schemeClr val="accent1">
                  <a:shade val="50000"/>
                </a:schemeClr>
              </a:lnRef>
              <a:fillRef idx="1">
                <a:schemeClr val="accent1"/>
              </a:fillRef>
              <a:effectRef idx="0">
                <a:schemeClr val="accent1"/>
              </a:effectRef>
              <a:fontRef idx="minor">
                <a:schemeClr val="lt1"/>
              </a:fontRef>
            </p:style>
            <p:txBody>
              <a:bodyPr anchor="ctr"/>
              <a:lstStyle/>
              <a:p>
                <a:pPr algn="ctr" fontAlgn="auto">
                  <a:spcBef>
                    <a:spcPts val="0"/>
                  </a:spcBef>
                  <a:spcAft>
                    <a:spcPts val="0"/>
                  </a:spcAft>
                  <a:defRPr/>
                </a:pPr>
                <a:endParaRPr kumimoji="0" lang="ko-KR" altLang="en-US">
                  <a:latin typeface="나눔고딕OTF" pitchFamily="34" charset="-127"/>
                  <a:ea typeface="나눔고딕OTF" pitchFamily="34" charset="-127"/>
                </a:endParaRPr>
              </a:p>
            </p:txBody>
          </p:sp>
        </p:grpSp>
        <p:sp>
          <p:nvSpPr>
            <p:cNvPr id="17" name="직사각형 16"/>
            <p:cNvSpPr/>
            <p:nvPr/>
          </p:nvSpPr>
          <p:spPr>
            <a:xfrm>
              <a:off x="6738950" y="2857496"/>
              <a:ext cx="714379" cy="285750"/>
            </a:xfrm>
            <a:prstGeom prst="rect">
              <a:avLst/>
            </a:prstGeom>
            <a:solidFill>
              <a:srgbClr val="FFFF00"/>
            </a:solidFill>
            <a:ln>
              <a:solidFill>
                <a:schemeClr val="tx1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ko-KR" altLang="en-US" sz="1000" b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더블클릭</a:t>
              </a:r>
              <a:endParaRPr lang="ko-KR" altLang="en-US" sz="1000" b="1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cxnSp>
          <p:nvCxnSpPr>
            <p:cNvPr id="20" name="직선 화살표 연결선 19"/>
            <p:cNvCxnSpPr/>
            <p:nvPr/>
          </p:nvCxnSpPr>
          <p:spPr>
            <a:xfrm>
              <a:off x="6738950" y="2571744"/>
              <a:ext cx="785818" cy="1588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cxnSp>
          <p:nvCxnSpPr>
            <p:cNvPr id="22" name="Shape 21"/>
            <p:cNvCxnSpPr>
              <a:stCxn id="17" idx="1"/>
              <a:endCxn id="10" idx="2"/>
            </p:cNvCxnSpPr>
            <p:nvPr/>
          </p:nvCxnSpPr>
          <p:spPr>
            <a:xfrm rot="10800000">
              <a:off x="6477012" y="2786059"/>
              <a:ext cx="261939" cy="214313"/>
            </a:xfrm>
            <a:prstGeom prst="bentConnector2">
              <a:avLst/>
            </a:prstGeom>
            <a:ln w="19050">
              <a:solidFill>
                <a:srgbClr val="FF000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3078" name="Picture 6"/>
            <p:cNvPicPr>
              <a:picLocks noChangeAspect="1" noChangeArrowheads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 bwMode="auto">
            <a:xfrm>
              <a:off x="7777569" y="3382276"/>
              <a:ext cx="642942" cy="19214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pic>
          <p:nvPicPr>
            <p:cNvPr id="3079" name="Picture 7"/>
            <p:cNvPicPr>
              <a:picLocks noChangeAspect="1" noChangeArrowheads="1"/>
            </p:cNvPicPr>
            <p:nvPr/>
          </p:nvPicPr>
          <p:blipFill>
            <a:blip r:embed="rId7"/>
            <a:srcRect/>
            <a:stretch>
              <a:fillRect/>
            </a:stretch>
          </p:blipFill>
          <p:spPr bwMode="auto">
            <a:xfrm>
              <a:off x="5667380" y="4055023"/>
              <a:ext cx="3571900" cy="230293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25" name="직사각형 24"/>
            <p:cNvSpPr/>
            <p:nvPr/>
          </p:nvSpPr>
          <p:spPr>
            <a:xfrm>
              <a:off x="7810520" y="5929330"/>
              <a:ext cx="357190" cy="214314"/>
            </a:xfrm>
            <a:prstGeom prst="rect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>
                <a:latin typeface="나눔고딕OTF" pitchFamily="34" charset="-127"/>
                <a:ea typeface="나눔고딕OTF" pitchFamily="34" charset="-127"/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374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1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 판정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차판정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33239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차 건강검진 판정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입력되어있는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결과 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미입력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항목과 이상결과 항목을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우측 상단의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차항목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 검사항목 전체를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자동으로 판정정보를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기준은 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판정코드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설정합니다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일괄자동판정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버튼은 조회한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전체를 일괄적으로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자동판정합니다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등록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접수되어있지 않은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건강검진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접수자로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등록합니다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삭제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건강검진으로 등록되어 있는 검진자의 건강검진 등록을 취소합니다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통보일자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결과통보서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출력할 때 현재 날짜로 자동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③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자동으로 판정된 정보가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임의로 수정하고 저장할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④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바로조치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적극적인관리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내용이 자동으로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메뉴의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소견코드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에서 입력되는 문장을 수정할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②의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일반질병판정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클릭하면 노동부 판정이 진행되고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정보가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1506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99558" y="1428736"/>
            <a:ext cx="3800673" cy="43577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967205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2</a:t>
            </a:r>
            <a:r>
              <a:rPr kumimoji="0" lang="ko-KR" altLang="en-US" dirty="0" err="1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차검진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 결과 입력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150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21511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037013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차 결과입력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510" name="TextBox 4"/>
          <p:cNvSpPr txBox="1">
            <a:spLocks noChangeArrowheads="1"/>
          </p:cNvSpPr>
          <p:nvPr/>
        </p:nvSpPr>
        <p:spPr bwMode="auto">
          <a:xfrm>
            <a:off x="4738688" y="1000125"/>
            <a:ext cx="4894262" cy="124649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50000"/>
              </a:lnSpc>
              <a:buAutoNum type="arabicParenR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결과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동시에 청구하는 법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판정 쪽에서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항목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란이랑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정확히 어떤 상관이 있는지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입력방법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디테일하게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다시 한번 물어보자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5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en-US" altLang="ko-KR" sz="1000" dirty="0" err="1" smtClean="0">
                <a:latin typeface="나눔고딕OTF" pitchFamily="34" charset="-127"/>
                <a:ea typeface="나눔고딕OTF" pitchFamily="34" charset="-127"/>
              </a:rPr>
              <a:t>ppt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순서 생각해보자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직사각형 20"/>
          <p:cNvSpPr/>
          <p:nvPr/>
        </p:nvSpPr>
        <p:spPr>
          <a:xfrm>
            <a:off x="666720" y="2428868"/>
            <a:ext cx="1821107" cy="1887759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직사각형 22"/>
          <p:cNvSpPr/>
          <p:nvPr/>
        </p:nvSpPr>
        <p:spPr>
          <a:xfrm>
            <a:off x="666720" y="4396181"/>
            <a:ext cx="1821107" cy="117596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" name="직사각형 23"/>
          <p:cNvSpPr/>
          <p:nvPr/>
        </p:nvSpPr>
        <p:spPr>
          <a:xfrm>
            <a:off x="2524108" y="2428868"/>
            <a:ext cx="1940800" cy="965121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390514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>
                <a:solidFill>
                  <a:schemeClr val="tx1"/>
                </a:solidFill>
              </a:rPr>
              <a:t>1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523844" y="4214818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4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4310058" y="228599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3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310058" y="3214686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5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2524108" y="4572008"/>
            <a:ext cx="1940800" cy="1181494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310058" y="4429132"/>
            <a:ext cx="249939" cy="274798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200" dirty="0" smtClean="0">
                <a:solidFill>
                  <a:schemeClr val="tx1"/>
                </a:solidFill>
              </a:rPr>
              <a:t>2</a:t>
            </a:r>
            <a:endParaRPr lang="ko-KR" altLang="en-US" sz="12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1757212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Ⅲ. </a:t>
            </a:r>
            <a:r>
              <a:rPr kumimoji="0" lang="ko-KR" altLang="en-US" sz="3600" b="1" dirty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예약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606892" y="1357313"/>
            <a:ext cx="6685865" cy="492918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메인 화면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1524000" y="1500188"/>
            <a:ext cx="1285860" cy="714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예약관리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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검진예약 화면이 나타납니다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8" name="직사각형 7"/>
          <p:cNvSpPr/>
          <p:nvPr/>
        </p:nvSpPr>
        <p:spPr>
          <a:xfrm>
            <a:off x="1758094" y="1855092"/>
            <a:ext cx="704850" cy="16986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4122"/>
            <a:ext cx="5930726" cy="408700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1975526"/>
            <a:ext cx="2555862" cy="35578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 구분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 구분을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접수와 동일하게 중복선택 가능합니다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인적사항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입력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예약할 검진자의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노란색으로 표시된 항목은 필수 입력항목 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파란색으로 표시된 항목은 공단조회 시 자동으로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입력되는 항목입니다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하단의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“View”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버튼을 클릭하면 공단조회 화면이 표시됩니다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검진항목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생성되어있는 묶음코드가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추가할 묶음을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더블클릭하면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4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에 묶음이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클릭하여 예약을 완료합니다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603520" y="2332716"/>
            <a:ext cx="2643206" cy="266792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검진접수 방식과 사용법이 유사합니다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타원 9"/>
          <p:cNvSpPr/>
          <p:nvPr/>
        </p:nvSpPr>
        <p:spPr>
          <a:xfrm>
            <a:off x="367196" y="2338124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3" name="타원 12"/>
          <p:cNvSpPr/>
          <p:nvPr/>
        </p:nvSpPr>
        <p:spPr>
          <a:xfrm>
            <a:off x="367196" y="1785926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095612" y="17144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3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1" name="직사각형 20"/>
          <p:cNvSpPr/>
          <p:nvPr/>
        </p:nvSpPr>
        <p:spPr>
          <a:xfrm>
            <a:off x="611188" y="5000636"/>
            <a:ext cx="2555862" cy="714380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367196" y="4786322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 smtClean="0">
                <a:solidFill>
                  <a:schemeClr val="tx1"/>
                </a:solidFill>
              </a:rPr>
              <a:t>4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04925" y="1815200"/>
            <a:ext cx="5930726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7" name="그룹 16"/>
          <p:cNvGrpSpPr/>
          <p:nvPr/>
        </p:nvGrpSpPr>
        <p:grpSpPr>
          <a:xfrm>
            <a:off x="6524625" y="1593850"/>
            <a:ext cx="3108325" cy="3970318"/>
            <a:chOff x="6524625" y="1593850"/>
            <a:chExt cx="3108325" cy="3970318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97031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FontTx/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예약 내역 조회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예약일자 등 조건을 설정하여 예약 내역을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이미 접수된 사람은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접수자 제외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’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를 체크하여 제외하고 조회할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조회한 내역에서 접수할 인원을 체크한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접수일자 선택 화면이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접수처리 된 내역은 예약일자 칸의 색이 변경됩니다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접수취소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예약내역의 접수 처리를 취소합니다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일자변경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검진자의 예약 일자를 변경합니다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엑셀저장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내역을 엑셀파일로 저장합니다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>
              <a:lum contrast="1000"/>
            </a:blip>
            <a:srcRect/>
            <a:stretch>
              <a:fillRect/>
            </a:stretch>
          </p:blipFill>
          <p:spPr bwMode="auto">
            <a:xfrm>
              <a:off x="7167578" y="2995807"/>
              <a:ext cx="1864908" cy="90854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925846" y="4225118"/>
              <a:ext cx="962025" cy="49530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15200"/>
            <a:ext cx="5916775" cy="408485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477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예약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303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화면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175432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엑셀파일 양식을 이용하여 일괄예약을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양식 다운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 엑셀양식을 다운로드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다운로드된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양식대로 정확히 입력해야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불러오기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양식대로 예약정보가 입력된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 파일을 불러옵니다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파일을 불러오면 그림과 같이 엑셀파일의 내용이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일괄예약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불러온 엑셀파일을 예약처리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검진예약 화면</a:t>
            </a:r>
            <a:endParaRPr kumimoji="0" lang="en-US" altLang="ko-KR" sz="12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238488" y="1975526"/>
            <a:ext cx="3286148" cy="3882366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Ⅳ.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건강검진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6626" name="Picture 2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1523976" y="1392478"/>
            <a:ext cx="6685865" cy="15364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기록지 출력</a:t>
            </a:r>
            <a:endParaRPr kumimoji="0" lang="ko-KR" altLang="en-US" dirty="0">
              <a:solidFill>
                <a:schemeClr val="bg1">
                  <a:lumMod val="50000"/>
                </a:schemeClr>
              </a:solidFill>
              <a:latin typeface="나눔고딕OTF ExtraBold" pitchFamily="34" charset="-127"/>
              <a:ea typeface="나눔고딕OTF ExtraBold" pitchFamily="34" charset="-127"/>
            </a:endParaRPr>
          </a:p>
        </p:txBody>
      </p:sp>
      <p:sp>
        <p:nvSpPr>
          <p:cNvPr id="2662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9143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기록지 출력 프로그램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630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기록지 출력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9" name="TextBox 4"/>
          <p:cNvSpPr txBox="1">
            <a:spLocks noChangeArrowheads="1"/>
          </p:cNvSpPr>
          <p:nvPr/>
        </p:nvSpPr>
        <p:spPr bwMode="auto">
          <a:xfrm>
            <a:off x="738158" y="3143248"/>
            <a:ext cx="3857652" cy="323165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or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예약 구분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예약하지 않고 바로 접수한 검진자만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예약으로 접수된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예약 후 접수처리 완료된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모두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정렬순서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검진자가 두 명 이상일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순서를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검진장소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접수 시 설정한 검진 장소를 구분합니다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폼지여백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 시 여백을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5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기본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인적정보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기본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한명만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검체번호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성명을 정확히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특정 사업장에 해당하는 인원을 출력하는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0" name="TextBox 4"/>
          <p:cNvSpPr txBox="1">
            <a:spLocks noChangeArrowheads="1"/>
          </p:cNvSpPr>
          <p:nvPr/>
        </p:nvSpPr>
        <p:spPr bwMode="auto">
          <a:xfrm>
            <a:off x="4738686" y="3143248"/>
            <a:ext cx="4357718" cy="156966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 예시와 같이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대상의 범위를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6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출력 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기록지 출력 시 사용할 옵션에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7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기록지 종류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기록지의 유형을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ex) 1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차검진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검진자는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기록지로 출력되지 않습니다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8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위에서 설정한 조건을 토대로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조회하고 기록지를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1" name="타원 20"/>
          <p:cNvSpPr/>
          <p:nvPr/>
        </p:nvSpPr>
        <p:spPr>
          <a:xfrm>
            <a:off x="1523976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" name="타원 21"/>
          <p:cNvSpPr/>
          <p:nvPr/>
        </p:nvSpPr>
        <p:spPr>
          <a:xfrm>
            <a:off x="152397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타원 22"/>
          <p:cNvSpPr/>
          <p:nvPr/>
        </p:nvSpPr>
        <p:spPr>
          <a:xfrm>
            <a:off x="1523976" y="221455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4" name="타원 23"/>
          <p:cNvSpPr/>
          <p:nvPr/>
        </p:nvSpPr>
        <p:spPr>
          <a:xfrm>
            <a:off x="1523976" y="257174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4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8" name="타원 27"/>
          <p:cNvSpPr/>
          <p:nvPr/>
        </p:nvSpPr>
        <p:spPr>
          <a:xfrm>
            <a:off x="716757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8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9" name="직사각형 28"/>
          <p:cNvSpPr/>
          <p:nvPr/>
        </p:nvSpPr>
        <p:spPr>
          <a:xfrm>
            <a:off x="3936392" y="1698012"/>
            <a:ext cx="3231186" cy="94517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30" name="직사각형 29"/>
          <p:cNvSpPr/>
          <p:nvPr/>
        </p:nvSpPr>
        <p:spPr>
          <a:xfrm>
            <a:off x="7239016" y="1596326"/>
            <a:ext cx="883492" cy="669079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7096140" y="142873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6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7" name="타원 26"/>
          <p:cNvSpPr/>
          <p:nvPr/>
        </p:nvSpPr>
        <p:spPr>
          <a:xfrm>
            <a:off x="6096008" y="250030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7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5" name="타원 24"/>
          <p:cNvSpPr/>
          <p:nvPr/>
        </p:nvSpPr>
        <p:spPr>
          <a:xfrm>
            <a:off x="3809992" y="151665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5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78565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 조건 및 출력옵션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검색할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인적정보를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대상자는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판정 완료자만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암검진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대상자는 완료 처리된 검진자만 조회합니다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참고치년도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통보서에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적용할 검진항목들의 참고치 년도를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메인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건강검진 항목설정 에서 확인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출력할 결과지 형태를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창결과지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폼지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), A4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용지 중 선택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출력구분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직접출력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파일저장 등 설정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좌측 상단 위의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생성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을 클릭하고 파일저장으로 출력하면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PDF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파일로 저장됩니다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저장경로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C:\AILiss\Pic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조건 설정 후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해당하는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검진자들이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2000240"/>
            <a:ext cx="5857916" cy="1500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301424" y="3198210"/>
            <a:ext cx="857256" cy="14287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2524108" y="2516781"/>
            <a:ext cx="1004905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3543292" y="2516781"/>
            <a:ext cx="876310" cy="16875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844555"/>
            <a:ext cx="5916775" cy="402614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419252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통보서 출력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768707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통보서 출력 프로그램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공단양식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3500438"/>
            <a:ext cx="585791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335756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직사각형 11"/>
          <p:cNvSpPr/>
          <p:nvPr/>
        </p:nvSpPr>
        <p:spPr>
          <a:xfrm>
            <a:off x="1738290" y="3500438"/>
            <a:ext cx="1000132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335665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785410" y="3500438"/>
            <a:ext cx="785818" cy="28575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직사각형 16"/>
          <p:cNvSpPr/>
          <p:nvPr/>
        </p:nvSpPr>
        <p:spPr>
          <a:xfrm>
            <a:off x="4843076" y="3262184"/>
            <a:ext cx="569183" cy="2217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8" name="타원 17"/>
          <p:cNvSpPr/>
          <p:nvPr/>
        </p:nvSpPr>
        <p:spPr>
          <a:xfrm>
            <a:off x="4667248" y="314324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19" name="그룹 18"/>
          <p:cNvGrpSpPr/>
          <p:nvPr/>
        </p:nvGrpSpPr>
        <p:grpSpPr>
          <a:xfrm>
            <a:off x="6524625" y="1593850"/>
            <a:ext cx="3108325" cy="3416320"/>
            <a:chOff x="6524625" y="1593850"/>
            <a:chExt cx="3108325" cy="3416320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41632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출력 대상 </a:t>
              </a: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및 선택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검진자들이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수검한 검진유형에 검진 날짜가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한번도 뽑지 않은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검진자는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자동으로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 체크되어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검진 통보서 출력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 화면에서 선택한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통보서를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출력합니다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체크되어 있는 내역만 출력합니다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한번이라도 출력한 내역은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통보일자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칸에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날짜가 저장되어 표시되고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출력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에 체크됩니다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이미 출력한 내역도 다시 선택하여 재 출력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7167578" y="3929066"/>
              <a:ext cx="1857375" cy="5619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cxnSp>
        <p:nvCxnSpPr>
          <p:cNvPr id="20" name="꺾인 연결선 19"/>
          <p:cNvCxnSpPr>
            <a:stCxn id="17" idx="3"/>
            <a:endCxn id="1026" idx="1"/>
          </p:cNvCxnSpPr>
          <p:nvPr/>
        </p:nvCxnSpPr>
        <p:spPr>
          <a:xfrm>
            <a:off x="5412259" y="3373073"/>
            <a:ext cx="1755319" cy="836981"/>
          </a:xfrm>
          <a:prstGeom prst="bentConnector3">
            <a:avLst>
              <a:gd name="adj1" fmla="val 50000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1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결과 통보서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_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암검진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1921956"/>
            <a:ext cx="5916775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검진결과 성적확인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10164"/>
            <a:ext cx="5882362" cy="6044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633768" y="3071810"/>
            <a:ext cx="5882362" cy="10001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452406" y="292893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22" name="그룹 21"/>
          <p:cNvGrpSpPr/>
          <p:nvPr/>
        </p:nvGrpSpPr>
        <p:grpSpPr>
          <a:xfrm>
            <a:off x="6524625" y="1593850"/>
            <a:ext cx="3108325" cy="4466366"/>
            <a:chOff x="6524625" y="1593850"/>
            <a:chExt cx="3108325" cy="446636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3785652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검진일자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청구여부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선택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란에서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조회할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 유형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검진자를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위에서 선택한 검진유형에 따른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그림의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직역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칸과 같이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붉은색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으로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필수 입력란에 내용이 없으면 청구파일이 생성되지 않으므로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성적확인 후 내용을 입력하여 주시기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바랍니다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가장 우측에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오류확인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란에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청구파일 생성 오류 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내역이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아래 예시의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“A603”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과 같은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오류코드는 공단 책자를 참고하시기 바랍니다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857112" y="3357562"/>
              <a:ext cx="1420995" cy="714380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4"/>
            <a:srcRect b="14724"/>
            <a:stretch>
              <a:fillRect/>
            </a:stretch>
          </p:blipFill>
          <p:spPr bwMode="auto">
            <a:xfrm>
              <a:off x="6810388" y="5429264"/>
              <a:ext cx="2071702" cy="63095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청구시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검진결과 성적확인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TextBox 59"/>
          <p:cNvSpPr txBox="1">
            <a:spLocks noChangeArrowheads="1"/>
          </p:cNvSpPr>
          <p:nvPr/>
        </p:nvSpPr>
        <p:spPr bwMode="auto">
          <a:xfrm>
            <a:off x="487363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-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건강검진 청구파일 생성 양식을 기준으로 데이터를 검사합니다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85926"/>
            <a:ext cx="5205661" cy="387133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파일생성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74134"/>
            <a:ext cx="5143536" cy="13188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79277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9" name="직사각형 18"/>
          <p:cNvSpPr/>
          <p:nvPr/>
        </p:nvSpPr>
        <p:spPr>
          <a:xfrm>
            <a:off x="793120" y="3586960"/>
            <a:ext cx="4929222" cy="1000132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1" name="타원 20"/>
          <p:cNvSpPr/>
          <p:nvPr/>
        </p:nvSpPr>
        <p:spPr>
          <a:xfrm>
            <a:off x="666720" y="343584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검진연계 파일생성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13" name="그룹 12"/>
          <p:cNvGrpSpPr/>
          <p:nvPr/>
        </p:nvGrpSpPr>
        <p:grpSpPr>
          <a:xfrm>
            <a:off x="6024571" y="1571612"/>
            <a:ext cx="3608380" cy="4339650"/>
            <a:chOff x="6024571" y="1593850"/>
            <a:chExt cx="3608380" cy="4339650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024571" y="1593850"/>
              <a:ext cx="3608380" cy="4339650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생성 조건 입력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청구파일을 생성할 조건을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생성구분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검진차수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청구서구분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검진기간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을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확인한 뒤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실행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해당되는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검진자들의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청구 연계파일이 생성됩니다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청구연계파일은 작업한 컴퓨터의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앨리스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폴더 안에 저장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 (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프로그램 하단부 참조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)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입력한 조건에 해당하는 검진자가 없으면 아래와 같은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메시지가 표시됩니다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청구파일 확인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생성한 청구파일을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생성된 인원을 확인하여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1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차적으로 청구파일을 확인합니다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 별 판정 및 통보일자가 있어야만 청구파일이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생성됩니다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청구파일 하나에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100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명까지 생성됩니다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6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310322" y="3560299"/>
              <a:ext cx="2524128" cy="79739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718175"/>
            <a:ext cx="5205661" cy="3564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파일확인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752974"/>
            <a:ext cx="3643338" cy="60445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5716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청구관련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검진연계 파일확인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1" y="1571612"/>
            <a:ext cx="3608380" cy="2677656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파일 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생성한 청구파일을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검진구분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검사년도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청구서구분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청구일자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를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청구일자는 파일 생성시 설정한 날짜입니다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청구파일이 컴퓨터에 없어도 조회는 가능합니다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청구파일 확인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생성되어 있는 청구파일을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반송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선택한 청구파일을 전체 반송처리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엑셀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내역을 엑셀로 출력합니다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개별명단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선택한 청구파일의 명단을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개별명단 화면에 대한 설명은 다음페이지에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666720" y="2387678"/>
            <a:ext cx="5143536" cy="255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452406" y="228599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772285" y="1643050"/>
            <a:ext cx="4994531" cy="356451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705916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청구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534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검진연계 파일확인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개별명단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809596" y="2071678"/>
            <a:ext cx="4929222" cy="157163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95282" y="195351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1" y="1571612"/>
            <a:ext cx="3608380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명단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선택한 청구파일에 들어있는 명단을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우측에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차검진자가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반송처리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 내역에서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체크하고 반송처리 버튼을 클릭하면 선택한 인원만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반송처리됩니다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청구파일 내에서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검진자를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성명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주민번호를 입력하고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청구파일 내역에서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024174" y="1769450"/>
            <a:ext cx="2714644" cy="25550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2881298" y="157161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2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파일 확인 화면에서 선택한 청구파일의 명단을 표시합니다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6720" y="1571612"/>
            <a:ext cx="5181904" cy="4143404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3284874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일반건강검진 결과표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243207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일반건강검진 결과표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714488"/>
            <a:ext cx="5143536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50017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024570" y="1571612"/>
            <a:ext cx="3643337" cy="341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조회 조건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결과표로 출력할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조회 조건을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검진기간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사업장은 필수 입력사항입니다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생애 미포함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체크하면 생애검진자를 제외하고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조회하면 해당 사업장의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검진자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통계를 표시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노동부 판정의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내역을 표시합니다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결과표 조회 내역 요약표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조회된 결과표를 요약하여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유형별 인원통계와 질병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통계를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결과표 출력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화면을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미리보기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화면에서 요약된 내용을 자세하게 확인합니다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페이지 출력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체크한 뒤 출력을 클릭하면 결과표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번째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페이지를 표시합니다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2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페이지에서는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유소견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통계를 </a:t>
            </a:r>
            <a:r>
              <a:rPr kumimoji="0" lang="ko-KR" altLang="en-US" sz="10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소견별로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출력합니다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5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일반건강검진 결과표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일반건강검진 결과표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666720" y="2214553"/>
            <a:ext cx="5143536" cy="3500463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523844" y="207167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11900" y="2000240"/>
            <a:ext cx="5916775" cy="323522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2852063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건강검진 </a:t>
            </a:r>
            <a:r>
              <a:rPr kumimoji="0" lang="en-US" altLang="ko-KR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– </a:t>
            </a: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사후관리 소견서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323346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건강검진 사후관리 소견서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노동부 기준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)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33768" y="2159591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1928802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4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7108844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사후관리 소견서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건강검진 질병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유소견자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사후관리 소견서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(2013)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직사각형 14"/>
          <p:cNvSpPr/>
          <p:nvPr/>
        </p:nvSpPr>
        <p:spPr>
          <a:xfrm>
            <a:off x="633768" y="2928934"/>
            <a:ext cx="5882362" cy="748365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6" name="타원 15"/>
          <p:cNvSpPr/>
          <p:nvPr/>
        </p:nvSpPr>
        <p:spPr>
          <a:xfrm>
            <a:off x="452406" y="278605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38" name="그룹 37"/>
          <p:cNvGrpSpPr/>
          <p:nvPr/>
        </p:nvGrpSpPr>
        <p:grpSpPr>
          <a:xfrm>
            <a:off x="6205806" y="1593850"/>
            <a:ext cx="3427144" cy="4791526"/>
            <a:chOff x="6205806" y="1593850"/>
            <a:chExt cx="3427144" cy="4791526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6524625" y="1593850"/>
              <a:ext cx="3108325" cy="230832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조회 조건 설정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검진구분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검진기간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확인하고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부가적인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조건을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조회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설정한 조건에 해당하는 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 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err="1" smtClean="0">
                  <a:latin typeface="나눔고딕OTF" pitchFamily="34" charset="-127"/>
                  <a:ea typeface="나눔고딕OTF" pitchFamily="34" charset="-127"/>
                </a:rPr>
                <a:t>유소견자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 조회 내역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설정한 조건에 해당하는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내역 중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질병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err="1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유소견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판정 보유자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만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프로그램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메인의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“1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차판정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탭의 노동부 판정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란을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참조하여 소견 내역을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노동부 판정 란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: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하단 그림 참조</a:t>
              </a: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1" name="Picture 3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230519" y="4027922"/>
              <a:ext cx="2386117" cy="235745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0" name="타원 19"/>
            <p:cNvSpPr/>
            <p:nvPr/>
          </p:nvSpPr>
          <p:spPr>
            <a:xfrm>
              <a:off x="708777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2" name="타원 21"/>
            <p:cNvSpPr/>
            <p:nvPr/>
          </p:nvSpPr>
          <p:spPr>
            <a:xfrm>
              <a:off x="6205806" y="6003472"/>
              <a:ext cx="1024846" cy="239028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  <p:sp>
          <p:nvSpPr>
            <p:cNvPr id="23" name="타원 22"/>
            <p:cNvSpPr/>
            <p:nvPr/>
          </p:nvSpPr>
          <p:spPr>
            <a:xfrm>
              <a:off x="6730586" y="4456550"/>
              <a:ext cx="214314" cy="214314"/>
            </a:xfrm>
            <a:prstGeom prst="ellipse">
              <a:avLst/>
            </a:prstGeom>
            <a:noFill/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endParaRPr lang="en-US" altLang="ko-KR" sz="1000" dirty="0" smtClean="0">
                <a:solidFill>
                  <a:schemeClr val="tx1"/>
                </a:solidFill>
              </a:endParaRPr>
            </a:p>
          </p:txBody>
        </p:sp>
      </p:grpSp>
      <p:sp>
        <p:nvSpPr>
          <p:cNvPr id="25" name="직사각형 24"/>
          <p:cNvSpPr/>
          <p:nvPr/>
        </p:nvSpPr>
        <p:spPr>
          <a:xfrm>
            <a:off x="2166918" y="3071810"/>
            <a:ext cx="214314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직사각형 25"/>
          <p:cNvSpPr/>
          <p:nvPr/>
        </p:nvSpPr>
        <p:spPr>
          <a:xfrm>
            <a:off x="2524108" y="3071810"/>
            <a:ext cx="1000132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7" name="직사각형 26"/>
          <p:cNvSpPr/>
          <p:nvPr/>
        </p:nvSpPr>
        <p:spPr>
          <a:xfrm>
            <a:off x="4095744" y="3071810"/>
            <a:ext cx="785818" cy="21431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33" name="Shape 32"/>
          <p:cNvCxnSpPr>
            <a:stCxn id="23" idx="2"/>
            <a:endCxn id="25" idx="2"/>
          </p:cNvCxnSpPr>
          <p:nvPr/>
        </p:nvCxnSpPr>
        <p:spPr>
          <a:xfrm rot="10800000">
            <a:off x="2274076" y="3286125"/>
            <a:ext cx="4456511" cy="1277583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5" name="Shape 34"/>
          <p:cNvCxnSpPr>
            <a:stCxn id="22" idx="2"/>
            <a:endCxn id="26" idx="2"/>
          </p:cNvCxnSpPr>
          <p:nvPr/>
        </p:nvCxnSpPr>
        <p:spPr>
          <a:xfrm rot="10800000">
            <a:off x="3024174" y="3500438"/>
            <a:ext cx="3181632" cy="2622548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37" name="꺾인 연결선 36"/>
          <p:cNvCxnSpPr>
            <a:stCxn id="20" idx="4"/>
            <a:endCxn id="27" idx="2"/>
          </p:cNvCxnSpPr>
          <p:nvPr/>
        </p:nvCxnSpPr>
        <p:spPr>
          <a:xfrm rot="5400000" flipH="1">
            <a:off x="5149423" y="2625354"/>
            <a:ext cx="1384740" cy="2706280"/>
          </a:xfrm>
          <a:prstGeom prst="bentConnector3">
            <a:avLst>
              <a:gd name="adj1" fmla="val -16509"/>
            </a:avLst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Ⅴ.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학생검진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440113" y="2636838"/>
            <a:ext cx="2626040" cy="92333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en-US" altLang="ko-KR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Ⅵ. </a:t>
            </a: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코드관리</a:t>
            </a:r>
            <a:endParaRPr kumimoji="0" lang="en-US" altLang="ko-KR" sz="3600" dirty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1797840"/>
            <a:ext cx="5205661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745991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2238356" y="2000240"/>
            <a:ext cx="3429024" cy="221457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2095480" y="1857364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개별 검사항목 코드를 생성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26" name="그룹 25"/>
          <p:cNvGrpSpPr/>
          <p:nvPr/>
        </p:nvGrpSpPr>
        <p:grpSpPr>
          <a:xfrm>
            <a:off x="5810256" y="1571612"/>
            <a:ext cx="3929089" cy="2308324"/>
            <a:chOff x="5810256" y="1571612"/>
            <a:chExt cx="3929089" cy="2308324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5810256" y="1571612"/>
              <a:ext cx="3929089" cy="2308324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코드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현재 만들어져 있는 코드를 조회합니다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코드를 선택하면 좌측에 코드에 대한 상세정보가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좌측 화면에서는 코드 수정이 불가능합니다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검사항목 코드 검색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키워드를 입력해서 코드를 검색합니다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키워드를 입력하고 찾기 버튼을 클릭하면 코드 목록에 조회됩니다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5953132" y="3000372"/>
              <a:ext cx="3038475" cy="50482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0" name="TextBox 19"/>
            <p:cNvSpPr txBox="1"/>
            <p:nvPr/>
          </p:nvSpPr>
          <p:spPr>
            <a:xfrm>
              <a:off x="6230646" y="3033324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항목코드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2" name="TextBox 21"/>
            <p:cNvSpPr txBox="1"/>
            <p:nvPr/>
          </p:nvSpPr>
          <p:spPr>
            <a:xfrm>
              <a:off x="6953264" y="3033324"/>
              <a:ext cx="785818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smtClean="0">
                  <a:solidFill>
                    <a:srgbClr val="FF0000"/>
                  </a:solidFill>
                </a:rPr>
                <a:t>항목코드 명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050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1381100" y="1643050"/>
            <a:ext cx="2633668" cy="4140561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20792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코드 생성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입력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신규 코드를 생성하거나 기존 코드를 수정합니다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381496" y="1571612"/>
            <a:ext cx="5357849" cy="341632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항목코드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검사항목의 고유 코드를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다른 코드와 중복될 수 없습니다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 포함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6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자리까지 허용됩니다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항목명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영문명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b="1" dirty="0" err="1" smtClean="0">
                <a:latin typeface="나눔고딕OTF" pitchFamily="34" charset="-127"/>
                <a:ea typeface="나눔고딕OTF" pitchFamily="34" charset="-127"/>
              </a:rPr>
              <a:t>단축명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결과입력창에서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표시할 항목명을 각각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검사파트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혈액학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외부의뢰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기타 등 해당하는 항목을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4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결과형태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- 1.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숫자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- 2.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- 3.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형태인 경우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-&gt;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장비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- 5.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일반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종검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형태를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문자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+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소견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으로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사용할 때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혈액검사 창에 문자로 결과를 입력하고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장비검사 창에서 소견을 입력할 수 있습니다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5"/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코드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병원에서 사용하는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프로그램의 검사항목 코드와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1:1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로 매칭할 코드를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예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앨리스의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(1001 –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총단백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코드를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의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(BC100 –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총단백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코드와 매칭하려는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	     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OCS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 칸에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“BC100”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rcRect l="32936"/>
          <a:stretch>
            <a:fillRect/>
          </a:stretch>
        </p:blipFill>
        <p:spPr bwMode="auto">
          <a:xfrm>
            <a:off x="747471" y="1797840"/>
            <a:ext cx="3491149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3196709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코드 설정 </a:t>
            </a:r>
            <a:r>
              <a:rPr kumimoji="0" lang="en-US" altLang="ko-KR" sz="1400" b="1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문자 결과치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747471" y="4286256"/>
            <a:ext cx="3429024" cy="928694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604595" y="4143380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524372" y="1571612"/>
            <a:ext cx="5214973" cy="1015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문자 결과치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항목의 결과형태가 문자인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결과치를 설정해놓은 뒤 사용할 수 있습니다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좌측의 예시의 경우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결과입력창에서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“1”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을 입력하면 자동으로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음 성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으로 변환되어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결과값이 입력됩니다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결과치 입력 </a:t>
            </a:r>
            <a:r>
              <a:rPr kumimoji="0" lang="en-US" altLang="ko-KR" sz="1000" b="1" dirty="0" smtClean="0">
                <a:latin typeface="나눔고딕OTF" pitchFamily="34" charset="-127"/>
                <a:ea typeface="나눔고딕OTF" pitchFamily="34" charset="-127"/>
              </a:rPr>
              <a:t>&amp; </a:t>
            </a: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1026" name="Picture 2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4881562" y="2640031"/>
            <a:ext cx="2143140" cy="171766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  <a:effectLst/>
        </p:spPr>
      </p:pic>
      <p:sp>
        <p:nvSpPr>
          <p:cNvPr id="16" name="TextBox 4"/>
          <p:cNvSpPr txBox="1">
            <a:spLocks noChangeArrowheads="1"/>
          </p:cNvSpPr>
          <p:nvPr/>
        </p:nvSpPr>
        <p:spPr bwMode="auto">
          <a:xfrm>
            <a:off x="7096140" y="2643182"/>
            <a:ext cx="2500331" cy="120032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검사항목을 선택한 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혹은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수정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클릭하면 설정 화면이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참조코드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 입력 시 사용할 숫자를 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참조코드를 입력했을 때 저장할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결과값을 입력합니다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3844" y="2306816"/>
            <a:ext cx="5205661" cy="133649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69629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검사항목 업데이트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595282" y="2571744"/>
            <a:ext cx="1643074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452406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검사항목 업데이트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개별 검사코드를 수정한 뒤 업데이트 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5810256" y="1571612"/>
            <a:ext cx="3929089" cy="286232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</a:pPr>
            <a:r>
              <a:rPr kumimoji="0" lang="en-US" altLang="ko-KR" sz="1000" b="1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* 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개별 검사항목을 수정한 내용을 과거 검사 기록에 적용하려면 </a:t>
            </a: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업데이트를 해야 합니다</a:t>
            </a:r>
            <a:r>
              <a:rPr kumimoji="0" lang="en-US" altLang="ko-KR" sz="10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 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solidFill>
                <a:srgbClr val="FF0000"/>
              </a:solidFill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검사 항목 선택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업데이트할 검사 항목을 선택합니다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검색 버튼을 클릭하여 검사항목을 검색하거나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코드를 직접 입력</a:t>
            </a: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하여도 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업데이트 범위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업데이트된 내용을 적용할 검진일자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사업장 등을 설정합니다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3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설정을 확인한 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실행버튼을 클릭하여 업데이트합니다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전체항목실행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: 2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번에서 설정한 적용범위에 대하여 개별항목 전체를 전부 업데이트 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14" name="직사각형 13"/>
          <p:cNvSpPr/>
          <p:nvPr/>
        </p:nvSpPr>
        <p:spPr>
          <a:xfrm>
            <a:off x="2276842" y="2571744"/>
            <a:ext cx="2104654" cy="500066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2133966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6" name="직사각형 15"/>
          <p:cNvSpPr/>
          <p:nvPr/>
        </p:nvSpPr>
        <p:spPr>
          <a:xfrm>
            <a:off x="4436458" y="2571744"/>
            <a:ext cx="571504" cy="42862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310058" y="2428868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664695" y="1797840"/>
            <a:ext cx="4923959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666720" y="1928802"/>
            <a:ext cx="1357322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52384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 검사항목 코드를 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직사각형 13"/>
          <p:cNvSpPr/>
          <p:nvPr/>
        </p:nvSpPr>
        <p:spPr>
          <a:xfrm>
            <a:off x="2024042" y="1928802"/>
            <a:ext cx="2000264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188116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18" name="직사각형 17"/>
          <p:cNvSpPr/>
          <p:nvPr/>
        </p:nvSpPr>
        <p:spPr>
          <a:xfrm>
            <a:off x="4024306" y="1928802"/>
            <a:ext cx="1571636" cy="321471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6" name="타원 25"/>
          <p:cNvSpPr/>
          <p:nvPr/>
        </p:nvSpPr>
        <p:spPr>
          <a:xfrm>
            <a:off x="3881430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3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grpSp>
        <p:nvGrpSpPr>
          <p:cNvPr id="27" name="그룹 26"/>
          <p:cNvGrpSpPr/>
          <p:nvPr/>
        </p:nvGrpSpPr>
        <p:grpSpPr>
          <a:xfrm>
            <a:off x="5810256" y="1571612"/>
            <a:ext cx="3929089" cy="4708981"/>
            <a:chOff x="5810256" y="1571612"/>
            <a:chExt cx="3929089" cy="4708981"/>
          </a:xfrm>
        </p:grpSpPr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5810256" y="1571612"/>
              <a:ext cx="3929089" cy="4708981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묶음코드 정보 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&amp;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상단에서 코드 혹은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검사명으로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조회하면 하단 목록에 조건에 해당하는 묶음 코드 목록이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목록에서 코드를 선택하면 코드명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금액 등 묶음코드의 상세정보가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2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포함 코드내역 목록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좌측에서 선택한 묶음코드에 포함되어 있는 개별 코드 목록이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이 화면에서 개별 코드 순서를 설정할 수 있습니다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묶음코드를 추가할 때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입력한 순번대로 오더가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  <a:buAutoNum type="arabicParenR" startAt="3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개별코드 목록 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&amp;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코드 추가</a:t>
              </a:r>
              <a:r>
                <a:rPr kumimoji="0" lang="en-US" altLang="ko-KR" sz="1000" b="1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제거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검사항목 개별 코드 목록을 표시합니다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 코드에 입력할 코드를 여기서 조회합니다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추가할 코드를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하단의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추가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클릭하면 해당</a:t>
              </a:r>
              <a:endParaRPr kumimoji="0" lang="en-US" altLang="ko-KR" sz="1000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 코드에 검사항목이 추가됩니다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   * </a:t>
              </a:r>
              <a:r>
                <a:rPr kumimoji="0" lang="ko-KR" altLang="en-US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중복된 코드는 자동으로 제거됩니다</a:t>
              </a:r>
              <a:r>
                <a:rPr kumimoji="0" lang="en-US" altLang="ko-KR" sz="1000" dirty="0" smtClean="0">
                  <a:solidFill>
                    <a:srgbClr val="FF0000"/>
                  </a:solidFill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 제거는 ②번 화면에서 제거할 코드를 선택한 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pic>
          <p:nvPicPr>
            <p:cNvPr id="2050" name="Picture 2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6096008" y="3360651"/>
              <a:ext cx="2714644" cy="425539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17" name="직사각형 16"/>
            <p:cNvSpPr/>
            <p:nvPr/>
          </p:nvSpPr>
          <p:spPr>
            <a:xfrm>
              <a:off x="6310322" y="3357562"/>
              <a:ext cx="263473" cy="428628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1" name="Picture 3"/>
            <p:cNvPicPr>
              <a:picLocks noChangeAspect="1" noChangeArrowheads="1"/>
            </p:cNvPicPr>
            <p:nvPr/>
          </p:nvPicPr>
          <p:blipFill>
            <a:blip r:embed="rId4"/>
            <a:srcRect/>
            <a:stretch>
              <a:fillRect/>
            </a:stretch>
          </p:blipFill>
          <p:spPr bwMode="auto">
            <a:xfrm>
              <a:off x="6096009" y="4786322"/>
              <a:ext cx="2357454" cy="317502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1" name="직사각형 20"/>
            <p:cNvSpPr/>
            <p:nvPr/>
          </p:nvSpPr>
          <p:spPr>
            <a:xfrm>
              <a:off x="6183922" y="4929198"/>
              <a:ext cx="269276" cy="214314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2052" name="Picture 4"/>
            <p:cNvPicPr>
              <a:picLocks noChangeAspect="1" noChangeArrowheads="1"/>
            </p:cNvPicPr>
            <p:nvPr/>
          </p:nvPicPr>
          <p:blipFill>
            <a:blip r:embed="rId5"/>
            <a:srcRect/>
            <a:stretch>
              <a:fillRect/>
            </a:stretch>
          </p:blipFill>
          <p:spPr bwMode="auto">
            <a:xfrm>
              <a:off x="8882090" y="4841284"/>
              <a:ext cx="535785" cy="214314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cxnSp>
          <p:nvCxnSpPr>
            <p:cNvPr id="25" name="직선 화살표 연결선 24"/>
            <p:cNvCxnSpPr>
              <a:stCxn id="2051" idx="3"/>
              <a:endCxn id="2052" idx="1"/>
            </p:cNvCxnSpPr>
            <p:nvPr/>
          </p:nvCxnSpPr>
          <p:spPr>
            <a:xfrm>
              <a:off x="8453463" y="4945073"/>
              <a:ext cx="428627" cy="3368"/>
            </a:xfrm>
            <a:prstGeom prst="straightConnector1">
              <a:avLst/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  <p:pic>
          <p:nvPicPr>
            <p:cNvPr id="2053" name="Picture 5"/>
            <p:cNvPicPr>
              <a:picLocks noChangeAspect="1" noChangeArrowheads="1"/>
            </p:cNvPicPr>
            <p:nvPr/>
          </p:nvPicPr>
          <p:blipFill>
            <a:blip r:embed="rId6"/>
            <a:srcRect/>
            <a:stretch>
              <a:fillRect/>
            </a:stretch>
          </p:blipFill>
          <p:spPr bwMode="auto">
            <a:xfrm>
              <a:off x="8898567" y="5819406"/>
              <a:ext cx="500066" cy="169253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 검사항목 코드를 관리합니다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grpSp>
        <p:nvGrpSpPr>
          <p:cNvPr id="44" name="그룹 43"/>
          <p:cNvGrpSpPr/>
          <p:nvPr/>
        </p:nvGrpSpPr>
        <p:grpSpPr>
          <a:xfrm>
            <a:off x="738158" y="1571612"/>
            <a:ext cx="9001187" cy="3619511"/>
            <a:chOff x="738158" y="1571612"/>
            <a:chExt cx="9001187" cy="3619511"/>
          </a:xfrm>
        </p:grpSpPr>
        <p:pic>
          <p:nvPicPr>
            <p:cNvPr id="1027" name="Picture 3"/>
            <p:cNvPicPr>
              <a:picLocks noChangeAspect="1" noChangeArrowheads="1"/>
            </p:cNvPicPr>
            <p:nvPr/>
          </p:nvPicPr>
          <p:blipFill>
            <a:blip r:embed="rId2"/>
            <a:srcRect/>
            <a:stretch>
              <a:fillRect/>
            </a:stretch>
          </p:blipFill>
          <p:spPr bwMode="auto">
            <a:xfrm>
              <a:off x="881034" y="1643050"/>
              <a:ext cx="2724150" cy="2695575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  <a:effectLst/>
          </p:spPr>
        </p:pic>
        <p:sp>
          <p:nvSpPr>
            <p:cNvPr id="10" name="직사각형 9"/>
            <p:cNvSpPr/>
            <p:nvPr/>
          </p:nvSpPr>
          <p:spPr>
            <a:xfrm>
              <a:off x="881034" y="4000504"/>
              <a:ext cx="571504" cy="285752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sp>
          <p:nvSpPr>
            <p:cNvPr id="11" name="타원 10"/>
            <p:cNvSpPr/>
            <p:nvPr/>
          </p:nvSpPr>
          <p:spPr>
            <a:xfrm>
              <a:off x="738158" y="3857628"/>
              <a:ext cx="214314" cy="214314"/>
            </a:xfrm>
            <a:prstGeom prst="ellipse">
              <a:avLst/>
            </a:prstGeom>
            <a:solidFill>
              <a:schemeClr val="bg1"/>
            </a:solidFill>
            <a:ln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>
                <a:defRPr/>
              </a:pPr>
              <a:r>
                <a:rPr lang="en-US" altLang="ko-KR" sz="1000" dirty="0" smtClean="0">
                  <a:solidFill>
                    <a:schemeClr val="tx1"/>
                  </a:solidFill>
                </a:rPr>
                <a:t>1</a:t>
              </a:r>
              <a:endParaRPr lang="ko-KR" altLang="en-US" sz="1000" dirty="0">
                <a:solidFill>
                  <a:schemeClr val="tx1"/>
                </a:solidFill>
              </a:endParaRPr>
            </a:p>
          </p:txBody>
        </p:sp>
        <p:sp>
          <p:nvSpPr>
            <p:cNvPr id="22535" name="TextBox 4"/>
            <p:cNvSpPr txBox="1">
              <a:spLocks noChangeArrowheads="1"/>
            </p:cNvSpPr>
            <p:nvPr/>
          </p:nvSpPr>
          <p:spPr bwMode="auto">
            <a:xfrm>
              <a:off x="3667116" y="1571612"/>
              <a:ext cx="6072229" cy="2123658"/>
            </a:xfrm>
            <a:prstGeom prst="rect">
              <a:avLst/>
            </a:prstGeom>
            <a:noFill/>
            <a:ln w="9525">
              <a:noFill/>
              <a:miter lim="800000"/>
              <a:headEnd/>
              <a:tailEnd/>
            </a:ln>
          </p:spPr>
          <p:txBody>
            <a:bodyPr wrap="square">
              <a:spAutoFit/>
            </a:bodyPr>
            <a:lstStyle/>
            <a:p>
              <a:pPr marL="228600" indent="-228600">
                <a:lnSpc>
                  <a:spcPct val="120000"/>
                </a:lnSpc>
                <a:buAutoNum type="arabicParenR"/>
              </a:pP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신규 묶음코드 </a:t>
              </a:r>
              <a:r>
                <a:rPr kumimoji="0" lang="ko-KR" altLang="en-US" sz="1000" b="1" dirty="0" smtClean="0">
                  <a:latin typeface="나눔고딕OTF" pitchFamily="34" charset="-127"/>
                  <a:ea typeface="나눔고딕OTF" pitchFamily="34" charset="-127"/>
                </a:rPr>
                <a:t>생성</a:t>
              </a:r>
              <a:endParaRPr kumimoji="0" lang="en-US" altLang="ko-KR" sz="1000" b="1" dirty="0" smtClean="0">
                <a:latin typeface="나눔고딕OTF" pitchFamily="34" charset="-127"/>
                <a:ea typeface="나눔고딕OTF" pitchFamily="34" charset="-127"/>
              </a:endParaRP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입력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 정보 화면을 초기화 한 뒤 새로운 묶음코드 정보를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코드번호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는 타 코드와 중복 될 수 없고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숫자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문자 포함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10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자리까지 입니다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코드명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 묶음코드 명을 입력합니다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검사금액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검진자에게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직접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수납받을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후불금액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공단에 청구할 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“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계약처금액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사업장 계약 검진 묶음 생성 시 사업장과 계약한 금액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검진종류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종합검진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건강검진 등 생성할 묶음의 검진 유형을 선택합니다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  - “Remark” :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검진 접수 시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묶음코드를 찾기 편하도록 설정합니다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		           -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예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) </a:t>
              </a:r>
              <a:r>
                <a:rPr kumimoji="0" lang="ko-KR" altLang="en-US" sz="1000" dirty="0" err="1" smtClean="0">
                  <a:latin typeface="나눔고딕OTF" pitchFamily="34" charset="-127"/>
                  <a:ea typeface="나눔고딕OTF" pitchFamily="34" charset="-127"/>
                </a:rPr>
                <a:t>입력칸에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“3”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입력하면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,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접수 시 오더 검색 창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/>
              </a:r>
              <a:b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</a:b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		                  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에서 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위암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을 클릭했을 때 표시됩니다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  <a:p>
              <a:pPr marL="228600" indent="-228600">
                <a:lnSpc>
                  <a:spcPct val="120000"/>
                </a:lnSpc>
              </a:pP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			           - “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저장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” </a:t>
              </a:r>
              <a:r>
                <a:rPr kumimoji="0" lang="ko-KR" altLang="en-US" sz="1000" dirty="0" smtClean="0">
                  <a:latin typeface="나눔고딕OTF" pitchFamily="34" charset="-127"/>
                  <a:ea typeface="나눔고딕OTF" pitchFamily="34" charset="-127"/>
                </a:rPr>
                <a:t>버튼을 클릭하여 완료합니다</a:t>
              </a:r>
              <a:r>
                <a:rPr kumimoji="0" lang="en-US" altLang="ko-KR" sz="1000" dirty="0" smtClean="0">
                  <a:latin typeface="나눔고딕OTF" pitchFamily="34" charset="-127"/>
                  <a:ea typeface="나눔고딕OTF" pitchFamily="34" charset="-127"/>
                </a:rPr>
                <a:t>.</a:t>
              </a:r>
            </a:p>
          </p:txBody>
        </p:sp>
        <p:sp>
          <p:nvSpPr>
            <p:cNvPr id="16" name="TextBox 15"/>
            <p:cNvSpPr txBox="1"/>
            <p:nvPr/>
          </p:nvSpPr>
          <p:spPr>
            <a:xfrm>
              <a:off x="1595414" y="2372776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코드번호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17" name="TextBox 16"/>
            <p:cNvSpPr txBox="1"/>
            <p:nvPr/>
          </p:nvSpPr>
          <p:spPr>
            <a:xfrm>
              <a:off x="2238356" y="2570614"/>
              <a:ext cx="500066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코드명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1" name="TextBox 20"/>
            <p:cNvSpPr txBox="1"/>
            <p:nvPr/>
          </p:nvSpPr>
          <p:spPr>
            <a:xfrm>
              <a:off x="2166918" y="3394918"/>
              <a:ext cx="100013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검진종류 선택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4" name="TextBox 23"/>
            <p:cNvSpPr txBox="1"/>
            <p:nvPr/>
          </p:nvSpPr>
          <p:spPr>
            <a:xfrm>
              <a:off x="1556928" y="278605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검사금액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5" name="TextBox 24"/>
            <p:cNvSpPr txBox="1"/>
            <p:nvPr/>
          </p:nvSpPr>
          <p:spPr>
            <a:xfrm>
              <a:off x="2881298" y="2786058"/>
              <a:ext cx="642942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smtClean="0">
                  <a:solidFill>
                    <a:srgbClr val="FF0000"/>
                  </a:solidFill>
                </a:rPr>
                <a:t>후불금액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7" name="TextBox 26"/>
            <p:cNvSpPr txBox="1"/>
            <p:nvPr/>
          </p:nvSpPr>
          <p:spPr>
            <a:xfrm>
              <a:off x="2809860" y="3000372"/>
              <a:ext cx="714380" cy="215444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ko-KR" altLang="en-US" sz="800" dirty="0" err="1" smtClean="0">
                  <a:solidFill>
                    <a:srgbClr val="FF0000"/>
                  </a:solidFill>
                </a:rPr>
                <a:t>계약처금액</a:t>
              </a:r>
              <a:endParaRPr lang="ko-KR" altLang="en-US" sz="800" dirty="0">
                <a:solidFill>
                  <a:srgbClr val="FF0000"/>
                </a:solidFill>
              </a:endParaRPr>
            </a:p>
          </p:txBody>
        </p:sp>
        <p:sp>
          <p:nvSpPr>
            <p:cNvPr id="28" name="직사각형 27"/>
            <p:cNvSpPr/>
            <p:nvPr/>
          </p:nvSpPr>
          <p:spPr>
            <a:xfrm>
              <a:off x="3095612" y="3571876"/>
              <a:ext cx="285752" cy="285752"/>
            </a:xfrm>
            <a:prstGeom prst="rect">
              <a:avLst/>
            </a:prstGeom>
            <a:noFill/>
            <a:ln w="12700">
              <a:solidFill>
                <a:srgbClr val="FF0000"/>
              </a:solidFill>
            </a:ln>
          </p:spPr>
          <p:style>
            <a:lnRef idx="2">
              <a:schemeClr val="accent1">
                <a:shade val="50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anchor="ctr"/>
            <a:lstStyle/>
            <a:p>
              <a:pPr algn="ctr" fontAlgn="auto">
                <a:spcBef>
                  <a:spcPts val="0"/>
                </a:spcBef>
                <a:spcAft>
                  <a:spcPts val="0"/>
                </a:spcAft>
                <a:defRPr/>
              </a:pPr>
              <a:endParaRPr kumimoji="0" lang="ko-KR" altLang="en-US" dirty="0">
                <a:latin typeface="나눔고딕OTF" pitchFamily="34" charset="-127"/>
                <a:ea typeface="나눔고딕OTF" pitchFamily="34" charset="-127"/>
              </a:endParaRPr>
            </a:p>
          </p:txBody>
        </p:sp>
        <p:pic>
          <p:nvPicPr>
            <p:cNvPr id="1029" name="Picture 5"/>
            <p:cNvPicPr>
              <a:picLocks noChangeAspect="1" noChangeArrowheads="1"/>
            </p:cNvPicPr>
            <p:nvPr/>
          </p:nvPicPr>
          <p:blipFill>
            <a:blip r:embed="rId3"/>
            <a:srcRect/>
            <a:stretch>
              <a:fillRect/>
            </a:stretch>
          </p:blipFill>
          <p:spPr bwMode="auto">
            <a:xfrm>
              <a:off x="3881430" y="3143248"/>
              <a:ext cx="2924175" cy="2047875"/>
            </a:xfrm>
            <a:prstGeom prst="rect">
              <a:avLst/>
            </a:prstGeom>
            <a:noFill/>
            <a:ln w="9525">
              <a:solidFill>
                <a:schemeClr val="tx1"/>
              </a:solidFill>
              <a:miter lim="800000"/>
              <a:headEnd/>
              <a:tailEnd/>
            </a:ln>
            <a:effectLst/>
          </p:spPr>
        </p:pic>
        <p:sp>
          <p:nvSpPr>
            <p:cNvPr id="29" name="TextBox 28"/>
            <p:cNvSpPr txBox="1"/>
            <p:nvPr/>
          </p:nvSpPr>
          <p:spPr>
            <a:xfrm>
              <a:off x="4310058" y="3111341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1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0" name="TextBox 29"/>
            <p:cNvSpPr txBox="1"/>
            <p:nvPr/>
          </p:nvSpPr>
          <p:spPr>
            <a:xfrm>
              <a:off x="4881562" y="3111341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2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1" name="TextBox 30"/>
            <p:cNvSpPr txBox="1"/>
            <p:nvPr/>
          </p:nvSpPr>
          <p:spPr>
            <a:xfrm>
              <a:off x="4310058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3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2" name="TextBox 31"/>
            <p:cNvSpPr txBox="1"/>
            <p:nvPr/>
          </p:nvSpPr>
          <p:spPr>
            <a:xfrm>
              <a:off x="4906276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4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3" name="TextBox 32"/>
            <p:cNvSpPr txBox="1"/>
            <p:nvPr/>
          </p:nvSpPr>
          <p:spPr>
            <a:xfrm>
              <a:off x="5398104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5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4" name="TextBox 33"/>
            <p:cNvSpPr txBox="1"/>
            <p:nvPr/>
          </p:nvSpPr>
          <p:spPr>
            <a:xfrm>
              <a:off x="6024570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6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sp>
          <p:nvSpPr>
            <p:cNvPr id="35" name="TextBox 34"/>
            <p:cNvSpPr txBox="1"/>
            <p:nvPr/>
          </p:nvSpPr>
          <p:spPr>
            <a:xfrm>
              <a:off x="6557588" y="3325655"/>
              <a:ext cx="214314" cy="246221"/>
            </a:xfrm>
            <a:prstGeom prst="rect">
              <a:avLst/>
            </a:prstGeom>
            <a:noFill/>
          </p:spPr>
          <p:txBody>
            <a:bodyPr wrap="square" rtlCol="0">
              <a:spAutoFit/>
            </a:bodyPr>
            <a:lstStyle/>
            <a:p>
              <a:r>
                <a:rPr lang="en-US" altLang="ko-KR" sz="1000" b="1" dirty="0" smtClean="0">
                  <a:solidFill>
                    <a:srgbClr val="FF0000"/>
                  </a:solidFill>
                </a:rPr>
                <a:t>7</a:t>
              </a:r>
              <a:endParaRPr lang="ko-KR" altLang="en-US" sz="1000" b="1" dirty="0">
                <a:solidFill>
                  <a:srgbClr val="FF0000"/>
                </a:solidFill>
              </a:endParaRPr>
            </a:p>
          </p:txBody>
        </p:sp>
        <p:cxnSp>
          <p:nvCxnSpPr>
            <p:cNvPr id="37" name="Shape 36"/>
            <p:cNvCxnSpPr>
              <a:stCxn id="28" idx="3"/>
            </p:cNvCxnSpPr>
            <p:nvPr/>
          </p:nvCxnSpPr>
          <p:spPr>
            <a:xfrm flipV="1">
              <a:off x="3381364" y="3000972"/>
              <a:ext cx="500066" cy="713780"/>
            </a:xfrm>
            <a:prstGeom prst="bentConnector3">
              <a:avLst>
                <a:gd name="adj1" fmla="val 50000"/>
              </a:avLst>
            </a:prstGeom>
            <a:ln w="19050">
              <a:solidFill>
                <a:srgbClr val="7030A0"/>
              </a:solidFill>
              <a:tailEnd type="arrow"/>
            </a:ln>
          </p:spPr>
          <p:style>
            <a:lnRef idx="1">
              <a:schemeClr val="accent1"/>
            </a:lnRef>
            <a:fillRef idx="0">
              <a:schemeClr val="accent1"/>
            </a:fillRef>
            <a:effectRef idx="0">
              <a:schemeClr val="accent1"/>
            </a:effectRef>
            <a:fontRef idx="minor">
              <a:schemeClr val="tx1"/>
            </a:fontRef>
          </p:style>
        </p:cxnSp>
      </p:grp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29104" y="1797840"/>
            <a:ext cx="3380954" cy="341888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1050288" cy="369332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 smtClean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코드관리</a:t>
            </a:r>
          </a:p>
        </p:txBody>
      </p:sp>
      <p:sp>
        <p:nvSpPr>
          <p:cNvPr id="8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359668" cy="307777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 smtClean="0">
                <a:latin typeface="나눔고딕OTF" pitchFamily="34" charset="-127"/>
                <a:ea typeface="나눔고딕OTF" pitchFamily="34" charset="-127"/>
              </a:rPr>
              <a:t>묶음코드 설정</a:t>
            </a:r>
            <a:endParaRPr kumimoji="0" lang="ko-KR" altLang="en-US" sz="1400" b="1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0" name="직사각형 9"/>
          <p:cNvSpPr/>
          <p:nvPr/>
        </p:nvSpPr>
        <p:spPr>
          <a:xfrm>
            <a:off x="952472" y="1928802"/>
            <a:ext cx="1500198" cy="150019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1" name="타원 10"/>
          <p:cNvSpPr/>
          <p:nvPr/>
        </p:nvSpPr>
        <p:spPr>
          <a:xfrm>
            <a:off x="809596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1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23" name="TextBox 59"/>
          <p:cNvSpPr txBox="1">
            <a:spLocks noChangeArrowheads="1"/>
          </p:cNvSpPr>
          <p:nvPr/>
        </p:nvSpPr>
        <p:spPr bwMode="auto">
          <a:xfrm>
            <a:off x="415924" y="1052513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위치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200" dirty="0" err="1" smtClean="0">
                <a:latin typeface="나눔고딕OTF" pitchFamily="34" charset="-127"/>
                <a:ea typeface="나눔고딕OTF" pitchFamily="34" charset="-127"/>
              </a:rPr>
              <a:t>메인화면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코드관리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–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묶음코드 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복사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TextBox 59"/>
          <p:cNvSpPr txBox="1">
            <a:spLocks noChangeArrowheads="1"/>
          </p:cNvSpPr>
          <p:nvPr/>
        </p:nvSpPr>
        <p:spPr bwMode="auto">
          <a:xfrm>
            <a:off x="415925" y="1285860"/>
            <a:ext cx="5751521" cy="276999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200" dirty="0" smtClean="0">
                <a:latin typeface="나눔고딕OTF" pitchFamily="34" charset="-127"/>
                <a:ea typeface="나눔고딕OTF" pitchFamily="34" charset="-127"/>
              </a:rPr>
              <a:t>기존 묶음코드를 복사하여 새로운 묶음코드를 생성합니다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4595810" y="1571612"/>
            <a:ext cx="5143535" cy="1938992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square">
            <a:spAutoFit/>
          </a:bodyPr>
          <a:lstStyle/>
          <a:p>
            <a:pPr marL="228600" indent="-228600">
              <a:lnSpc>
                <a:spcPct val="120000"/>
              </a:lnSpc>
              <a:buAutoNum type="arabicParenR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복사할 묶음코드 조회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코드번호 혹은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묶음명으로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생성되어 있는 묶음코드를 조회합니다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조회한 묶음코드 중 복사할 묶음코드를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“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”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버튼을 클릭하여 체크한 묶음 코드를 화면의 오른쪽으로 넘깁니다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  <a:sym typeface="Wingdings" pitchFamily="2" charset="2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endParaRPr kumimoji="0" lang="en-US" altLang="ko-KR" sz="1000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  <a:buAutoNum type="arabicParenR" startAt="2"/>
            </a:pPr>
            <a:r>
              <a:rPr kumimoji="0" lang="ko-KR" altLang="en-US" sz="1000" b="1" dirty="0" smtClean="0">
                <a:latin typeface="나눔고딕OTF" pitchFamily="34" charset="-127"/>
                <a:ea typeface="나눔고딕OTF" pitchFamily="34" charset="-127"/>
              </a:rPr>
              <a:t>복사할 코드 설정</a:t>
            </a:r>
            <a:endParaRPr kumimoji="0" lang="en-US" altLang="ko-KR" sz="1000" b="1" dirty="0" smtClean="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- 1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번에서 넘긴 묶음 코드가 표시되고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하단에 묶음에 들어있는 개별 코드가 표시됩니다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넘긴 묶음코드 목록에서 최종적으로 복사할 묶음을 체크합니다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새로 생성할 묶음 코드의 코드번호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코드명을 입력한 뒤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실행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버튼을 클릭합니다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  - 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클릭하면 복사한 묶음코드와 동일한 </a:t>
            </a:r>
            <a:r>
              <a:rPr kumimoji="0" lang="ko-KR" altLang="en-US" sz="1000" dirty="0" err="1" smtClean="0">
                <a:latin typeface="나눔고딕OTF" pitchFamily="34" charset="-127"/>
                <a:ea typeface="나눔고딕OTF" pitchFamily="34" charset="-127"/>
              </a:rPr>
              <a:t>세팅의</a:t>
            </a:r>
            <a:r>
              <a:rPr kumimoji="0" lang="ko-KR" altLang="en-US" sz="1000" dirty="0" smtClean="0">
                <a:latin typeface="나눔고딕OTF" pitchFamily="34" charset="-127"/>
                <a:ea typeface="나눔고딕OTF" pitchFamily="34" charset="-127"/>
              </a:rPr>
              <a:t> 묶음 코드가 새로 생성됩니다</a:t>
            </a:r>
            <a:r>
              <a:rPr kumimoji="0" lang="en-US" altLang="ko-KR" sz="1000" dirty="0" smtClean="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2" name="직사각형 21"/>
          <p:cNvSpPr/>
          <p:nvPr/>
        </p:nvSpPr>
        <p:spPr>
          <a:xfrm>
            <a:off x="2454874" y="2882210"/>
            <a:ext cx="330271" cy="357190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cxnSp>
        <p:nvCxnSpPr>
          <p:cNvPr id="28" name="Shape 27"/>
          <p:cNvCxnSpPr>
            <a:stCxn id="10" idx="3"/>
            <a:endCxn id="22" idx="0"/>
          </p:cNvCxnSpPr>
          <p:nvPr/>
        </p:nvCxnSpPr>
        <p:spPr>
          <a:xfrm>
            <a:off x="2452670" y="2678901"/>
            <a:ext cx="167340" cy="203309"/>
          </a:xfrm>
          <a:prstGeom prst="bentConnector2">
            <a:avLst/>
          </a:prstGeom>
          <a:ln w="19050">
            <a:solidFill>
              <a:srgbClr val="7030A0"/>
            </a:solidFill>
            <a:tailEnd type="arrow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2" name="직사각형 31"/>
          <p:cNvSpPr/>
          <p:nvPr/>
        </p:nvSpPr>
        <p:spPr>
          <a:xfrm>
            <a:off x="2793384" y="1928802"/>
            <a:ext cx="1500198" cy="3286148"/>
          </a:xfrm>
          <a:prstGeom prst="rect">
            <a:avLst/>
          </a:prstGeom>
          <a:noFill/>
          <a:ln w="12700"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 dirty="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33" name="타원 32"/>
          <p:cNvSpPr/>
          <p:nvPr/>
        </p:nvSpPr>
        <p:spPr>
          <a:xfrm>
            <a:off x="2666984" y="1785926"/>
            <a:ext cx="214314" cy="214314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000" dirty="0" smtClean="0">
                <a:solidFill>
                  <a:schemeClr val="tx1"/>
                </a:solidFill>
              </a:rPr>
              <a:t>2</a:t>
            </a:r>
            <a:endParaRPr lang="ko-KR" altLang="en-US" sz="1000" dirty="0">
              <a:solidFill>
                <a:schemeClr val="tx1"/>
              </a:solidFill>
            </a:endParaRPr>
          </a:p>
        </p:txBody>
      </p:sp>
      <p:sp>
        <p:nvSpPr>
          <p:cNvPr id="34" name="TextBox 33"/>
          <p:cNvSpPr txBox="1"/>
          <p:nvPr/>
        </p:nvSpPr>
        <p:spPr>
          <a:xfrm>
            <a:off x="3222012" y="2000240"/>
            <a:ext cx="642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 smtClean="0">
                <a:solidFill>
                  <a:srgbClr val="FF0000"/>
                </a:solidFill>
              </a:rPr>
              <a:t>코드번호</a:t>
            </a:r>
            <a:endParaRPr lang="ko-KR" altLang="en-US" sz="800" dirty="0">
              <a:solidFill>
                <a:srgbClr val="FF0000"/>
              </a:solidFill>
            </a:endParaRPr>
          </a:p>
        </p:txBody>
      </p:sp>
      <p:sp>
        <p:nvSpPr>
          <p:cNvPr id="35" name="TextBox 34"/>
          <p:cNvSpPr txBox="1"/>
          <p:nvPr/>
        </p:nvSpPr>
        <p:spPr>
          <a:xfrm>
            <a:off x="3222012" y="2126640"/>
            <a:ext cx="642942" cy="215444"/>
          </a:xfrm>
          <a:prstGeom prst="rect">
            <a:avLst/>
          </a:prstGeom>
          <a:noFill/>
        </p:spPr>
        <p:txBody>
          <a:bodyPr wrap="square" rtlCol="0">
            <a:spAutoFit/>
          </a:bodyPr>
          <a:lstStyle/>
          <a:p>
            <a:pPr algn="ctr"/>
            <a:r>
              <a:rPr lang="ko-KR" altLang="en-US" sz="800" dirty="0" smtClean="0">
                <a:solidFill>
                  <a:srgbClr val="FF0000"/>
                </a:solidFill>
              </a:rPr>
              <a:t>코드명</a:t>
            </a:r>
            <a:endParaRPr lang="en-US" altLang="ko-KR" sz="800" dirty="0" smtClean="0">
              <a:solidFill>
                <a:srgbClr val="FF0000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직사각형 4"/>
          <p:cNvSpPr/>
          <p:nvPr/>
        </p:nvSpPr>
        <p:spPr>
          <a:xfrm flipH="1">
            <a:off x="0" y="0"/>
            <a:ext cx="9906000" cy="6858000"/>
          </a:xfrm>
          <a:prstGeom prst="rect">
            <a:avLst/>
          </a:prstGeom>
          <a:solidFill>
            <a:srgbClr val="BED395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/>
          </a:p>
        </p:txBody>
      </p:sp>
      <p:sp>
        <p:nvSpPr>
          <p:cNvPr id="25603" name="TextBox 13"/>
          <p:cNvSpPr txBox="1">
            <a:spLocks noChangeArrowheads="1"/>
          </p:cNvSpPr>
          <p:nvPr/>
        </p:nvSpPr>
        <p:spPr bwMode="auto">
          <a:xfrm>
            <a:off x="3952868" y="2636838"/>
            <a:ext cx="1053494" cy="85408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pPr marL="457200" indent="-457200">
              <a:lnSpc>
                <a:spcPct val="150000"/>
              </a:lnSpc>
            </a:pPr>
            <a:r>
              <a:rPr kumimoji="0" lang="ko-KR" altLang="en-US" sz="3600" b="1" dirty="0" smtClean="0">
                <a:solidFill>
                  <a:schemeClr val="bg1"/>
                </a:solidFill>
                <a:latin typeface="나눔고딕OTF" pitchFamily="34" charset="-127"/>
                <a:ea typeface="나눔고딕OTF" pitchFamily="34" charset="-127"/>
              </a:rPr>
              <a:t>기타</a:t>
            </a:r>
            <a:endParaRPr kumimoji="0" lang="en-US" altLang="ko-KR" sz="3600" b="1" dirty="0" smtClean="0">
              <a:solidFill>
                <a:schemeClr val="bg1"/>
              </a:solidFill>
              <a:latin typeface="나눔고딕OTF" pitchFamily="34" charset="-127"/>
              <a:ea typeface="나눔고딕OTF" pitchFamily="34" charset="-127"/>
            </a:endParaRPr>
          </a:p>
        </p:txBody>
      </p:sp>
      <p:pic>
        <p:nvPicPr>
          <p:cNvPr id="25604" name="그림 7" descr="앨리스화면.png"/>
          <p:cNvPicPr>
            <a:picLocks noChangeAspect="1"/>
          </p:cNvPicPr>
          <p:nvPr/>
        </p:nvPicPr>
        <p:blipFill>
          <a:blip r:embed="rId2"/>
          <a:srcRect l="13019" t="12311" r="2361" b="5617"/>
          <a:stretch>
            <a:fillRect/>
          </a:stretch>
        </p:blipFill>
        <p:spPr bwMode="auto">
          <a:xfrm>
            <a:off x="1639888" y="2708275"/>
            <a:ext cx="1944687" cy="9969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2530" name="Picture 8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5949950" cy="47148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2532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02235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 dirty="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 dirty="0">
                <a:latin typeface="나눔고딕OTF" pitchFamily="34" charset="-127"/>
                <a:ea typeface="나눔고딕OTF" pitchFamily="34" charset="-127"/>
              </a:rPr>
              <a:t>접수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611188" y="2627313"/>
            <a:ext cx="1484312" cy="351631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2" name="타원 11"/>
          <p:cNvSpPr/>
          <p:nvPr/>
        </p:nvSpPr>
        <p:spPr>
          <a:xfrm>
            <a:off x="468313" y="2413000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5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22535" name="TextBox 4"/>
          <p:cNvSpPr txBox="1">
            <a:spLocks noChangeArrowheads="1"/>
          </p:cNvSpPr>
          <p:nvPr/>
        </p:nvSpPr>
        <p:spPr bwMode="auto">
          <a:xfrm>
            <a:off x="6524625" y="1593850"/>
            <a:ext cx="3108325" cy="3970338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선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(F2)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를 완료하면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해당 인원은 왼쪽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(5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화면으로 이동하고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수납업무를 진행할 수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있습니다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 화면의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표시된 금액이 검진자가 수납할 금액입니다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검진자가 수납하는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: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공단에 청구하여 지급받을 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**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후불금액 설정은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묶음코드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메뉴에서 설정 할 수 있습니다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할인구분에서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할인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더블클릭 혹은 엔터키로 선택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감면금액 혹은 감면할인율을 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수납구분에서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F1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키를 누르면 수납 종류 화면이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“Y”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저장버튼 클릭과 동시에 설정된 프린터에서 영수증이 출력됩니다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 (“N” :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 미출력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수납금액란에는 최종적으로 할인액과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감면액을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제외한 금액이 자동으로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정보를 맞게 입력한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(F3)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수납정보가 저장됩니다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9" name="직사각형 8"/>
          <p:cNvSpPr/>
          <p:nvPr/>
        </p:nvSpPr>
        <p:spPr>
          <a:xfrm>
            <a:off x="2128838" y="3786188"/>
            <a:ext cx="1487487" cy="192087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2537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46166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선 수납</a:t>
            </a:r>
            <a:r>
              <a:rPr kumimoji="0" lang="en-US" altLang="ko-KR" sz="1200" dirty="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 dirty="0">
                <a:latin typeface="나눔고딕OTF" pitchFamily="34" charset="-127"/>
                <a:ea typeface="나눔고딕OTF" pitchFamily="34" charset="-127"/>
              </a:rPr>
              <a:t>접수화면에서 접수와 동시에 수납할 경우</a:t>
            </a:r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)</a:t>
            </a:r>
          </a:p>
          <a:p>
            <a:r>
              <a:rPr kumimoji="0" lang="en-US" altLang="ko-KR" sz="1200" dirty="0" smtClean="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200" dirty="0" err="1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아름누리</a:t>
            </a:r>
            <a:r>
              <a:rPr kumimoji="0" lang="ko-KR" altLang="en-US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 프로그램에서 수납하지 않는 경우 사용하지 않습니다</a:t>
            </a:r>
            <a:r>
              <a:rPr kumimoji="0" lang="en-US" altLang="ko-KR" sz="1200" dirty="0" smtClean="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200" dirty="0">
              <a:latin typeface="나눔고딕OTF" pitchFamily="34" charset="-127"/>
              <a:ea typeface="나눔고딕OTF" pitchFamily="34" charset="-127"/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554" name="Picture 3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500188"/>
            <a:ext cx="4714875" cy="46958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3556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2286000"/>
            <a:ext cx="1484313" cy="2401888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3558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2678113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2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후 수납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앨리스 메인 화면의 접수자 조회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화면의 접수자를 더블클릭 하거나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접수자를 선택한 뒤 수정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(F4)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해당 접수자의 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인적 수정화면이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수정 화면 우측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(1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수납관련 정보가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하단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수납 내역이 표시됩니다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기본적으로 총 수납금액이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표시되며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다 받지 않을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경우에 단계적으로 저장 가능합니다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내역을 추가하려면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클릭한 뒤 수납 정보를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입력합니다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정보 입력 방법은 선 수납과 동일하고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	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하여 수납정보를 저장합니다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 내역 화면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(2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)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에서 수납내역을 선택한 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영수증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영수증을 출력합니다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</p:txBody>
      </p:sp>
      <p:sp>
        <p:nvSpPr>
          <p:cNvPr id="23559" name="TextBox 59"/>
          <p:cNvSpPr txBox="1">
            <a:spLocks noChangeArrowheads="1"/>
          </p:cNvSpPr>
          <p:nvPr/>
        </p:nvSpPr>
        <p:spPr bwMode="auto">
          <a:xfrm>
            <a:off x="415925" y="1052513"/>
            <a:ext cx="4965700" cy="2762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 - 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후 수납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(</a:t>
            </a:r>
            <a:r>
              <a:rPr kumimoji="0" lang="ko-KR" altLang="en-US" sz="1200">
                <a:latin typeface="나눔고딕OTF" pitchFamily="34" charset="-127"/>
                <a:ea typeface="나눔고딕OTF" pitchFamily="34" charset="-127"/>
              </a:rPr>
              <a:t>검진 후 수납할 경우</a:t>
            </a:r>
            <a:r>
              <a:rPr kumimoji="0" lang="en-US" altLang="ko-KR" sz="1200">
                <a:latin typeface="나눔고딕OTF" pitchFamily="34" charset="-127"/>
                <a:ea typeface="나눔고딕OTF" pitchFamily="34" charset="-127"/>
              </a:rPr>
              <a:t>)</a:t>
            </a:r>
          </a:p>
        </p:txBody>
      </p:sp>
      <p:sp>
        <p:nvSpPr>
          <p:cNvPr id="13" name="직사각형 12"/>
          <p:cNvSpPr/>
          <p:nvPr/>
        </p:nvSpPr>
        <p:spPr>
          <a:xfrm>
            <a:off x="3810000" y="4687888"/>
            <a:ext cx="1484313" cy="9556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3609975" y="2071688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1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  <p:sp>
        <p:nvSpPr>
          <p:cNvPr id="15" name="타원 14"/>
          <p:cNvSpPr/>
          <p:nvPr/>
        </p:nvSpPr>
        <p:spPr>
          <a:xfrm>
            <a:off x="3546475" y="4500563"/>
            <a:ext cx="285750" cy="285750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600" dirty="0">
                <a:solidFill>
                  <a:schemeClr val="tx1"/>
                </a:solidFill>
              </a:rPr>
              <a:t>2</a:t>
            </a:r>
            <a:endParaRPr lang="ko-KR" altLang="en-US" sz="1600" dirty="0">
              <a:solidFill>
                <a:schemeClr val="tx1"/>
              </a:solidFill>
            </a:endParaRPr>
          </a:p>
        </p:txBody>
      </p:sp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4578" name="Picture 2"/>
          <p:cNvPicPr>
            <a:picLocks noChangeAspect="1" noChangeArrowheads="1"/>
          </p:cNvPicPr>
          <p:nvPr/>
        </p:nvPicPr>
        <p:blipFill>
          <a:blip r:embed="rId2"/>
          <a:srcRect/>
          <a:stretch>
            <a:fillRect/>
          </a:stretch>
        </p:blipFill>
        <p:spPr bwMode="auto">
          <a:xfrm>
            <a:off x="595313" y="1473200"/>
            <a:ext cx="4687887" cy="467042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</p:pic>
      <p:sp>
        <p:nvSpPr>
          <p:cNvPr id="6" name="TextBox 5"/>
          <p:cNvSpPr txBox="1"/>
          <p:nvPr/>
        </p:nvSpPr>
        <p:spPr>
          <a:xfrm>
            <a:off x="1497013" y="282575"/>
            <a:ext cx="617537" cy="369888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 fontAlgn="auto">
              <a:spcBef>
                <a:spcPts val="0"/>
              </a:spcBef>
              <a:spcAft>
                <a:spcPts val="0"/>
              </a:spcAft>
              <a:defRPr/>
            </a:pPr>
            <a:r>
              <a:rPr kumimoji="0" lang="ko-KR" altLang="en-US" dirty="0">
                <a:solidFill>
                  <a:schemeClr val="bg1">
                    <a:lumMod val="50000"/>
                  </a:schemeClr>
                </a:solidFill>
                <a:latin typeface="나눔고딕OTF ExtraBold" pitchFamily="34" charset="-127"/>
                <a:ea typeface="나눔고딕OTF ExtraBold" pitchFamily="34" charset="-127"/>
              </a:rPr>
              <a:t>수납</a:t>
            </a:r>
          </a:p>
        </p:txBody>
      </p:sp>
      <p:sp>
        <p:nvSpPr>
          <p:cNvPr id="24580" name="TextBox 4"/>
          <p:cNvSpPr txBox="1">
            <a:spLocks noChangeArrowheads="1"/>
          </p:cNvSpPr>
          <p:nvPr/>
        </p:nvSpPr>
        <p:spPr bwMode="auto">
          <a:xfrm>
            <a:off x="381000" y="785813"/>
            <a:ext cx="1409700" cy="307975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 wrap="none">
            <a:spAutoFit/>
          </a:bodyPr>
          <a:lstStyle/>
          <a:p>
            <a:r>
              <a:rPr kumimoji="0" lang="en-US" altLang="ko-KR" sz="1400" b="1">
                <a:latin typeface="나눔고딕OTF" pitchFamily="34" charset="-127"/>
                <a:ea typeface="나눔고딕OTF" pitchFamily="34" charset="-127"/>
              </a:rPr>
              <a:t>- </a:t>
            </a:r>
            <a:r>
              <a:rPr kumimoji="0" lang="ko-KR" altLang="en-US" sz="1400" b="1">
                <a:latin typeface="나눔고딕OTF" pitchFamily="34" charset="-127"/>
                <a:ea typeface="나눔고딕OTF" pitchFamily="34" charset="-127"/>
              </a:rPr>
              <a:t>인적 수정 화면</a:t>
            </a:r>
          </a:p>
        </p:txBody>
      </p:sp>
      <p:sp>
        <p:nvSpPr>
          <p:cNvPr id="11" name="직사각형 10"/>
          <p:cNvSpPr/>
          <p:nvPr/>
        </p:nvSpPr>
        <p:spPr>
          <a:xfrm>
            <a:off x="3810000" y="3929063"/>
            <a:ext cx="857250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24582" name="TextBox 4"/>
          <p:cNvSpPr txBox="1">
            <a:spLocks noChangeArrowheads="1"/>
          </p:cNvSpPr>
          <p:nvPr/>
        </p:nvSpPr>
        <p:spPr bwMode="auto">
          <a:xfrm>
            <a:off x="5738813" y="1593850"/>
            <a:ext cx="3894137" cy="1200150"/>
          </a:xfrm>
          <a:prstGeom prst="rect">
            <a:avLst/>
          </a:prstGeom>
          <a:noFill/>
          <a:ln w="9525">
            <a:noFill/>
            <a:miter lim="800000"/>
            <a:headEnd/>
            <a:tailEnd/>
          </a:ln>
        </p:spPr>
        <p:txBody>
          <a:bodyPr>
            <a:spAutoFit/>
          </a:bodyPr>
          <a:lstStyle/>
          <a:p>
            <a:pPr marL="228600" indent="-228600">
              <a:lnSpc>
                <a:spcPct val="120000"/>
              </a:lnSpc>
              <a:buFontTx/>
              <a:buAutoNum type="arabicParenR" startAt="3"/>
            </a:pPr>
            <a:r>
              <a:rPr kumimoji="0" lang="ko-KR" altLang="en-US" sz="1000" b="1">
                <a:latin typeface="나눔고딕OTF" pitchFamily="34" charset="-127"/>
                <a:ea typeface="나눔고딕OTF" pitchFamily="34" charset="-127"/>
              </a:rPr>
              <a:t>환불</a:t>
            </a:r>
            <a:endParaRPr kumimoji="0" lang="en-US" altLang="ko-KR" sz="1000" b="1">
              <a:latin typeface="나눔고딕OTF" pitchFamily="34" charset="-127"/>
              <a:ea typeface="나눔고딕OTF" pitchFamily="34" charset="-127"/>
            </a:endParaRP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 b="1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검사금액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</a:t>
            </a:r>
            <a:r>
              <a:rPr kumimoji="0" lang="ko-KR" altLang="en-US" sz="1000" u="sng">
                <a:latin typeface="나눔고딕OTF" pitchFamily="34" charset="-127"/>
                <a:ea typeface="나눔고딕OTF" pitchFamily="34" charset="-127"/>
              </a:rPr>
              <a:t>총 검진금액에서 환불금액을 뺀 금액을 입력합니다</a:t>
            </a:r>
            <a:r>
              <a:rPr kumimoji="0" lang="en-US" altLang="ko-KR" sz="1000" u="sng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추가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수납금액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란에 환불액이 나타납니다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- 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환불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에 체크하고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,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수납구분을 입력한 뒤 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“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저장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” </a:t>
            </a:r>
            <a:r>
              <a:rPr kumimoji="0" lang="ko-KR" altLang="en-US" sz="1000">
                <a:latin typeface="나눔고딕OTF" pitchFamily="34" charset="-127"/>
                <a:ea typeface="나눔고딕OTF" pitchFamily="34" charset="-127"/>
              </a:rPr>
              <a:t>버튼을 클릭하면 환불 처리가 완료됩니다</a:t>
            </a: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.</a:t>
            </a:r>
          </a:p>
          <a:p>
            <a:pPr marL="228600" indent="-228600">
              <a:lnSpc>
                <a:spcPct val="120000"/>
              </a:lnSpc>
            </a:pPr>
            <a:r>
              <a:rPr kumimoji="0" lang="en-US" altLang="ko-KR" sz="1000">
                <a:latin typeface="나눔고딕OTF" pitchFamily="34" charset="-127"/>
                <a:ea typeface="나눔고딕OTF" pitchFamily="34" charset="-127"/>
              </a:rPr>
              <a:t>   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* </a:t>
            </a:r>
            <a:r>
              <a:rPr kumimoji="0" lang="ko-KR" altLang="en-US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수납할 때 설정한 할인 및 감면 금액 정보 초기화 여부를 묻습니다</a:t>
            </a:r>
            <a:r>
              <a:rPr kumimoji="0" lang="en-US" altLang="ko-KR" sz="1000">
                <a:solidFill>
                  <a:srgbClr val="FF0000"/>
                </a:solidFill>
                <a:latin typeface="나눔고딕OTF" pitchFamily="34" charset="-127"/>
                <a:ea typeface="나눔고딕OTF" pitchFamily="34" charset="-127"/>
              </a:rPr>
              <a:t>.</a:t>
            </a:r>
            <a:endParaRPr kumimoji="0" lang="en-US" altLang="ko-KR" sz="1000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3" name="직사각형 12"/>
          <p:cNvSpPr/>
          <p:nvPr/>
        </p:nvSpPr>
        <p:spPr>
          <a:xfrm>
            <a:off x="1350963" y="3740150"/>
            <a:ext cx="857250" cy="169863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4" name="타원 13"/>
          <p:cNvSpPr/>
          <p:nvPr/>
        </p:nvSpPr>
        <p:spPr>
          <a:xfrm>
            <a:off x="1222375" y="3587750"/>
            <a:ext cx="214313" cy="214313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1</a:t>
            </a:r>
          </a:p>
        </p:txBody>
      </p:sp>
      <p:sp>
        <p:nvSpPr>
          <p:cNvPr id="12" name="타원 11"/>
          <p:cNvSpPr/>
          <p:nvPr/>
        </p:nvSpPr>
        <p:spPr>
          <a:xfrm>
            <a:off x="3667125" y="378618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2</a:t>
            </a:r>
          </a:p>
        </p:txBody>
      </p:sp>
      <p:sp>
        <p:nvSpPr>
          <p:cNvPr id="16" name="직사각형 15"/>
          <p:cNvSpPr/>
          <p:nvPr/>
        </p:nvSpPr>
        <p:spPr>
          <a:xfrm>
            <a:off x="4826000" y="3668713"/>
            <a:ext cx="428625" cy="142875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 fontAlgn="auto">
              <a:spcBef>
                <a:spcPts val="0"/>
              </a:spcBef>
              <a:spcAft>
                <a:spcPts val="0"/>
              </a:spcAft>
              <a:defRPr/>
            </a:pPr>
            <a:endParaRPr kumimoji="0" lang="ko-KR" altLang="en-US">
              <a:latin typeface="나눔고딕OTF" pitchFamily="34" charset="-127"/>
              <a:ea typeface="나눔고딕OTF" pitchFamily="34" charset="-127"/>
            </a:endParaRPr>
          </a:p>
        </p:txBody>
      </p:sp>
      <p:sp>
        <p:nvSpPr>
          <p:cNvPr id="17" name="타원 16"/>
          <p:cNvSpPr/>
          <p:nvPr/>
        </p:nvSpPr>
        <p:spPr>
          <a:xfrm>
            <a:off x="4667250" y="3500438"/>
            <a:ext cx="214313" cy="214312"/>
          </a:xfrm>
          <a:prstGeom prst="ellipse">
            <a:avLst/>
          </a:prstGeom>
          <a:solidFill>
            <a:schemeClr val="bg1"/>
          </a:solidFill>
          <a:ln>
            <a:solidFill>
              <a:srgbClr val="FF0000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anchor="ctr"/>
          <a:lstStyle/>
          <a:p>
            <a:pPr algn="ctr">
              <a:defRPr/>
            </a:pPr>
            <a:r>
              <a:rPr lang="en-US" altLang="ko-KR" sz="1400" dirty="0">
                <a:solidFill>
                  <a:schemeClr val="tx1"/>
                </a:solidFill>
              </a:rPr>
              <a:t>3</a:t>
            </a:r>
          </a:p>
        </p:txBody>
      </p:sp>
      <p:pic>
        <p:nvPicPr>
          <p:cNvPr id="24588" name="Picture 3"/>
          <p:cNvPicPr>
            <a:picLocks noChangeAspect="1" noChangeArrowheads="1"/>
          </p:cNvPicPr>
          <p:nvPr/>
        </p:nvPicPr>
        <p:blipFill>
          <a:blip r:embed="rId3"/>
          <a:srcRect/>
          <a:stretch>
            <a:fillRect/>
          </a:stretch>
        </p:blipFill>
        <p:spPr bwMode="auto">
          <a:xfrm>
            <a:off x="6024570" y="3214686"/>
            <a:ext cx="2857500" cy="1196975"/>
          </a:xfrm>
          <a:prstGeom prst="rect">
            <a:avLst/>
          </a:prstGeom>
          <a:noFill/>
          <a:ln w="9525">
            <a:solidFill>
              <a:schemeClr val="tx1"/>
            </a:solidFill>
            <a:miter lim="800000"/>
            <a:headEnd/>
            <a:tailEnd/>
          </a:ln>
        </p:spPr>
      </p:pic>
    </p:spTree>
  </p:cSld>
  <p:clrMapOvr>
    <a:masterClrMapping/>
  </p:clrMapOvr>
  <p:timing>
    <p:tnLst>
      <p:par>
        <p:cTn id="1" dur="indefinite" restart="never" nodeType="tmRoot"/>
      </p:par>
    </p:tnLst>
  </p:timing>
</p:sld>
</file>

<file path=ppt/theme/theme1.xml><?xml version="1.0" encoding="utf-8"?>
<a:theme xmlns:a="http://schemas.openxmlformats.org/drawingml/2006/main" name="디자인 사용자 지정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lnDef>
      <a:spPr>
        <a:ln w="19050">
          <a:solidFill>
            <a:srgbClr val="7030A0"/>
          </a:solidFill>
          <a:tailEnd type="stealth"/>
        </a:ln>
      </a:spPr>
      <a:bodyPr/>
      <a:lstStyle/>
      <a:style>
        <a:lnRef idx="1">
          <a:schemeClr val="accent1"/>
        </a:lnRef>
        <a:fillRef idx="0">
          <a:schemeClr val="accent1"/>
        </a:fillRef>
        <a:effectRef idx="0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Office 테마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맑은 고딕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emplate/>
  <TotalTime>10046</TotalTime>
  <Words>3177</Words>
  <Application>Microsoft Office PowerPoint</Application>
  <PresentationFormat>A4 용지(210x297mm)</PresentationFormat>
  <Paragraphs>713</Paragraphs>
  <Slides>45</Slides>
  <Notes>0</Notes>
  <HiddenSlides>0</HiddenSlides>
  <MMClips>0</MMClips>
  <ScaleCrop>false</ScaleCrop>
  <HeadingPairs>
    <vt:vector size="4" baseType="variant">
      <vt:variant>
        <vt:lpstr>테마</vt:lpstr>
      </vt:variant>
      <vt:variant>
        <vt:i4>1</vt:i4>
      </vt:variant>
      <vt:variant>
        <vt:lpstr>슬라이드 제목</vt:lpstr>
      </vt:variant>
      <vt:variant>
        <vt:i4>45</vt:i4>
      </vt:variant>
    </vt:vector>
  </HeadingPairs>
  <TitlesOfParts>
    <vt:vector size="46" baseType="lpstr">
      <vt:lpstr>디자인 사용자 지정</vt:lpstr>
      <vt:lpstr>슬라이드 0</vt:lpstr>
      <vt:lpstr>슬라이드 1</vt:lpstr>
      <vt:lpstr>슬라이드 2</vt:lpstr>
      <vt:lpstr>슬라이드 3</vt:lpstr>
      <vt:lpstr>슬라이드 4</vt:lpstr>
      <vt:lpstr>슬라이드 5</vt:lpstr>
      <vt:lpstr>슬라이드 6</vt:lpstr>
      <vt:lpstr>슬라이드 7</vt:lpstr>
      <vt:lpstr>슬라이드 8</vt:lpstr>
      <vt:lpstr>슬라이드 9</vt:lpstr>
      <vt:lpstr>슬라이드 10</vt:lpstr>
      <vt:lpstr>슬라이드 11</vt:lpstr>
      <vt:lpstr>슬라이드 12</vt:lpstr>
      <vt:lpstr>슬라이드 13</vt:lpstr>
      <vt:lpstr>슬라이드 14</vt:lpstr>
      <vt:lpstr>슬라이드 15</vt:lpstr>
      <vt:lpstr>슬라이드 16</vt:lpstr>
      <vt:lpstr>슬라이드 17</vt:lpstr>
      <vt:lpstr>슬라이드 18</vt:lpstr>
      <vt:lpstr>슬라이드 19</vt:lpstr>
      <vt:lpstr>슬라이드 20</vt:lpstr>
      <vt:lpstr>슬라이드 21</vt:lpstr>
      <vt:lpstr>슬라이드 22</vt:lpstr>
      <vt:lpstr>슬라이드 23</vt:lpstr>
      <vt:lpstr>슬라이드 24</vt:lpstr>
      <vt:lpstr>슬라이드 25</vt:lpstr>
      <vt:lpstr>슬라이드 26</vt:lpstr>
      <vt:lpstr>슬라이드 27</vt:lpstr>
      <vt:lpstr>슬라이드 28</vt:lpstr>
      <vt:lpstr>슬라이드 29</vt:lpstr>
      <vt:lpstr>슬라이드 30</vt:lpstr>
      <vt:lpstr>슬라이드 31</vt:lpstr>
      <vt:lpstr>슬라이드 32</vt:lpstr>
      <vt:lpstr>슬라이드 33</vt:lpstr>
      <vt:lpstr>슬라이드 34</vt:lpstr>
      <vt:lpstr>슬라이드 35</vt:lpstr>
      <vt:lpstr>슬라이드 36</vt:lpstr>
      <vt:lpstr>슬라이드 37</vt:lpstr>
      <vt:lpstr>슬라이드 38</vt:lpstr>
      <vt:lpstr>슬라이드 39</vt:lpstr>
      <vt:lpstr>슬라이드 40</vt:lpstr>
      <vt:lpstr>슬라이드 41</vt:lpstr>
      <vt:lpstr>슬라이드 42</vt:lpstr>
      <vt:lpstr>슬라이드 43</vt:lpstr>
      <vt:lpstr>슬라이드 44</vt:lpstr>
    </vt:vector>
  </TitlesOfParts>
  <Company>Microsoft Corporation</Company>
  <LinksUpToDate>false</LinksUpToDate>
  <SharedDoc>false</SharedDoc>
  <HyperlinksChanged>false</HyperlinksChanged>
  <AppVersion>12.0000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슬라이드 1</dc:title>
  <dc:creator>Registered User</dc:creator>
  <cp:lastModifiedBy>MCH</cp:lastModifiedBy>
  <cp:revision>992</cp:revision>
  <dcterms:created xsi:type="dcterms:W3CDTF">2015-12-03T08:16:51Z</dcterms:created>
  <dcterms:modified xsi:type="dcterms:W3CDTF">2017-03-06T15:09:05Z</dcterms:modified>
</cp:coreProperties>
</file>