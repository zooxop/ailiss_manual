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9"/>
  </p:notesMasterIdLst>
  <p:handoutMasterIdLst>
    <p:handoutMasterId r:id="rId20"/>
  </p:handoutMasterIdLst>
  <p:sldIdLst>
    <p:sldId id="261" r:id="rId2"/>
    <p:sldId id="260" r:id="rId3"/>
    <p:sldId id="262" r:id="rId4"/>
    <p:sldId id="259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619600-7FE0-458F-A2A6-25BA85D2BE59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79A4E0-2209-456C-AA1F-6598DC52CCD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D2FA9-4914-495D-960E-EFF2DD4EA42D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2CAF2D-CBB2-45FF-A1B2-0ED67E31F78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직사각형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DABFBF5B-B7D6-428D-925C-BC49F659DA11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C32D154-9F39-4946-8373-CE00C045894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BF5B-B7D6-428D-925C-BC49F659DA11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C32D154-9F39-4946-8373-CE00C045894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BF5B-B7D6-428D-925C-BC49F659DA11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5C32D154-9F39-4946-8373-CE00C045894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DABFBF5B-B7D6-428D-925C-BC49F659DA11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5C32D154-9F39-4946-8373-CE00C045894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DABFBF5B-B7D6-428D-925C-BC49F659DA11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5C32D154-9F39-4946-8373-CE00C045894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BF5B-B7D6-428D-925C-BC49F659DA11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C32D154-9F39-4946-8373-CE00C045894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BF5B-B7D6-428D-925C-BC49F659DA11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C32D154-9F39-4946-8373-CE00C045894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BF5B-B7D6-428D-925C-BC49F659DA11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C32D154-9F39-4946-8373-CE00C045894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DABFBF5B-B7D6-428D-925C-BC49F659DA11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5C32D154-9F39-4946-8373-CE00C045894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 smtClean="0"/>
              <a:t>그림을 추가하려면 아이콘을 클릭하십시오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BF5B-B7D6-428D-925C-BC49F659DA11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2D154-9F39-4946-8373-CE00C045894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DABFBF5B-B7D6-428D-925C-BC49F659DA11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5C32D154-9F39-4946-8373-CE00C045894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DABFBF5B-B7D6-428D-925C-BC49F659DA11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5C32D154-9F39-4946-8373-CE00C045894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1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857356" y="1214422"/>
            <a:ext cx="6477000" cy="1828800"/>
          </a:xfrm>
        </p:spPr>
        <p:txBody>
          <a:bodyPr>
            <a:normAutofit/>
          </a:bodyPr>
          <a:lstStyle/>
          <a:p>
            <a:r>
              <a:rPr lang="ko-KR" altLang="en-US" sz="7200" dirty="0" smtClean="0"/>
              <a:t>암 검진 결과입력</a:t>
            </a:r>
            <a:endParaRPr lang="ko-KR" altLang="en-US" sz="72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ko-KR" altLang="en-US" dirty="0" smtClean="0"/>
              <a:t>의</a:t>
            </a:r>
            <a:r>
              <a:rPr lang="en-US" altLang="ko-KR" dirty="0" smtClean="0"/>
              <a:t>)</a:t>
            </a:r>
            <a:r>
              <a:rPr lang="ko-KR" altLang="en-US" dirty="0" smtClean="0"/>
              <a:t>고담의료재단 </a:t>
            </a:r>
            <a:r>
              <a:rPr lang="ko-KR" altLang="en-US" dirty="0" err="1" smtClean="0"/>
              <a:t>마더스병원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43834" y="5500702"/>
            <a:ext cx="1357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by  </a:t>
            </a:r>
            <a:r>
              <a:rPr lang="en-US" altLang="ko-KR" sz="1600" dirty="0" smtClean="0"/>
              <a:t>al2777g </a:t>
            </a:r>
            <a:endParaRPr lang="ko-KR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</a:t>
            </a:r>
            <a:r>
              <a:rPr lang="ko-KR" altLang="en-US" dirty="0" smtClean="0"/>
              <a:t>프로그램 실행 </a:t>
            </a:r>
            <a:endParaRPr lang="ko-KR" altLang="en-US" dirty="0"/>
          </a:p>
        </p:txBody>
      </p:sp>
      <p:pic>
        <p:nvPicPr>
          <p:cNvPr id="4" name="내용 개체 틀 3" descr="000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4286248" y="1714488"/>
            <a:ext cx="4500594" cy="4929222"/>
          </a:xfrm>
        </p:spPr>
      </p:pic>
      <p:pic>
        <p:nvPicPr>
          <p:cNvPr id="5" name="그림 4" descr="2020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5720" y="2071678"/>
            <a:ext cx="3214677" cy="1071570"/>
          </a:xfrm>
          <a:prstGeom prst="rect">
            <a:avLst/>
          </a:prstGeom>
        </p:spPr>
      </p:pic>
      <p:sp>
        <p:nvSpPr>
          <p:cNvPr id="6" name="오른쪽 화살표 5"/>
          <p:cNvSpPr/>
          <p:nvPr/>
        </p:nvSpPr>
        <p:spPr>
          <a:xfrm>
            <a:off x="3643306" y="2357430"/>
            <a:ext cx="642942" cy="571504"/>
          </a:xfrm>
          <a:prstGeom prst="rightArrow">
            <a:avLst>
              <a:gd name="adj1" fmla="val 50000"/>
              <a:gd name="adj2" fmla="val 75143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285720" y="2285992"/>
            <a:ext cx="500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  <a:latin typeface="+mj-ea"/>
                <a:ea typeface="+mj-ea"/>
              </a:rPr>
              <a:t>①</a:t>
            </a:r>
            <a:endParaRPr lang="ko-KR" altLang="en-US" sz="24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14414" y="2285992"/>
            <a:ext cx="500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  <a:latin typeface="맑은 고딕"/>
                <a:ea typeface="맑은 고딕"/>
              </a:rPr>
              <a:t>②</a:t>
            </a:r>
            <a:endParaRPr lang="ko-KR" altLang="en-US" sz="24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8596" y="3786190"/>
            <a:ext cx="34290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smtClean="0">
                <a:latin typeface="+mn-ea"/>
              </a:rPr>
              <a:t>바탕화면의 </a:t>
            </a:r>
            <a:r>
              <a:rPr lang="ko-KR" altLang="en-US" sz="2000" dirty="0" err="1" smtClean="0">
                <a:latin typeface="+mn-ea"/>
              </a:rPr>
              <a:t>아름누리</a:t>
            </a:r>
            <a:r>
              <a:rPr lang="ko-KR" altLang="en-US" sz="2000" dirty="0" smtClean="0">
                <a:latin typeface="+mn-ea"/>
              </a:rPr>
              <a:t> 프로그램을 실행한다</a:t>
            </a:r>
            <a:r>
              <a:rPr lang="en-US" altLang="ko-KR" sz="2000" dirty="0" smtClean="0">
                <a:latin typeface="+mn-ea"/>
              </a:rPr>
              <a:t>.</a:t>
            </a:r>
          </a:p>
          <a:p>
            <a:r>
              <a:rPr lang="ko-KR" altLang="en-US" sz="2000" dirty="0" smtClean="0">
                <a:latin typeface="+mn-ea"/>
              </a:rPr>
              <a:t>먼저 검진 업데이트를 한 후</a:t>
            </a:r>
            <a:endParaRPr lang="en-US" altLang="ko-KR" sz="2000" dirty="0" smtClean="0">
              <a:latin typeface="+mn-ea"/>
            </a:endParaRPr>
          </a:p>
          <a:p>
            <a:r>
              <a:rPr lang="ko-KR" altLang="en-US" sz="2000" dirty="0" smtClean="0">
                <a:latin typeface="+mn-ea"/>
              </a:rPr>
              <a:t>사과모양의 아이콘인 검진프로그램을 실행하면</a:t>
            </a:r>
            <a:endParaRPr lang="en-US" altLang="ko-KR" sz="2000" dirty="0" smtClean="0">
              <a:latin typeface="+mn-ea"/>
            </a:endParaRPr>
          </a:p>
          <a:p>
            <a:r>
              <a:rPr lang="ko-KR" altLang="en-US" sz="2000" dirty="0" smtClean="0">
                <a:latin typeface="+mn-ea"/>
              </a:rPr>
              <a:t>우측과 같은 화면이 생성된다</a:t>
            </a:r>
            <a:r>
              <a:rPr lang="en-US" altLang="ko-KR" sz="2000" dirty="0" smtClean="0">
                <a:latin typeface="+mn-ea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검색</a:t>
            </a:r>
            <a:endParaRPr lang="ko-KR" altLang="en-US" dirty="0"/>
          </a:p>
        </p:txBody>
      </p:sp>
      <p:pic>
        <p:nvPicPr>
          <p:cNvPr id="4" name="내용 개체 틀 3" descr="212121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1500174"/>
            <a:ext cx="9144000" cy="5357826"/>
          </a:xfrm>
        </p:spPr>
      </p:pic>
      <p:sp>
        <p:nvSpPr>
          <p:cNvPr id="5" name="왼쪽 화살표 설명선 4"/>
          <p:cNvSpPr/>
          <p:nvPr/>
        </p:nvSpPr>
        <p:spPr>
          <a:xfrm>
            <a:off x="2928926" y="1643050"/>
            <a:ext cx="3143272" cy="1785950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78038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714744" y="1785926"/>
            <a:ext cx="2214578" cy="1571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>
                <a:latin typeface="+mn-ea"/>
              </a:rPr>
              <a:t>입력하고자 하는 </a:t>
            </a:r>
            <a:endParaRPr lang="en-US" altLang="ko-KR" sz="2400" dirty="0" smtClean="0">
              <a:latin typeface="+mn-ea"/>
            </a:endParaRPr>
          </a:p>
          <a:p>
            <a:r>
              <a:rPr lang="ko-KR" altLang="en-US" sz="2400" dirty="0" smtClean="0">
                <a:latin typeface="+mn-ea"/>
              </a:rPr>
              <a:t>사람의 이름</a:t>
            </a:r>
            <a:r>
              <a:rPr lang="en-US" altLang="ko-KR" sz="2400" dirty="0" smtClean="0">
                <a:latin typeface="+mn-ea"/>
              </a:rPr>
              <a:t>, </a:t>
            </a:r>
            <a:r>
              <a:rPr lang="ko-KR" altLang="en-US" sz="2400" dirty="0" smtClean="0">
                <a:latin typeface="+mn-ea"/>
              </a:rPr>
              <a:t>검진기간</a:t>
            </a:r>
            <a:r>
              <a:rPr lang="en-US" altLang="ko-KR" sz="2400" dirty="0" smtClean="0">
                <a:latin typeface="+mn-ea"/>
              </a:rPr>
              <a:t>, </a:t>
            </a:r>
          </a:p>
          <a:p>
            <a:r>
              <a:rPr lang="ko-KR" altLang="en-US" sz="2400" dirty="0" smtClean="0">
                <a:latin typeface="+mn-ea"/>
              </a:rPr>
              <a:t>사업장을 지정하여 </a:t>
            </a:r>
            <a:endParaRPr lang="en-US" altLang="ko-KR" sz="2400" dirty="0" smtClean="0">
              <a:latin typeface="+mn-ea"/>
            </a:endParaRPr>
          </a:p>
          <a:p>
            <a:r>
              <a:rPr lang="ko-KR" altLang="en-US" sz="2400" dirty="0" smtClean="0">
                <a:latin typeface="+mn-ea"/>
              </a:rPr>
              <a:t>찾기를 누른다</a:t>
            </a:r>
            <a:r>
              <a:rPr lang="en-US" altLang="ko-KR" sz="2400" dirty="0" smtClean="0">
                <a:latin typeface="+mn-ea"/>
              </a:rPr>
              <a:t>.</a:t>
            </a:r>
            <a:endParaRPr lang="ko-KR" altLang="en-US" sz="2400" dirty="0">
              <a:latin typeface="+mn-ea"/>
            </a:endParaRPr>
          </a:p>
        </p:txBody>
      </p:sp>
      <p:sp>
        <p:nvSpPr>
          <p:cNvPr id="7" name="액자 6"/>
          <p:cNvSpPr/>
          <p:nvPr/>
        </p:nvSpPr>
        <p:spPr>
          <a:xfrm>
            <a:off x="2428860" y="1785926"/>
            <a:ext cx="857256" cy="285752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785918" y="2212966"/>
            <a:ext cx="642942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액자 10"/>
          <p:cNvSpPr/>
          <p:nvPr/>
        </p:nvSpPr>
        <p:spPr>
          <a:xfrm>
            <a:off x="571472" y="2143116"/>
            <a:ext cx="928694" cy="357190"/>
          </a:xfrm>
          <a:prstGeom prst="frame">
            <a:avLst>
              <a:gd name="adj1" fmla="val 8843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0" y="2643182"/>
            <a:ext cx="2500298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위쪽 화살표 설명선 14"/>
          <p:cNvSpPr/>
          <p:nvPr/>
        </p:nvSpPr>
        <p:spPr>
          <a:xfrm>
            <a:off x="428596" y="3714752"/>
            <a:ext cx="2286016" cy="2214578"/>
          </a:xfrm>
          <a:prstGeom prst="upArrowCallout">
            <a:avLst>
              <a:gd name="adj1" fmla="val 25000"/>
              <a:gd name="adj2" fmla="val 25000"/>
              <a:gd name="adj3" fmla="val 25000"/>
              <a:gd name="adj4" fmla="val 7031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642910" y="4429132"/>
            <a:ext cx="22145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/>
              <a:t>입력하고자 하는 </a:t>
            </a:r>
            <a:endParaRPr lang="en-US" altLang="ko-KR" sz="2400" dirty="0" smtClean="0"/>
          </a:p>
          <a:p>
            <a:r>
              <a:rPr lang="ko-KR" altLang="en-US" sz="2400" dirty="0" smtClean="0"/>
              <a:t>사람이 검색됐을 때  우측에 결과도 </a:t>
            </a:r>
            <a:endParaRPr lang="en-US" altLang="ko-KR" sz="2400" dirty="0" smtClean="0"/>
          </a:p>
          <a:p>
            <a:r>
              <a:rPr lang="ko-KR" altLang="en-US" sz="2400" dirty="0" smtClean="0"/>
              <a:t>같이 나타난다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결과 입력 </a:t>
            </a:r>
            <a:r>
              <a:rPr lang="en-US" altLang="ko-KR" dirty="0" smtClean="0"/>
              <a:t>1-1</a:t>
            </a:r>
            <a:endParaRPr lang="ko-KR" altLang="en-US" dirty="0"/>
          </a:p>
        </p:txBody>
      </p:sp>
      <p:pic>
        <p:nvPicPr>
          <p:cNvPr id="6" name="내용 개체 틀 5" descr="a3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4500562" y="5715016"/>
            <a:ext cx="4010025" cy="561975"/>
          </a:xfrm>
        </p:spPr>
      </p:pic>
      <p:sp>
        <p:nvSpPr>
          <p:cNvPr id="7" name="액자 6"/>
          <p:cNvSpPr/>
          <p:nvPr/>
        </p:nvSpPr>
        <p:spPr>
          <a:xfrm>
            <a:off x="3571868" y="2000240"/>
            <a:ext cx="500066" cy="285752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657671"/>
            <a:ext cx="42148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환자를  검색을 한 뒤 우측 상단 메뉴 중 암 검진에 들어가게 </a:t>
            </a:r>
            <a:endParaRPr lang="en-US" altLang="ko-KR" dirty="0" smtClean="0"/>
          </a:p>
          <a:p>
            <a:r>
              <a:rPr lang="ko-KR" altLang="en-US" dirty="0" smtClean="0"/>
              <a:t>되면  위와 같이 위암</a:t>
            </a:r>
            <a:r>
              <a:rPr lang="en-US" altLang="ko-KR" dirty="0" smtClean="0"/>
              <a:t>/</a:t>
            </a:r>
            <a:r>
              <a:rPr lang="ko-KR" altLang="en-US" dirty="0" smtClean="0"/>
              <a:t>대장암</a:t>
            </a:r>
            <a:r>
              <a:rPr lang="en-US" altLang="ko-KR" dirty="0" smtClean="0"/>
              <a:t>/</a:t>
            </a:r>
            <a:r>
              <a:rPr lang="ko-KR" altLang="en-US" dirty="0" smtClean="0"/>
              <a:t>간암</a:t>
            </a:r>
            <a:r>
              <a:rPr lang="en-US" altLang="ko-KR" dirty="0" smtClean="0"/>
              <a:t>/</a:t>
            </a:r>
            <a:r>
              <a:rPr lang="ko-KR" altLang="en-US" dirty="0" smtClean="0"/>
              <a:t>유방암</a:t>
            </a:r>
            <a:r>
              <a:rPr lang="en-US" altLang="ko-KR" dirty="0" smtClean="0"/>
              <a:t>/</a:t>
            </a:r>
            <a:r>
              <a:rPr lang="ko-KR" altLang="en-US" dirty="0" smtClean="0"/>
              <a:t>자궁 </a:t>
            </a:r>
            <a:r>
              <a:rPr lang="ko-KR" altLang="en-US" dirty="0" err="1" smtClean="0"/>
              <a:t>경부암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r>
              <a:rPr lang="ko-KR" altLang="en-US" dirty="0" smtClean="0"/>
              <a:t>과 같은 하위 메뉴가 생긴다</a:t>
            </a:r>
            <a:r>
              <a:rPr lang="en-US" altLang="ko-KR" dirty="0" smtClean="0"/>
              <a:t>.</a:t>
            </a:r>
          </a:p>
          <a:p>
            <a:endParaRPr lang="ko-KR" altLang="en-US" dirty="0"/>
          </a:p>
        </p:txBody>
      </p:sp>
      <p:pic>
        <p:nvPicPr>
          <p:cNvPr id="10" name="그림 9" descr="a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1500174"/>
            <a:ext cx="7962900" cy="3838575"/>
          </a:xfrm>
          <a:prstGeom prst="rect">
            <a:avLst/>
          </a:prstGeom>
        </p:spPr>
      </p:pic>
      <p:sp>
        <p:nvSpPr>
          <p:cNvPr id="11" name="액자 10"/>
          <p:cNvSpPr/>
          <p:nvPr/>
        </p:nvSpPr>
        <p:spPr>
          <a:xfrm>
            <a:off x="3428992" y="1928802"/>
            <a:ext cx="4572032" cy="571504"/>
          </a:xfrm>
          <a:prstGeom prst="frame">
            <a:avLst>
              <a:gd name="adj1" fmla="val 7929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3" name="직선 화살표 연결선 12"/>
          <p:cNvCxnSpPr/>
          <p:nvPr/>
        </p:nvCxnSpPr>
        <p:spPr>
          <a:xfrm rot="16200000" flipH="1">
            <a:off x="6215074" y="3429000"/>
            <a:ext cx="2500330" cy="1357322"/>
          </a:xfrm>
          <a:prstGeom prst="straightConnector1">
            <a:avLst/>
          </a:prstGeom>
          <a:ln w="984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액자 13"/>
          <p:cNvSpPr/>
          <p:nvPr/>
        </p:nvSpPr>
        <p:spPr>
          <a:xfrm>
            <a:off x="7858148" y="5715016"/>
            <a:ext cx="571504" cy="357190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500562" y="6286520"/>
            <a:ext cx="4000528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결과 입력 </a:t>
            </a:r>
            <a:r>
              <a:rPr lang="en-US" altLang="ko-KR" dirty="0" smtClean="0"/>
              <a:t>2-1 (</a:t>
            </a:r>
            <a:r>
              <a:rPr lang="ko-KR" altLang="en-US" dirty="0" smtClean="0"/>
              <a:t>문진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4" name="내용 개체 틀 3" descr="a5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1500175"/>
            <a:ext cx="4357686" cy="3429024"/>
          </a:xfrm>
        </p:spPr>
      </p:pic>
      <p:pic>
        <p:nvPicPr>
          <p:cNvPr id="5" name="그림 4" descr="a6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57752" y="1500174"/>
            <a:ext cx="4286248" cy="33735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0100" y="5643578"/>
            <a:ext cx="67151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smtClean="0"/>
              <a:t>결과를 입력하기 전에 문진표를 작성하여야 하는데  일반 </a:t>
            </a:r>
            <a:r>
              <a:rPr lang="ko-KR" altLang="en-US" sz="2000" dirty="0" err="1" smtClean="0"/>
              <a:t>건강검진표완</a:t>
            </a:r>
            <a:r>
              <a:rPr lang="ko-KR" altLang="en-US" sz="2000" dirty="0" smtClean="0"/>
              <a:t> 달리 암 </a:t>
            </a:r>
            <a:r>
              <a:rPr lang="ko-KR" altLang="en-US" sz="2000" dirty="0" err="1" smtClean="0"/>
              <a:t>검진표에는</a:t>
            </a:r>
            <a:r>
              <a:rPr lang="ko-KR" altLang="en-US" sz="2000" dirty="0" smtClean="0"/>
              <a:t> 여성문진이 있다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차트에 적힌 데로 입력한 다음 하단의 저장 버튼을 누르면 된다</a:t>
            </a:r>
            <a:r>
              <a:rPr lang="en-US" altLang="ko-KR" sz="2000" dirty="0" smtClean="0"/>
              <a:t>.</a:t>
            </a:r>
            <a:endParaRPr lang="ko-KR" alt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5500694" y="4929198"/>
            <a:ext cx="30718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/>
              <a:t>(</a:t>
            </a:r>
            <a:r>
              <a:rPr lang="ko-KR" altLang="en-US" sz="1400" dirty="0" smtClean="0"/>
              <a:t>여성 문진표</a:t>
            </a:r>
            <a:r>
              <a:rPr lang="en-US" altLang="ko-KR" sz="1400" dirty="0" smtClean="0"/>
              <a:t>)</a:t>
            </a:r>
            <a:endParaRPr lang="ko-KR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결과 입력 </a:t>
            </a:r>
            <a:r>
              <a:rPr lang="en-US" altLang="ko-KR" dirty="0" smtClean="0"/>
              <a:t>3-1 (</a:t>
            </a:r>
            <a:r>
              <a:rPr lang="ko-KR" altLang="en-US" dirty="0" smtClean="0"/>
              <a:t>상위메뉴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pic>
        <p:nvPicPr>
          <p:cNvPr id="4" name="내용 개체 틀 3" descr="a7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1500174"/>
            <a:ext cx="5119552" cy="5357826"/>
          </a:xfrm>
        </p:spPr>
      </p:pic>
      <p:sp>
        <p:nvSpPr>
          <p:cNvPr id="5" name="도넛 4"/>
          <p:cNvSpPr/>
          <p:nvPr/>
        </p:nvSpPr>
        <p:spPr>
          <a:xfrm>
            <a:off x="500034" y="1643050"/>
            <a:ext cx="285752" cy="285752"/>
          </a:xfrm>
          <a:prstGeom prst="donut">
            <a:avLst>
              <a:gd name="adj" fmla="val 11542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7" name="그림 6" descr="a8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500694" y="1643050"/>
            <a:ext cx="3076575" cy="276225"/>
          </a:xfrm>
          <a:prstGeom prst="rect">
            <a:avLst/>
          </a:prstGeom>
        </p:spPr>
      </p:pic>
      <p:sp>
        <p:nvSpPr>
          <p:cNvPr id="8" name="오른쪽 화살표 7"/>
          <p:cNvSpPr/>
          <p:nvPr/>
        </p:nvSpPr>
        <p:spPr>
          <a:xfrm>
            <a:off x="5214942" y="1643050"/>
            <a:ext cx="214314" cy="28575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286380" y="2143116"/>
            <a:ext cx="37147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0. </a:t>
            </a:r>
            <a:r>
              <a:rPr lang="ko-KR" altLang="en-US" dirty="0" smtClean="0"/>
              <a:t>비대상 </a:t>
            </a:r>
            <a:r>
              <a:rPr lang="en-US" altLang="ko-KR" dirty="0" smtClean="0"/>
              <a:t>: </a:t>
            </a:r>
            <a:r>
              <a:rPr lang="ko-KR" altLang="en-US" dirty="0" smtClean="0"/>
              <a:t>검진받지 않음 보통 공란으로 남겨놓음  됨</a:t>
            </a:r>
            <a:endParaRPr lang="en-US" altLang="ko-KR" dirty="0" smtClean="0"/>
          </a:p>
          <a:p>
            <a:pPr marL="342900" indent="-342900"/>
            <a:r>
              <a:rPr lang="en-US" altLang="ko-KR" dirty="0" smtClean="0"/>
              <a:t>1. </a:t>
            </a:r>
            <a:r>
              <a:rPr lang="ko-KR" altLang="en-US" dirty="0" err="1" smtClean="0"/>
              <a:t>특정암</a:t>
            </a:r>
            <a:r>
              <a:rPr lang="ko-KR" altLang="en-US" dirty="0" smtClean="0"/>
              <a:t> </a:t>
            </a:r>
            <a:r>
              <a:rPr lang="en-US" altLang="ko-KR" dirty="0" smtClean="0"/>
              <a:t> : </a:t>
            </a:r>
            <a:r>
              <a:rPr lang="ko-KR" altLang="en-US" dirty="0" smtClean="0"/>
              <a:t>공단조회에서 비대상으로 조회되며</a:t>
            </a:r>
            <a:r>
              <a:rPr lang="en-US" altLang="ko-KR" dirty="0" smtClean="0"/>
              <a:t>, </a:t>
            </a:r>
          </a:p>
          <a:p>
            <a:pPr marL="342900" indent="-342900"/>
            <a:r>
              <a:rPr lang="en-US" altLang="ko-KR" dirty="0" smtClean="0"/>
              <a:t>              </a:t>
            </a:r>
            <a:r>
              <a:rPr lang="ko-KR" altLang="en-US" dirty="0" smtClean="0"/>
              <a:t>본인부담이 있음</a:t>
            </a:r>
            <a:endParaRPr lang="en-US" altLang="ko-KR" dirty="0" smtClean="0"/>
          </a:p>
          <a:p>
            <a:pPr marL="342900" indent="-342900"/>
            <a:r>
              <a:rPr lang="en-US" altLang="ko-KR" dirty="0" smtClean="0"/>
              <a:t>2.  </a:t>
            </a:r>
            <a:r>
              <a:rPr lang="ko-KR" altLang="en-US" dirty="0" err="1" smtClean="0"/>
              <a:t>무료암</a:t>
            </a:r>
            <a:r>
              <a:rPr lang="ko-KR" altLang="en-US" dirty="0" smtClean="0"/>
              <a:t> </a:t>
            </a:r>
            <a:r>
              <a:rPr lang="en-US" altLang="ko-KR" dirty="0" smtClean="0"/>
              <a:t>:  </a:t>
            </a:r>
            <a:r>
              <a:rPr lang="ko-KR" altLang="en-US" dirty="0" smtClean="0"/>
              <a:t>공단조회에서 대상으로 조회되며 </a:t>
            </a:r>
            <a:endParaRPr lang="en-US" altLang="ko-KR" dirty="0" smtClean="0"/>
          </a:p>
          <a:p>
            <a:pPr marL="342900" indent="-342900"/>
            <a:r>
              <a:rPr lang="en-US" altLang="ko-KR" dirty="0" smtClean="0"/>
              <a:t>              </a:t>
            </a:r>
            <a:r>
              <a:rPr lang="ko-KR" altLang="en-US" dirty="0" smtClean="0"/>
              <a:t>본인부담이 없음 </a:t>
            </a:r>
            <a:endParaRPr lang="en-US" altLang="ko-KR" dirty="0" smtClean="0"/>
          </a:p>
          <a:p>
            <a:pPr marL="342900" indent="-342900"/>
            <a:r>
              <a:rPr lang="en-US" altLang="ko-KR" dirty="0" smtClean="0"/>
              <a:t>3. </a:t>
            </a:r>
            <a:r>
              <a:rPr lang="ko-KR" altLang="en-US" dirty="0" smtClean="0"/>
              <a:t>의료급여 </a:t>
            </a:r>
            <a:r>
              <a:rPr lang="en-US" altLang="ko-KR" dirty="0" smtClean="0"/>
              <a:t>:  </a:t>
            </a:r>
            <a:r>
              <a:rPr lang="ko-KR" altLang="en-US" dirty="0" smtClean="0"/>
              <a:t>공단조회에서 의료급여로 확인됨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결과 입력 </a:t>
            </a:r>
            <a:r>
              <a:rPr lang="en-US" altLang="ko-KR" dirty="0" smtClean="0"/>
              <a:t>3-2 (</a:t>
            </a:r>
            <a:r>
              <a:rPr lang="ko-KR" altLang="en-US" dirty="0" smtClean="0"/>
              <a:t>상위메뉴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4" name="내용 개체 틀 3" descr="a9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857224" y="1857364"/>
            <a:ext cx="6924675" cy="1847850"/>
          </a:xfrm>
        </p:spPr>
      </p:pic>
      <p:sp>
        <p:nvSpPr>
          <p:cNvPr id="5" name="액자 4"/>
          <p:cNvSpPr/>
          <p:nvPr/>
        </p:nvSpPr>
        <p:spPr>
          <a:xfrm>
            <a:off x="5572132" y="1785926"/>
            <a:ext cx="2286016" cy="1928826"/>
          </a:xfrm>
          <a:prstGeom prst="frame">
            <a:avLst>
              <a:gd name="adj1" fmla="val 3696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7" name="그림 6" descr="a10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15008" y="4429132"/>
            <a:ext cx="2114550" cy="1847850"/>
          </a:xfrm>
          <a:prstGeom prst="rect">
            <a:avLst/>
          </a:prstGeom>
        </p:spPr>
      </p:pic>
      <p:sp>
        <p:nvSpPr>
          <p:cNvPr id="8" name="아래쪽 화살표 7"/>
          <p:cNvSpPr/>
          <p:nvPr/>
        </p:nvSpPr>
        <p:spPr>
          <a:xfrm>
            <a:off x="6429388" y="3786190"/>
            <a:ext cx="714380" cy="50006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642910" y="4429132"/>
            <a:ext cx="478634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smtClean="0">
                <a:latin typeface="+mn-ea"/>
              </a:rPr>
              <a:t>공단홈페이지에서 수신자확인을 하면 </a:t>
            </a:r>
            <a:r>
              <a:rPr lang="ko-KR" altLang="en-US" sz="2000" dirty="0" err="1" smtClean="0">
                <a:latin typeface="+mn-ea"/>
              </a:rPr>
              <a:t>암검사가</a:t>
            </a:r>
            <a:r>
              <a:rPr lang="ko-KR" altLang="en-US" sz="2000" dirty="0" smtClean="0">
                <a:latin typeface="+mn-ea"/>
              </a:rPr>
              <a:t> </a:t>
            </a:r>
            <a:r>
              <a:rPr lang="ko-KR" altLang="en-US" sz="2000" dirty="0" err="1" smtClean="0">
                <a:latin typeface="+mn-ea"/>
              </a:rPr>
              <a:t>본인부담없는지</a:t>
            </a:r>
            <a:r>
              <a:rPr lang="en-US" altLang="ko-KR" sz="2000" dirty="0" smtClean="0">
                <a:latin typeface="+mn-ea"/>
              </a:rPr>
              <a:t>,</a:t>
            </a:r>
          </a:p>
          <a:p>
            <a:r>
              <a:rPr lang="en-US" altLang="ko-KR" sz="2000" dirty="0" smtClean="0">
                <a:latin typeface="+mn-ea"/>
              </a:rPr>
              <a:t>20%</a:t>
            </a:r>
            <a:r>
              <a:rPr lang="ko-KR" altLang="en-US" sz="2000" dirty="0" smtClean="0">
                <a:latin typeface="+mn-ea"/>
              </a:rPr>
              <a:t>부담이 있는지</a:t>
            </a:r>
            <a:r>
              <a:rPr lang="en-US" altLang="ko-KR" sz="2000" dirty="0" smtClean="0">
                <a:latin typeface="+mn-ea"/>
              </a:rPr>
              <a:t>(09</a:t>
            </a:r>
            <a:r>
              <a:rPr lang="ko-KR" altLang="en-US" sz="2000" dirty="0" smtClean="0">
                <a:latin typeface="+mn-ea"/>
              </a:rPr>
              <a:t>년도 기준</a:t>
            </a:r>
            <a:r>
              <a:rPr lang="en-US" altLang="ko-KR" sz="2000" dirty="0" smtClean="0">
                <a:latin typeface="+mn-ea"/>
              </a:rPr>
              <a:t>) </a:t>
            </a:r>
            <a:r>
              <a:rPr lang="ko-KR" altLang="en-US" sz="2000" dirty="0" smtClean="0">
                <a:latin typeface="+mn-ea"/>
              </a:rPr>
              <a:t>확인이 가능한데</a:t>
            </a:r>
            <a:r>
              <a:rPr lang="en-US" altLang="ko-KR" sz="2000" dirty="0" smtClean="0">
                <a:latin typeface="+mn-ea"/>
              </a:rPr>
              <a:t>, </a:t>
            </a:r>
          </a:p>
          <a:p>
            <a:r>
              <a:rPr lang="ko-KR" altLang="en-US" sz="2000" dirty="0" smtClean="0">
                <a:latin typeface="+mn-ea"/>
              </a:rPr>
              <a:t>우측 표를 보면 </a:t>
            </a:r>
            <a:r>
              <a:rPr lang="ko-KR" altLang="en-US" sz="2000" dirty="0" err="1" smtClean="0">
                <a:latin typeface="+mn-ea"/>
              </a:rPr>
              <a:t>암검진</a:t>
            </a:r>
            <a:r>
              <a:rPr lang="ko-KR" altLang="en-US" sz="2000" dirty="0" smtClean="0">
                <a:latin typeface="+mn-ea"/>
              </a:rPr>
              <a:t> </a:t>
            </a:r>
            <a:r>
              <a:rPr lang="en-US" altLang="ko-KR" sz="2000" dirty="0" smtClean="0">
                <a:latin typeface="+mn-ea"/>
              </a:rPr>
              <a:t>– </a:t>
            </a:r>
            <a:r>
              <a:rPr lang="ko-KR" altLang="en-US" sz="2000" dirty="0" err="1" smtClean="0">
                <a:latin typeface="+mn-ea"/>
              </a:rPr>
              <a:t>본인부담없음</a:t>
            </a:r>
            <a:r>
              <a:rPr lang="en-US" altLang="ko-KR" sz="2000" dirty="0" smtClean="0">
                <a:latin typeface="+mn-ea"/>
              </a:rPr>
              <a:t>, </a:t>
            </a:r>
            <a:r>
              <a:rPr lang="ko-KR" altLang="en-US" sz="2000" dirty="0" smtClean="0">
                <a:latin typeface="+mn-ea"/>
              </a:rPr>
              <a:t>치료비지원 </a:t>
            </a:r>
            <a:r>
              <a:rPr lang="en-US" altLang="ko-KR" sz="2000" dirty="0" smtClean="0">
                <a:latin typeface="+mn-ea"/>
              </a:rPr>
              <a:t>– </a:t>
            </a:r>
            <a:r>
              <a:rPr lang="ko-KR" altLang="en-US" sz="2000" dirty="0" smtClean="0">
                <a:latin typeface="+mn-ea"/>
              </a:rPr>
              <a:t>대상 </a:t>
            </a:r>
            <a:r>
              <a:rPr lang="ko-KR" altLang="en-US" sz="2000" dirty="0" err="1" smtClean="0">
                <a:latin typeface="+mn-ea"/>
              </a:rPr>
              <a:t>으로</a:t>
            </a:r>
            <a:r>
              <a:rPr lang="ko-KR" altLang="en-US" sz="2000" dirty="0" smtClean="0">
                <a:latin typeface="+mn-ea"/>
              </a:rPr>
              <a:t> </a:t>
            </a:r>
            <a:endParaRPr lang="en-US" altLang="ko-KR" sz="2000" dirty="0" smtClean="0">
              <a:latin typeface="+mn-ea"/>
            </a:endParaRPr>
          </a:p>
          <a:p>
            <a:r>
              <a:rPr lang="ko-KR" altLang="en-US" sz="2000" dirty="0" smtClean="0">
                <a:latin typeface="+mn-ea"/>
              </a:rPr>
              <a:t>되어 있는 것을 보면 위 환자는 </a:t>
            </a:r>
            <a:r>
              <a:rPr lang="ko-KR" altLang="en-US" sz="2000" dirty="0" err="1" smtClean="0">
                <a:latin typeface="+mn-ea"/>
              </a:rPr>
              <a:t>무료암으로</a:t>
            </a:r>
            <a:r>
              <a:rPr lang="ko-KR" altLang="en-US" sz="2000" dirty="0" smtClean="0">
                <a:latin typeface="+mn-ea"/>
              </a:rPr>
              <a:t> </a:t>
            </a:r>
            <a:r>
              <a:rPr lang="ko-KR" altLang="en-US" sz="2000" dirty="0" err="1" smtClean="0">
                <a:latin typeface="+mn-ea"/>
              </a:rPr>
              <a:t>입력해야하는</a:t>
            </a:r>
            <a:r>
              <a:rPr lang="ko-KR" altLang="en-US" sz="2000" dirty="0" smtClean="0">
                <a:latin typeface="+mn-ea"/>
              </a:rPr>
              <a:t> 것을</a:t>
            </a:r>
            <a:endParaRPr lang="en-US" altLang="ko-KR" sz="2000" dirty="0" smtClean="0">
              <a:latin typeface="+mn-ea"/>
            </a:endParaRPr>
          </a:p>
          <a:p>
            <a:r>
              <a:rPr lang="ko-KR" altLang="en-US" sz="2000" dirty="0" smtClean="0">
                <a:latin typeface="+mn-ea"/>
              </a:rPr>
              <a:t>알 </a:t>
            </a:r>
            <a:r>
              <a:rPr lang="ko-KR" altLang="en-US" sz="2000" dirty="0" err="1" smtClean="0">
                <a:latin typeface="+mn-ea"/>
              </a:rPr>
              <a:t>수있다</a:t>
            </a:r>
            <a:r>
              <a:rPr lang="en-US" altLang="ko-KR" sz="2000" dirty="0" smtClean="0">
                <a:latin typeface="+mn-ea"/>
              </a:rPr>
              <a:t>. </a:t>
            </a:r>
          </a:p>
        </p:txBody>
      </p:sp>
      <p:sp>
        <p:nvSpPr>
          <p:cNvPr id="6" name="액자 5"/>
          <p:cNvSpPr/>
          <p:nvPr/>
        </p:nvSpPr>
        <p:spPr>
          <a:xfrm>
            <a:off x="7143768" y="4714884"/>
            <a:ext cx="642942" cy="1500198"/>
          </a:xfrm>
          <a:prstGeom prst="frame">
            <a:avLst>
              <a:gd name="adj1" fmla="val 6405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357950" y="5000636"/>
            <a:ext cx="785818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6357950" y="5286388"/>
            <a:ext cx="785818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6357950" y="5572140"/>
            <a:ext cx="785818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6357950" y="6143644"/>
            <a:ext cx="785818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결과 입력 </a:t>
            </a:r>
            <a:r>
              <a:rPr lang="en-US" altLang="ko-KR" dirty="0" smtClean="0"/>
              <a:t>3-3 (</a:t>
            </a:r>
            <a:r>
              <a:rPr lang="ko-KR" altLang="en-US" dirty="0" smtClean="0"/>
              <a:t>상위</a:t>
            </a:r>
            <a:r>
              <a:rPr lang="en-US" altLang="ko-KR" dirty="0" smtClean="0"/>
              <a:t>/</a:t>
            </a:r>
            <a:r>
              <a:rPr lang="ko-KR" altLang="en-US" dirty="0" smtClean="0"/>
              <a:t>하위메뉴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6" name="내용 개체 틀 5" descr="a7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1500174"/>
            <a:ext cx="4929190" cy="5357826"/>
          </a:xfrm>
        </p:spPr>
      </p:pic>
      <p:sp>
        <p:nvSpPr>
          <p:cNvPr id="7" name="액자 6"/>
          <p:cNvSpPr/>
          <p:nvPr/>
        </p:nvSpPr>
        <p:spPr>
          <a:xfrm>
            <a:off x="2500298" y="1714488"/>
            <a:ext cx="1500198" cy="214314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00628" y="1571612"/>
            <a:ext cx="371480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 smtClean="0">
                <a:latin typeface="+mn-ea"/>
              </a:rPr>
              <a:t>암검진을</a:t>
            </a:r>
            <a:r>
              <a:rPr lang="ko-KR" altLang="en-US" sz="2000" dirty="0" smtClean="0">
                <a:latin typeface="+mn-ea"/>
              </a:rPr>
              <a:t>  입력 할 때 보면 </a:t>
            </a:r>
            <a:endParaRPr lang="en-US" altLang="ko-KR" sz="2000" dirty="0" smtClean="0">
              <a:latin typeface="+mn-ea"/>
            </a:endParaRPr>
          </a:p>
          <a:p>
            <a:r>
              <a:rPr lang="ko-KR" altLang="en-US" sz="2000" dirty="0" smtClean="0">
                <a:latin typeface="+mn-ea"/>
              </a:rPr>
              <a:t>각 암마다 </a:t>
            </a:r>
            <a:r>
              <a:rPr lang="ko-KR" altLang="en-US" sz="2000" dirty="0" err="1" smtClean="0">
                <a:latin typeface="+mn-ea"/>
              </a:rPr>
              <a:t>상담료를</a:t>
            </a:r>
            <a:r>
              <a:rPr lang="ko-KR" altLang="en-US" sz="2000" dirty="0" smtClean="0">
                <a:latin typeface="+mn-ea"/>
              </a:rPr>
              <a:t> 기입하게</a:t>
            </a:r>
            <a:r>
              <a:rPr lang="en-US" altLang="ko-KR" sz="2000" dirty="0" smtClean="0">
                <a:latin typeface="+mn-ea"/>
              </a:rPr>
              <a:t> </a:t>
            </a:r>
            <a:r>
              <a:rPr lang="ko-KR" altLang="en-US" sz="2000" dirty="0" err="1" smtClean="0">
                <a:latin typeface="+mn-ea"/>
              </a:rPr>
              <a:t>되있는데</a:t>
            </a:r>
            <a:r>
              <a:rPr lang="ko-KR" altLang="en-US" sz="2000" dirty="0" smtClean="0">
                <a:latin typeface="+mn-ea"/>
              </a:rPr>
              <a:t>  </a:t>
            </a:r>
            <a:endParaRPr lang="en-US" altLang="ko-KR" sz="2000" dirty="0" smtClean="0">
              <a:latin typeface="+mn-ea"/>
            </a:endParaRPr>
          </a:p>
          <a:p>
            <a:r>
              <a:rPr lang="ko-KR" altLang="en-US" sz="2000" dirty="0" smtClean="0">
                <a:latin typeface="+mn-ea"/>
              </a:rPr>
              <a:t>같은 의사가 같은 날 판정을 내리게 될 때는 </a:t>
            </a:r>
            <a:endParaRPr lang="en-US" altLang="ko-KR" sz="2000" dirty="0" smtClean="0">
              <a:latin typeface="+mn-ea"/>
            </a:endParaRPr>
          </a:p>
          <a:p>
            <a:r>
              <a:rPr lang="ko-KR" altLang="en-US" sz="2000" dirty="0" smtClean="0">
                <a:latin typeface="+mn-ea"/>
              </a:rPr>
              <a:t>한번의</a:t>
            </a:r>
            <a:r>
              <a:rPr lang="en-US" altLang="ko-KR" sz="2000" dirty="0" smtClean="0">
                <a:latin typeface="+mn-ea"/>
              </a:rPr>
              <a:t> </a:t>
            </a:r>
            <a:r>
              <a:rPr lang="ko-KR" altLang="en-US" sz="2000" dirty="0" err="1" smtClean="0">
                <a:latin typeface="+mn-ea"/>
              </a:rPr>
              <a:t>상담료만</a:t>
            </a:r>
            <a:r>
              <a:rPr lang="ko-KR" altLang="en-US" sz="2000" dirty="0" smtClean="0">
                <a:latin typeface="+mn-ea"/>
              </a:rPr>
              <a:t> 받을 수 있으므로 </a:t>
            </a:r>
            <a:endParaRPr lang="en-US" altLang="ko-KR" sz="2000" dirty="0" smtClean="0">
              <a:latin typeface="+mn-ea"/>
            </a:endParaRPr>
          </a:p>
          <a:p>
            <a:r>
              <a:rPr lang="ko-KR" altLang="en-US" sz="2000" dirty="0" smtClean="0">
                <a:latin typeface="+mn-ea"/>
              </a:rPr>
              <a:t>다른 하나는 미포함으로 입력해야 한다</a:t>
            </a:r>
            <a:r>
              <a:rPr lang="en-US" altLang="ko-KR" sz="2000" dirty="0" smtClean="0">
                <a:latin typeface="+mn-ea"/>
              </a:rPr>
              <a:t>.</a:t>
            </a:r>
            <a:endParaRPr lang="ko-KR" altLang="en-US" sz="2000" dirty="0">
              <a:latin typeface="+mn-ea"/>
            </a:endParaRPr>
          </a:p>
        </p:txBody>
      </p:sp>
      <p:sp>
        <p:nvSpPr>
          <p:cNvPr id="10" name="액자 9"/>
          <p:cNvSpPr/>
          <p:nvPr/>
        </p:nvSpPr>
        <p:spPr>
          <a:xfrm>
            <a:off x="2214546" y="5143512"/>
            <a:ext cx="928694" cy="285752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왼쪽 화살표 설명선 10"/>
          <p:cNvSpPr/>
          <p:nvPr/>
        </p:nvSpPr>
        <p:spPr>
          <a:xfrm>
            <a:off x="4500562" y="4500570"/>
            <a:ext cx="4071966" cy="1500198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3583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5143504" y="4572008"/>
            <a:ext cx="35004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모든 </a:t>
            </a:r>
            <a:r>
              <a:rPr lang="ko-KR" altLang="en-US" dirty="0" err="1" smtClean="0"/>
              <a:t>암검진을</a:t>
            </a:r>
            <a:r>
              <a:rPr lang="ko-KR" altLang="en-US" dirty="0" smtClean="0"/>
              <a:t> 입력할 때 </a:t>
            </a:r>
            <a:endParaRPr lang="en-US" altLang="ko-KR" dirty="0" smtClean="0"/>
          </a:p>
          <a:p>
            <a:r>
              <a:rPr lang="ko-KR" altLang="en-US" dirty="0" smtClean="0"/>
              <a:t>종합판정 우측에 기존 암환자를 선택하는 </a:t>
            </a:r>
            <a:r>
              <a:rPr lang="ko-KR" altLang="en-US" dirty="0" err="1" smtClean="0"/>
              <a:t>란이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r>
              <a:rPr lang="ko-KR" altLang="en-US" dirty="0" smtClean="0"/>
              <a:t>있는데</a:t>
            </a:r>
            <a:r>
              <a:rPr lang="en-US" altLang="ko-KR" dirty="0" smtClean="0"/>
              <a:t>, </a:t>
            </a:r>
            <a:r>
              <a:rPr lang="ko-KR" altLang="en-US" dirty="0" smtClean="0"/>
              <a:t>검사결과에 관계 없이 의사문진에서</a:t>
            </a:r>
            <a:endParaRPr lang="en-US" altLang="ko-KR" dirty="0" smtClean="0"/>
          </a:p>
          <a:p>
            <a:r>
              <a:rPr lang="ko-KR" altLang="en-US" dirty="0" smtClean="0"/>
              <a:t>환자 </a:t>
            </a:r>
            <a:r>
              <a:rPr lang="ko-KR" altLang="en-US" dirty="0" err="1" smtClean="0"/>
              <a:t>과거력이</a:t>
            </a:r>
            <a:r>
              <a:rPr lang="ko-KR" altLang="en-US" dirty="0" smtClean="0"/>
              <a:t>  있는 경우에는 선택하여야 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결과 입력 </a:t>
            </a:r>
            <a:r>
              <a:rPr lang="en-US" altLang="ko-KR" dirty="0" smtClean="0"/>
              <a:t>4-1(</a:t>
            </a:r>
            <a:r>
              <a:rPr lang="ko-KR" altLang="en-US" dirty="0" smtClean="0"/>
              <a:t>위암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4" name="내용 개체 틀 3" descr="a7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1500174"/>
            <a:ext cx="5286380" cy="5357826"/>
          </a:xfrm>
        </p:spPr>
      </p:pic>
      <p:sp>
        <p:nvSpPr>
          <p:cNvPr id="5" name="액자 4"/>
          <p:cNvSpPr/>
          <p:nvPr/>
        </p:nvSpPr>
        <p:spPr>
          <a:xfrm>
            <a:off x="2500298" y="1928802"/>
            <a:ext cx="2571768" cy="2714644"/>
          </a:xfrm>
          <a:prstGeom prst="frame">
            <a:avLst>
              <a:gd name="adj1" fmla="val 817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57818" y="1857364"/>
            <a:ext cx="30718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위내시경 검사 결과 입력 순번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검진장소 </a:t>
            </a:r>
            <a:r>
              <a:rPr lang="en-US" altLang="ko-KR" dirty="0" smtClean="0"/>
              <a:t>1: </a:t>
            </a:r>
            <a:r>
              <a:rPr lang="ko-KR" altLang="en-US" dirty="0" smtClean="0"/>
              <a:t>출장 </a:t>
            </a:r>
            <a:r>
              <a:rPr lang="en-US" altLang="ko-KR" dirty="0" smtClean="0"/>
              <a:t>2: </a:t>
            </a:r>
            <a:r>
              <a:rPr lang="ko-KR" altLang="en-US" dirty="0" err="1" smtClean="0"/>
              <a:t>내원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검진일 </a:t>
            </a:r>
            <a:r>
              <a:rPr lang="en-US" altLang="ko-KR" dirty="0" smtClean="0"/>
              <a:t>:  </a:t>
            </a:r>
            <a:r>
              <a:rPr lang="ko-KR" altLang="en-US" dirty="0" smtClean="0"/>
              <a:t>화면 하단에 검진일 자동버튼을 누르고 입력 시에는 자동으로 접수된 날짜가 입력된다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7" name="그림 6" descr="a1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15008" y="3357562"/>
            <a:ext cx="2524125" cy="209550"/>
          </a:xfrm>
          <a:prstGeom prst="rect">
            <a:avLst/>
          </a:prstGeom>
        </p:spPr>
      </p:pic>
      <p:sp>
        <p:nvSpPr>
          <p:cNvPr id="10" name="액자 9"/>
          <p:cNvSpPr/>
          <p:nvPr/>
        </p:nvSpPr>
        <p:spPr>
          <a:xfrm>
            <a:off x="2000232" y="6572272"/>
            <a:ext cx="785818" cy="285728"/>
          </a:xfrm>
          <a:prstGeom prst="fram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00694" y="4000504"/>
            <a:ext cx="36433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3"/>
            </a:pPr>
            <a:r>
              <a:rPr lang="ko-KR" altLang="en-US" dirty="0" smtClean="0"/>
              <a:t>관찰소견 </a:t>
            </a:r>
            <a:r>
              <a:rPr lang="en-US" altLang="ko-KR" dirty="0" smtClean="0"/>
              <a:t>: </a:t>
            </a:r>
            <a:r>
              <a:rPr lang="ko-KR" altLang="en-US" dirty="0" smtClean="0"/>
              <a:t>판정 난 소견에 따라  </a:t>
            </a:r>
            <a:endParaRPr lang="en-US" altLang="ko-KR" dirty="0" smtClean="0"/>
          </a:p>
          <a:p>
            <a:pPr marL="342900" indent="-342900"/>
            <a:r>
              <a:rPr lang="ko-KR" altLang="en-US" dirty="0" smtClean="0"/>
              <a:t>      입력하고 위치도  입력한다</a:t>
            </a:r>
            <a:r>
              <a:rPr lang="en-US" altLang="ko-KR" dirty="0" smtClean="0"/>
              <a:t>.</a:t>
            </a:r>
          </a:p>
          <a:p>
            <a:pPr marL="342900" indent="-342900"/>
            <a:endParaRPr lang="en-US" altLang="ko-KR" dirty="0" smtClean="0"/>
          </a:p>
        </p:txBody>
      </p:sp>
      <p:pic>
        <p:nvPicPr>
          <p:cNvPr id="12" name="그림 11" descr="a1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786446" y="4857760"/>
            <a:ext cx="1143008" cy="148457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00860" y="5572140"/>
            <a:ext cx="21431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+mn-ea"/>
              </a:rPr>
              <a:t>9 </a:t>
            </a:r>
            <a:r>
              <a:rPr lang="ko-KR" altLang="en-US" sz="1600" dirty="0" smtClean="0">
                <a:latin typeface="+mn-ea"/>
              </a:rPr>
              <a:t>기타의 경우에는</a:t>
            </a:r>
            <a:endParaRPr lang="en-US" altLang="ko-KR" sz="1600" dirty="0" smtClean="0">
              <a:latin typeface="+mn-ea"/>
            </a:endParaRPr>
          </a:p>
          <a:p>
            <a:r>
              <a:rPr lang="ko-KR" altLang="en-US" sz="1600" dirty="0" smtClean="0">
                <a:latin typeface="+mn-ea"/>
              </a:rPr>
              <a:t>장기 중 위가 아닌 부위의 질병일 때 입력하면 된다</a:t>
            </a:r>
            <a:r>
              <a:rPr lang="en-US" altLang="ko-KR" sz="1600" dirty="0" smtClean="0">
                <a:latin typeface="+mn-ea"/>
              </a:rPr>
              <a:t>.</a:t>
            </a:r>
          </a:p>
          <a:p>
            <a:r>
              <a:rPr lang="en-US" altLang="ko-KR" sz="1600" dirty="0" smtClean="0">
                <a:latin typeface="+mn-ea"/>
              </a:rPr>
              <a:t>Ex) </a:t>
            </a:r>
            <a:r>
              <a:rPr lang="ko-KR" altLang="en-US" sz="1600" dirty="0" smtClean="0">
                <a:latin typeface="+mn-ea"/>
              </a:rPr>
              <a:t>십이지장궤양</a:t>
            </a:r>
            <a:endParaRPr lang="en-US" altLang="ko-KR" sz="1600" dirty="0" smtClean="0">
              <a:latin typeface="+mn-ea"/>
            </a:endParaRPr>
          </a:p>
        </p:txBody>
      </p:sp>
      <p:sp>
        <p:nvSpPr>
          <p:cNvPr id="14" name="오른쪽 화살표 13"/>
          <p:cNvSpPr/>
          <p:nvPr/>
        </p:nvSpPr>
        <p:spPr>
          <a:xfrm>
            <a:off x="6429388" y="6215082"/>
            <a:ext cx="642942" cy="11715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3929058" y="4143380"/>
            <a:ext cx="928694" cy="214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/>
          <p:cNvCxnSpPr/>
          <p:nvPr/>
        </p:nvCxnSpPr>
        <p:spPr>
          <a:xfrm rot="5400000" flipH="1" flipV="1">
            <a:off x="2678893" y="3607595"/>
            <a:ext cx="3071834" cy="2714644"/>
          </a:xfrm>
          <a:prstGeom prst="straightConnector1">
            <a:avLst/>
          </a:prstGeom>
          <a:ln w="889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결과 입력 </a:t>
            </a:r>
            <a:r>
              <a:rPr lang="en-US" altLang="ko-KR" dirty="0" smtClean="0"/>
              <a:t>4-2(</a:t>
            </a:r>
            <a:r>
              <a:rPr lang="ko-KR" altLang="en-US" dirty="0" smtClean="0"/>
              <a:t>위암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4" name="내용 개체 틀 3" descr="a7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1500174"/>
            <a:ext cx="5072066" cy="5357826"/>
          </a:xfrm>
        </p:spPr>
      </p:pic>
      <p:sp>
        <p:nvSpPr>
          <p:cNvPr id="5" name="액자 4"/>
          <p:cNvSpPr/>
          <p:nvPr/>
        </p:nvSpPr>
        <p:spPr>
          <a:xfrm>
            <a:off x="3571868" y="4286256"/>
            <a:ext cx="642942" cy="285752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액자 5"/>
          <p:cNvSpPr/>
          <p:nvPr/>
        </p:nvSpPr>
        <p:spPr>
          <a:xfrm>
            <a:off x="0" y="4500570"/>
            <a:ext cx="4857752" cy="500066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8" name="그림 7" descr="a13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42976" y="3357562"/>
            <a:ext cx="2600325" cy="819150"/>
          </a:xfrm>
          <a:prstGeom prst="rect">
            <a:avLst/>
          </a:prstGeom>
        </p:spPr>
      </p:pic>
      <p:pic>
        <p:nvPicPr>
          <p:cNvPr id="9" name="그림 8" descr="a1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28794" y="4714884"/>
            <a:ext cx="2933700" cy="1390650"/>
          </a:xfrm>
          <a:prstGeom prst="rect">
            <a:avLst/>
          </a:prstGeom>
        </p:spPr>
      </p:pic>
      <p:sp>
        <p:nvSpPr>
          <p:cNvPr id="11" name="액자 10"/>
          <p:cNvSpPr/>
          <p:nvPr/>
        </p:nvSpPr>
        <p:spPr>
          <a:xfrm>
            <a:off x="1928794" y="4643446"/>
            <a:ext cx="2857520" cy="1500198"/>
          </a:xfrm>
          <a:prstGeom prst="frame">
            <a:avLst>
              <a:gd name="adj1" fmla="val 3357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오른쪽 화살표 9"/>
          <p:cNvSpPr/>
          <p:nvPr/>
        </p:nvSpPr>
        <p:spPr>
          <a:xfrm>
            <a:off x="1500166" y="4714884"/>
            <a:ext cx="571504" cy="214314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액자 11"/>
          <p:cNvSpPr/>
          <p:nvPr/>
        </p:nvSpPr>
        <p:spPr>
          <a:xfrm>
            <a:off x="1142976" y="3357562"/>
            <a:ext cx="2428892" cy="785818"/>
          </a:xfrm>
          <a:prstGeom prst="frame">
            <a:avLst>
              <a:gd name="adj1" fmla="val 4188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굽은 화살표 12"/>
          <p:cNvSpPr/>
          <p:nvPr/>
        </p:nvSpPr>
        <p:spPr>
          <a:xfrm>
            <a:off x="1571604" y="3429000"/>
            <a:ext cx="500066" cy="1071570"/>
          </a:xfrm>
          <a:prstGeom prst="bentArrow">
            <a:avLst>
              <a:gd name="adj1" fmla="val 17163"/>
              <a:gd name="adj2" fmla="val 21082"/>
              <a:gd name="adj3" fmla="val 27612"/>
              <a:gd name="adj4" fmla="val 22852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43570" y="2928934"/>
            <a:ext cx="300039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위내시경검사에서 조직검사 필요여부에 필요를 선택하였으면 개수와 결과를 입력해주어야 한다</a:t>
            </a:r>
            <a:r>
              <a:rPr lang="en-US" altLang="ko-KR" dirty="0" smtClean="0"/>
              <a:t>. 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조직검사결과 </a:t>
            </a:r>
            <a:endParaRPr lang="en-US" altLang="ko-KR" dirty="0" smtClean="0"/>
          </a:p>
          <a:p>
            <a:r>
              <a:rPr lang="en-US" altLang="ko-KR" dirty="0" smtClean="0"/>
              <a:t>Ex) </a:t>
            </a:r>
            <a:r>
              <a:rPr lang="ko-KR" altLang="en-US" dirty="0" err="1" smtClean="0"/>
              <a:t>과형성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용종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증식성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병변</a:t>
            </a:r>
            <a:endParaRPr lang="en-US" altLang="ko-KR" dirty="0" smtClean="0"/>
          </a:p>
          <a:p>
            <a:r>
              <a:rPr lang="en-US" altLang="ko-KR" dirty="0" smtClean="0"/>
              <a:t>      </a:t>
            </a:r>
            <a:r>
              <a:rPr lang="ko-KR" altLang="en-US" dirty="0" smtClean="0"/>
              <a:t>  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결과 입력 </a:t>
            </a:r>
            <a:r>
              <a:rPr lang="en-US" altLang="ko-KR" dirty="0" smtClean="0"/>
              <a:t>4-3(</a:t>
            </a:r>
            <a:r>
              <a:rPr lang="ko-KR" altLang="en-US" dirty="0" smtClean="0"/>
              <a:t>위암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4" name="내용 개체 틀 3" descr="a7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-1" y="1500174"/>
            <a:ext cx="5643571" cy="5357826"/>
          </a:xfrm>
        </p:spPr>
      </p:pic>
      <p:sp>
        <p:nvSpPr>
          <p:cNvPr id="6" name="TextBox 5"/>
          <p:cNvSpPr txBox="1"/>
          <p:nvPr/>
        </p:nvSpPr>
        <p:spPr>
          <a:xfrm>
            <a:off x="5929322" y="1714488"/>
            <a:ext cx="32146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마지막으로 소견을 넣으면 되는데</a:t>
            </a:r>
            <a:r>
              <a:rPr lang="en-US" altLang="ko-KR" dirty="0" smtClean="0"/>
              <a:t>,</a:t>
            </a:r>
          </a:p>
          <a:p>
            <a:r>
              <a:rPr lang="ko-KR" altLang="en-US" dirty="0" smtClean="0"/>
              <a:t>좌측에 소견코드에 </a:t>
            </a:r>
            <a:r>
              <a:rPr lang="en-US" altLang="ko-KR" dirty="0" smtClean="0"/>
              <a:t>‘1’</a:t>
            </a:r>
            <a:r>
              <a:rPr lang="ko-KR" altLang="en-US" dirty="0" smtClean="0"/>
              <a:t>을 쓰고 엔터를 </a:t>
            </a:r>
            <a:endParaRPr lang="en-US" altLang="ko-KR" dirty="0" smtClean="0"/>
          </a:p>
          <a:p>
            <a:r>
              <a:rPr lang="ko-KR" altLang="en-US" dirty="0" smtClean="0"/>
              <a:t>누르면 밑 화면이 나타나는데</a:t>
            </a:r>
            <a:endParaRPr lang="en-US" altLang="ko-KR" dirty="0" smtClean="0"/>
          </a:p>
          <a:p>
            <a:r>
              <a:rPr lang="ko-KR" altLang="en-US" dirty="0" smtClean="0"/>
              <a:t>해당되는 소견을 찾아 넣으면 된다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*</a:t>
            </a:r>
            <a:r>
              <a:rPr lang="ko-KR" altLang="en-US" dirty="0" smtClean="0"/>
              <a:t>하단의 판정일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의사는 입력해야 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7" name="그림 6" descr="a15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15008" y="3286124"/>
            <a:ext cx="3223829" cy="2837742"/>
          </a:xfrm>
          <a:prstGeom prst="rect">
            <a:avLst/>
          </a:prstGeom>
        </p:spPr>
      </p:pic>
      <p:sp>
        <p:nvSpPr>
          <p:cNvPr id="8" name="액자 7"/>
          <p:cNvSpPr/>
          <p:nvPr/>
        </p:nvSpPr>
        <p:spPr>
          <a:xfrm>
            <a:off x="0" y="5357826"/>
            <a:ext cx="428596" cy="785818"/>
          </a:xfrm>
          <a:prstGeom prst="fram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액자 4"/>
          <p:cNvSpPr/>
          <p:nvPr/>
        </p:nvSpPr>
        <p:spPr>
          <a:xfrm>
            <a:off x="0" y="5357826"/>
            <a:ext cx="5429256" cy="1071570"/>
          </a:xfrm>
          <a:prstGeom prst="frame">
            <a:avLst>
              <a:gd name="adj1" fmla="val 5186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결과 입력 </a:t>
            </a:r>
            <a:r>
              <a:rPr lang="en-US" altLang="ko-KR" dirty="0" smtClean="0"/>
              <a:t>5-2(</a:t>
            </a:r>
            <a:r>
              <a:rPr lang="ko-KR" altLang="en-US" dirty="0" smtClean="0"/>
              <a:t>대장암</a:t>
            </a:r>
            <a:r>
              <a:rPr lang="en-US" altLang="ko-KR" dirty="0" smtClean="0"/>
              <a:t>-</a:t>
            </a:r>
            <a:r>
              <a:rPr lang="ko-KR" altLang="en-US" dirty="0" err="1" smtClean="0"/>
              <a:t>분변잠혈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4" name="내용 개체 틀 3" descr="a16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1500174"/>
            <a:ext cx="5286380" cy="5357826"/>
          </a:xfrm>
        </p:spPr>
      </p:pic>
      <p:sp>
        <p:nvSpPr>
          <p:cNvPr id="5" name="액자 4"/>
          <p:cNvSpPr/>
          <p:nvPr/>
        </p:nvSpPr>
        <p:spPr>
          <a:xfrm>
            <a:off x="0" y="1643050"/>
            <a:ext cx="4714876" cy="642942"/>
          </a:xfrm>
          <a:prstGeom prst="frame">
            <a:avLst>
              <a:gd name="adj1" fmla="val 10468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왼쪽 화살표 설명선 5"/>
          <p:cNvSpPr/>
          <p:nvPr/>
        </p:nvSpPr>
        <p:spPr>
          <a:xfrm>
            <a:off x="5000628" y="1500174"/>
            <a:ext cx="3714776" cy="1285884"/>
          </a:xfrm>
          <a:prstGeom prst="leftArrowCallout">
            <a:avLst>
              <a:gd name="adj1" fmla="val 21556"/>
              <a:gd name="adj2" fmla="val 33127"/>
              <a:gd name="adj3" fmla="val 25000"/>
              <a:gd name="adj4" fmla="val 8431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715008" y="1500174"/>
            <a:ext cx="30003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대장암 </a:t>
            </a:r>
            <a:r>
              <a:rPr lang="en-US" altLang="ko-KR" dirty="0" smtClean="0"/>
              <a:t>–</a:t>
            </a:r>
            <a:r>
              <a:rPr lang="ko-KR" altLang="en-US" dirty="0" smtClean="0"/>
              <a:t>분변검사일 경우  우측 검사방법을 </a:t>
            </a:r>
            <a:endParaRPr lang="en-US" altLang="ko-KR" dirty="0" smtClean="0"/>
          </a:p>
          <a:p>
            <a:r>
              <a:rPr lang="ko-KR" altLang="en-US" dirty="0" smtClean="0"/>
              <a:t>먼저 입력하면 되는데 현 </a:t>
            </a:r>
            <a:r>
              <a:rPr lang="ko-KR" altLang="en-US" dirty="0" err="1" smtClean="0"/>
              <a:t>마더스병원에서는</a:t>
            </a:r>
            <a:r>
              <a:rPr lang="ko-KR" altLang="en-US" dirty="0" smtClean="0"/>
              <a:t> 정성으로만 검사하고 있으므로 결과에 맞게</a:t>
            </a:r>
            <a:endParaRPr lang="en-US" altLang="ko-KR" dirty="0" smtClean="0"/>
          </a:p>
          <a:p>
            <a:r>
              <a:rPr lang="ko-KR" altLang="en-US" dirty="0" smtClean="0"/>
              <a:t>입력하면 된다</a:t>
            </a:r>
            <a:r>
              <a:rPr lang="en-US" altLang="ko-KR" dirty="0" smtClean="0"/>
              <a:t>.</a:t>
            </a:r>
          </a:p>
        </p:txBody>
      </p:sp>
      <p:sp>
        <p:nvSpPr>
          <p:cNvPr id="8" name="액자 7"/>
          <p:cNvSpPr/>
          <p:nvPr/>
        </p:nvSpPr>
        <p:spPr>
          <a:xfrm>
            <a:off x="0" y="5429264"/>
            <a:ext cx="5286380" cy="1428736"/>
          </a:xfrm>
          <a:prstGeom prst="frame">
            <a:avLst>
              <a:gd name="adj1" fmla="val 5763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왼쪽 화살표 설명선 8"/>
          <p:cNvSpPr/>
          <p:nvPr/>
        </p:nvSpPr>
        <p:spPr>
          <a:xfrm>
            <a:off x="5357818" y="4929198"/>
            <a:ext cx="3429024" cy="1928802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7928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6215074" y="5032260"/>
            <a:ext cx="26432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위 검사방법에 입력이 끝났다면</a:t>
            </a:r>
            <a:endParaRPr lang="en-US" altLang="ko-KR" dirty="0" smtClean="0"/>
          </a:p>
          <a:p>
            <a:r>
              <a:rPr lang="ko-KR" altLang="en-US" dirty="0" smtClean="0"/>
              <a:t>종합판정을 바로 입력하고</a:t>
            </a:r>
            <a:r>
              <a:rPr lang="en-US" altLang="ko-KR" dirty="0" smtClean="0"/>
              <a:t>,</a:t>
            </a:r>
          </a:p>
          <a:p>
            <a:r>
              <a:rPr lang="ko-KR" altLang="en-US" dirty="0" smtClean="0"/>
              <a:t>앞에서 설명한 위암검사와 같이</a:t>
            </a:r>
            <a:endParaRPr lang="en-US" altLang="ko-KR" dirty="0" smtClean="0"/>
          </a:p>
          <a:p>
            <a:r>
              <a:rPr lang="ko-KR" altLang="en-US" dirty="0" smtClean="0"/>
              <a:t>소견코드에 </a:t>
            </a:r>
            <a:r>
              <a:rPr lang="en-US" altLang="ko-KR" dirty="0" smtClean="0"/>
              <a:t>‘1’</a:t>
            </a:r>
            <a:r>
              <a:rPr lang="ko-KR" altLang="en-US" dirty="0" smtClean="0"/>
              <a:t>를 적고 </a:t>
            </a:r>
            <a:r>
              <a:rPr lang="ko-KR" altLang="en-US" dirty="0" err="1" smtClean="0"/>
              <a:t>엔터를</a:t>
            </a:r>
            <a:r>
              <a:rPr lang="ko-KR" altLang="en-US" dirty="0" smtClean="0"/>
              <a:t> 눌러 소견을 선택하면 된다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*</a:t>
            </a:r>
            <a:r>
              <a:rPr lang="ko-KR" altLang="en-US" dirty="0" smtClean="0"/>
              <a:t>판정일 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의사는 꼭 입력해야 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결과 입력 </a:t>
            </a:r>
            <a:r>
              <a:rPr lang="en-US" altLang="ko-KR" dirty="0" smtClean="0"/>
              <a:t>5-1(</a:t>
            </a:r>
            <a:r>
              <a:rPr lang="ko-KR" altLang="en-US" dirty="0" smtClean="0"/>
              <a:t>대장암</a:t>
            </a:r>
            <a:r>
              <a:rPr lang="en-US" altLang="ko-KR" dirty="0" smtClean="0"/>
              <a:t>-</a:t>
            </a:r>
            <a:r>
              <a:rPr lang="ko-KR" altLang="en-US" dirty="0" smtClean="0"/>
              <a:t>내시경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4" name="내용 개체 틀 3" descr="a16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1500174"/>
            <a:ext cx="5214942" cy="5357826"/>
          </a:xfrm>
        </p:spPr>
      </p:pic>
      <p:sp>
        <p:nvSpPr>
          <p:cNvPr id="5" name="액자 4"/>
          <p:cNvSpPr/>
          <p:nvPr/>
        </p:nvSpPr>
        <p:spPr>
          <a:xfrm>
            <a:off x="2500298" y="2071678"/>
            <a:ext cx="2714644" cy="3071834"/>
          </a:xfrm>
          <a:prstGeom prst="frame">
            <a:avLst>
              <a:gd name="adj1" fmla="val 1272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왼쪽 화살표 설명선 5"/>
          <p:cNvSpPr/>
          <p:nvPr/>
        </p:nvSpPr>
        <p:spPr>
          <a:xfrm>
            <a:off x="5286380" y="2143116"/>
            <a:ext cx="3500462" cy="2928958"/>
          </a:xfrm>
          <a:prstGeom prst="leftArrowCallout">
            <a:avLst>
              <a:gd name="adj1" fmla="val 25000"/>
              <a:gd name="adj2" fmla="val 25000"/>
              <a:gd name="adj3" fmla="val 17864"/>
              <a:gd name="adj4" fmla="val 7579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072198" y="2214554"/>
            <a:ext cx="27860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분변 </a:t>
            </a:r>
            <a:r>
              <a:rPr lang="ko-KR" altLang="en-US" dirty="0" err="1" smtClean="0"/>
              <a:t>잠혈</a:t>
            </a:r>
            <a:r>
              <a:rPr lang="ko-KR" altLang="en-US" dirty="0" smtClean="0"/>
              <a:t> 검사에서 양성이 나타나면</a:t>
            </a:r>
            <a:endParaRPr lang="en-US" altLang="ko-KR" dirty="0" smtClean="0"/>
          </a:p>
          <a:p>
            <a:r>
              <a:rPr lang="en-US" altLang="ko-KR" dirty="0" smtClean="0"/>
              <a:t>2</a:t>
            </a:r>
            <a:r>
              <a:rPr lang="ko-KR" altLang="en-US" dirty="0" smtClean="0"/>
              <a:t>차로 대장내시경이 가능하다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대장내시경한 것도 차트와 똑같이</a:t>
            </a:r>
            <a:endParaRPr lang="en-US" altLang="ko-KR" dirty="0" smtClean="0"/>
          </a:p>
          <a:p>
            <a:r>
              <a:rPr lang="ko-KR" altLang="en-US" dirty="0" smtClean="0"/>
              <a:t>입력하면 된다</a:t>
            </a:r>
            <a:r>
              <a:rPr lang="en-US" altLang="ko-KR" dirty="0" smtClean="0"/>
              <a:t>. 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*</a:t>
            </a:r>
            <a:r>
              <a:rPr lang="ko-KR" altLang="en-US" dirty="0" smtClean="0"/>
              <a:t>장기 위치를  정확히 입력해야 하며</a:t>
            </a:r>
            <a:r>
              <a:rPr lang="en-US" altLang="ko-KR" dirty="0" smtClean="0"/>
              <a:t>,</a:t>
            </a:r>
          </a:p>
          <a:p>
            <a:r>
              <a:rPr lang="en-US" altLang="ko-KR" dirty="0" smtClean="0"/>
              <a:t>  </a:t>
            </a:r>
            <a:r>
              <a:rPr lang="ko-KR" altLang="en-US" dirty="0" err="1" smtClean="0"/>
              <a:t>용종</a:t>
            </a:r>
            <a:r>
              <a:rPr lang="ko-KR" altLang="en-US" dirty="0" smtClean="0"/>
              <a:t> 제거를 했다면 크기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조직검사필요 여부를 입력을 꼭 해야 한다</a:t>
            </a:r>
            <a:r>
              <a:rPr lang="en-US" altLang="ko-KR" dirty="0" smtClean="0"/>
              <a:t>.</a:t>
            </a:r>
          </a:p>
        </p:txBody>
      </p:sp>
      <p:sp>
        <p:nvSpPr>
          <p:cNvPr id="8" name="막힌 원호 7"/>
          <p:cNvSpPr/>
          <p:nvPr/>
        </p:nvSpPr>
        <p:spPr>
          <a:xfrm rot="5400000">
            <a:off x="4321967" y="5607859"/>
            <a:ext cx="1285884" cy="642942"/>
          </a:xfrm>
          <a:prstGeom prst="blockArc">
            <a:avLst>
              <a:gd name="adj1" fmla="val 10800000"/>
              <a:gd name="adj2" fmla="val 655561"/>
              <a:gd name="adj3" fmla="val 11778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57818" y="5715016"/>
            <a:ext cx="3786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 </a:t>
            </a:r>
            <a:r>
              <a:rPr lang="ko-KR" altLang="en-US" dirty="0" smtClean="0"/>
              <a:t>역시 종합판정</a:t>
            </a:r>
            <a:r>
              <a:rPr lang="en-US" altLang="ko-KR" dirty="0" smtClean="0"/>
              <a:t>, </a:t>
            </a:r>
            <a:r>
              <a:rPr lang="ko-KR" altLang="en-US" dirty="0" smtClean="0"/>
              <a:t>소견</a:t>
            </a:r>
            <a:r>
              <a:rPr lang="en-US" altLang="ko-KR" dirty="0" smtClean="0"/>
              <a:t>, </a:t>
            </a:r>
            <a:r>
              <a:rPr lang="ko-KR" altLang="en-US" dirty="0" smtClean="0"/>
              <a:t>판정일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의사를 입력해 주면 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결과 입력 </a:t>
            </a:r>
            <a:r>
              <a:rPr lang="en-US" altLang="ko-KR" dirty="0" smtClean="0"/>
              <a:t>6-1</a:t>
            </a:r>
            <a:r>
              <a:rPr lang="ko-KR" altLang="en-US" dirty="0" smtClean="0"/>
              <a:t>간암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간초음파</a:t>
            </a:r>
            <a:r>
              <a:rPr lang="en-US" altLang="ko-KR" dirty="0" smtClean="0"/>
              <a:t>+AFP)</a:t>
            </a:r>
            <a:endParaRPr lang="ko-KR" altLang="en-US" dirty="0"/>
          </a:p>
        </p:txBody>
      </p:sp>
      <p:pic>
        <p:nvPicPr>
          <p:cNvPr id="4" name="내용 개체 틀 3" descr="a17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1500174"/>
            <a:ext cx="5072066" cy="5357826"/>
          </a:xfrm>
        </p:spPr>
      </p:pic>
      <p:sp>
        <p:nvSpPr>
          <p:cNvPr id="5" name="TextBox 4"/>
          <p:cNvSpPr txBox="1"/>
          <p:nvPr/>
        </p:nvSpPr>
        <p:spPr>
          <a:xfrm>
            <a:off x="5214942" y="1857364"/>
            <a:ext cx="35719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간암검사에는 간암 검사와 </a:t>
            </a:r>
            <a:endParaRPr lang="en-US" altLang="ko-KR" dirty="0" smtClean="0"/>
          </a:p>
          <a:p>
            <a:r>
              <a:rPr lang="ko-KR" altLang="en-US" dirty="0" smtClean="0"/>
              <a:t>간염 검사 후 간암검사 실시 두 가지로 나뉜다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간암검사의 경우 </a:t>
            </a:r>
            <a:r>
              <a:rPr lang="ko-KR" altLang="en-US" dirty="0"/>
              <a:t> </a:t>
            </a:r>
            <a:r>
              <a:rPr lang="ko-KR" altLang="en-US" dirty="0" smtClean="0"/>
              <a:t>간 초음파와 </a:t>
            </a:r>
            <a:r>
              <a:rPr lang="en-US" altLang="ko-KR" dirty="0" smtClean="0"/>
              <a:t>AFP</a:t>
            </a:r>
          </a:p>
          <a:p>
            <a:r>
              <a:rPr lang="en-US" altLang="ko-KR" dirty="0" smtClean="0"/>
              <a:t>(</a:t>
            </a:r>
            <a:r>
              <a:rPr lang="ko-KR" altLang="en-US" dirty="0" smtClean="0"/>
              <a:t>혈청알파태아단백</a:t>
            </a:r>
            <a:r>
              <a:rPr lang="en-US" altLang="ko-KR" dirty="0" smtClean="0"/>
              <a:t>)</a:t>
            </a:r>
            <a:r>
              <a:rPr lang="ko-KR" altLang="en-US" dirty="0" smtClean="0"/>
              <a:t>검사를 시행하게 되는데</a:t>
            </a:r>
            <a:r>
              <a:rPr lang="en-US" altLang="ko-KR" dirty="0" smtClean="0"/>
              <a:t>,</a:t>
            </a:r>
          </a:p>
          <a:p>
            <a:r>
              <a:rPr lang="ko-KR" altLang="en-US" dirty="0" smtClean="0"/>
              <a:t>초음파 결과는 과장님이 판독하신 데로 입력을 하되</a:t>
            </a:r>
            <a:r>
              <a:rPr lang="en-US" altLang="ko-KR" dirty="0" smtClean="0"/>
              <a:t>,</a:t>
            </a:r>
          </a:p>
          <a:p>
            <a:r>
              <a:rPr lang="ko-KR" altLang="en-US" dirty="0" smtClean="0"/>
              <a:t>나와 있는 결과는 최대한 다 입력해주는 것이 좋다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간 외에 다른 장기에 관해서도 판독을 내주셨다면</a:t>
            </a:r>
            <a:r>
              <a:rPr lang="en-US" altLang="ko-KR" dirty="0" smtClean="0"/>
              <a:t>, </a:t>
            </a:r>
          </a:p>
          <a:p>
            <a:r>
              <a:rPr lang="en-US" altLang="ko-KR" dirty="0" smtClean="0"/>
              <a:t>7</a:t>
            </a:r>
            <a:r>
              <a:rPr lang="ko-KR" altLang="en-US" dirty="0" smtClean="0"/>
              <a:t>번 </a:t>
            </a:r>
            <a:r>
              <a:rPr lang="ko-KR" altLang="en-US" dirty="0" err="1" smtClean="0"/>
              <a:t>기타란에</a:t>
            </a:r>
            <a:r>
              <a:rPr lang="ko-KR" altLang="en-US" dirty="0" smtClean="0"/>
              <a:t> 입력하면 된다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혈청태아단백은 우리병원에서는</a:t>
            </a:r>
            <a:endParaRPr lang="en-US" altLang="ko-KR" dirty="0" smtClean="0"/>
          </a:p>
          <a:p>
            <a:r>
              <a:rPr lang="ko-KR" altLang="en-US" dirty="0" smtClean="0"/>
              <a:t> </a:t>
            </a:r>
            <a:r>
              <a:rPr lang="ko-KR" altLang="en-US" dirty="0" err="1" smtClean="0"/>
              <a:t>정량법만</a:t>
            </a:r>
            <a:r>
              <a:rPr lang="ko-KR" altLang="en-US" dirty="0" smtClean="0"/>
              <a:t> 사용하고</a:t>
            </a:r>
            <a:r>
              <a:rPr lang="en-US" altLang="ko-KR" dirty="0" smtClean="0"/>
              <a:t> </a:t>
            </a:r>
            <a:r>
              <a:rPr lang="ko-KR" altLang="en-US" dirty="0" smtClean="0"/>
              <a:t>있고</a:t>
            </a:r>
            <a:r>
              <a:rPr lang="en-US" altLang="ko-KR" dirty="0" smtClean="0"/>
              <a:t>, </a:t>
            </a:r>
          </a:p>
          <a:p>
            <a:r>
              <a:rPr lang="ko-KR" altLang="en-US" dirty="0" smtClean="0"/>
              <a:t>검사결과는 </a:t>
            </a:r>
            <a:r>
              <a:rPr lang="en-US" altLang="ko-KR" dirty="0" smtClean="0"/>
              <a:t>7</a:t>
            </a:r>
            <a:r>
              <a:rPr lang="ko-KR" altLang="en-US" dirty="0" smtClean="0"/>
              <a:t>이하가 정상이다</a:t>
            </a:r>
            <a:r>
              <a:rPr lang="en-US" altLang="ko-KR" dirty="0" smtClean="0"/>
              <a:t>.</a:t>
            </a:r>
          </a:p>
        </p:txBody>
      </p:sp>
      <p:sp>
        <p:nvSpPr>
          <p:cNvPr id="6" name="액자 5"/>
          <p:cNvSpPr/>
          <p:nvPr/>
        </p:nvSpPr>
        <p:spPr>
          <a:xfrm>
            <a:off x="0" y="2857496"/>
            <a:ext cx="5000628" cy="2071702"/>
          </a:xfrm>
          <a:prstGeom prst="frame">
            <a:avLst>
              <a:gd name="adj1" fmla="val 4994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43504" y="5500702"/>
            <a:ext cx="3714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검사 결과를 입력을 다했다면 종합판정을 내린 후</a:t>
            </a:r>
            <a:endParaRPr lang="en-US" altLang="ko-KR" dirty="0" smtClean="0"/>
          </a:p>
          <a:p>
            <a:r>
              <a:rPr lang="ko-KR" altLang="en-US" dirty="0" smtClean="0"/>
              <a:t>소견</a:t>
            </a:r>
            <a:r>
              <a:rPr lang="en-US" altLang="ko-KR" dirty="0" smtClean="0"/>
              <a:t>, </a:t>
            </a:r>
            <a:r>
              <a:rPr lang="ko-KR" altLang="en-US" dirty="0" smtClean="0"/>
              <a:t>판정일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의사를 입력하고 저장하면 된다</a:t>
            </a:r>
            <a:r>
              <a:rPr lang="en-US" altLang="ko-KR" dirty="0" smtClean="0"/>
              <a:t>.</a:t>
            </a:r>
          </a:p>
          <a:p>
            <a:endParaRPr lang="ko-KR" altLang="en-US" dirty="0"/>
          </a:p>
        </p:txBody>
      </p:sp>
      <p:sp>
        <p:nvSpPr>
          <p:cNvPr id="8" name="액자 7"/>
          <p:cNvSpPr/>
          <p:nvPr/>
        </p:nvSpPr>
        <p:spPr>
          <a:xfrm>
            <a:off x="0" y="5072074"/>
            <a:ext cx="5000628" cy="1428760"/>
          </a:xfrm>
          <a:prstGeom prst="frame">
            <a:avLst>
              <a:gd name="adj1" fmla="val 5020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72066" y="6357958"/>
            <a:ext cx="4286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u="sng" dirty="0" smtClean="0"/>
              <a:t>* </a:t>
            </a:r>
            <a:r>
              <a:rPr lang="ko-KR" altLang="en-US" u="sng" dirty="0" smtClean="0"/>
              <a:t>간암검사는 꼭 초음파와 </a:t>
            </a:r>
            <a:r>
              <a:rPr lang="en-US" altLang="ko-KR" u="sng" dirty="0" smtClean="0"/>
              <a:t>AFP</a:t>
            </a:r>
            <a:r>
              <a:rPr lang="ko-KR" altLang="en-US" u="sng" dirty="0" smtClean="0"/>
              <a:t>를  </a:t>
            </a:r>
            <a:r>
              <a:rPr lang="ko-KR" altLang="en-US" u="sng" dirty="0" err="1" smtClean="0"/>
              <a:t>두가지</a:t>
            </a:r>
            <a:r>
              <a:rPr lang="ko-KR" altLang="en-US" u="sng" dirty="0" smtClean="0"/>
              <a:t> 다 실시해야 한다</a:t>
            </a:r>
            <a:r>
              <a:rPr lang="en-US" altLang="ko-KR" u="sng" dirty="0" smtClean="0"/>
              <a:t>.</a:t>
            </a:r>
            <a:endParaRPr lang="ko-KR" altLang="en-US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결과 입력 </a:t>
            </a:r>
            <a:r>
              <a:rPr lang="en-US" altLang="ko-KR" dirty="0" smtClean="0"/>
              <a:t>6-2</a:t>
            </a:r>
            <a:r>
              <a:rPr lang="ko-KR" altLang="en-US" dirty="0" smtClean="0"/>
              <a:t>간암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간염후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5" name="내용 개체 틀 4" descr="a18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214282" y="1928802"/>
            <a:ext cx="5991225" cy="914400"/>
          </a:xfrm>
        </p:spPr>
      </p:pic>
      <p:sp>
        <p:nvSpPr>
          <p:cNvPr id="6" name="TextBox 5"/>
          <p:cNvSpPr txBox="1"/>
          <p:nvPr/>
        </p:nvSpPr>
        <p:spPr>
          <a:xfrm>
            <a:off x="428596" y="3071810"/>
            <a:ext cx="350046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간염 후 검사는 </a:t>
            </a:r>
            <a:r>
              <a:rPr lang="ko-KR" altLang="en-US" dirty="0" err="1" smtClean="0"/>
              <a:t>윗</a:t>
            </a:r>
            <a:r>
              <a:rPr lang="ko-KR" altLang="en-US" dirty="0" smtClean="0"/>
              <a:t> 부분과 종합판정만 내리면 된다</a:t>
            </a:r>
            <a:r>
              <a:rPr lang="en-US" altLang="ko-KR" dirty="0" smtClean="0"/>
              <a:t>.</a:t>
            </a:r>
          </a:p>
          <a:p>
            <a:pPr marL="342900" indent="-342900">
              <a:buAutoNum type="arabicPeriod"/>
            </a:pPr>
            <a:r>
              <a:rPr lang="en-US" altLang="ko-KR" dirty="0" smtClean="0"/>
              <a:t>1</a:t>
            </a:r>
            <a:r>
              <a:rPr lang="ko-KR" altLang="en-US" dirty="0" err="1" smtClean="0"/>
              <a:t>차검사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: B</a:t>
            </a:r>
            <a:r>
              <a:rPr lang="ko-KR" altLang="en-US" dirty="0" smtClean="0"/>
              <a:t>형 간염검사 </a:t>
            </a:r>
            <a:r>
              <a:rPr lang="en-US" altLang="ko-KR" dirty="0" smtClean="0"/>
              <a:t>+ ALT</a:t>
            </a:r>
          </a:p>
          <a:p>
            <a:pPr marL="342900" indent="-342900">
              <a:buFont typeface="+mj-ea"/>
              <a:buAutoNum type="circleNumDbPlain"/>
            </a:pPr>
            <a:r>
              <a:rPr lang="en-US" altLang="ko-KR" dirty="0" smtClean="0"/>
              <a:t>ALT : </a:t>
            </a:r>
            <a:r>
              <a:rPr lang="ko-KR" altLang="en-US" dirty="0" smtClean="0"/>
              <a:t>숫자로 기입</a:t>
            </a:r>
            <a:endParaRPr lang="en-US" altLang="ko-KR" dirty="0" smtClean="0"/>
          </a:p>
          <a:p>
            <a:pPr marL="342900" indent="-342900">
              <a:buFont typeface="+mj-ea"/>
              <a:buAutoNum type="circleNumDbPlain"/>
            </a:pPr>
            <a:r>
              <a:rPr lang="en-US" altLang="ko-KR" dirty="0" smtClean="0"/>
              <a:t>B</a:t>
            </a:r>
            <a:r>
              <a:rPr lang="ko-KR" altLang="en-US" dirty="0" smtClean="0"/>
              <a:t>형 간염검사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정밀로 구분 체크</a:t>
            </a:r>
            <a:endParaRPr lang="en-US" altLang="ko-KR" dirty="0" smtClean="0"/>
          </a:p>
          <a:p>
            <a:pPr marL="342900" indent="-342900"/>
            <a:r>
              <a:rPr lang="en-US" altLang="ko-KR" dirty="0" smtClean="0"/>
              <a:t>2.  2</a:t>
            </a:r>
            <a:r>
              <a:rPr lang="ko-KR" altLang="en-US" dirty="0" err="1" smtClean="0"/>
              <a:t>차검사</a:t>
            </a:r>
            <a:r>
              <a:rPr lang="en-US" altLang="ko-KR" dirty="0" smtClean="0"/>
              <a:t> : C</a:t>
            </a:r>
            <a:r>
              <a:rPr lang="ko-KR" altLang="en-US" dirty="0" err="1" smtClean="0"/>
              <a:t>형간염검사</a:t>
            </a:r>
            <a:endParaRPr lang="en-US" altLang="ko-KR" dirty="0" smtClean="0"/>
          </a:p>
          <a:p>
            <a:pPr marL="342900" indent="-342900">
              <a:buFont typeface="+mj-ea"/>
              <a:buAutoNum type="circleNumDbPlain"/>
            </a:pPr>
            <a:r>
              <a:rPr lang="en-US" altLang="ko-KR" dirty="0" smtClean="0"/>
              <a:t>ALT </a:t>
            </a:r>
            <a:r>
              <a:rPr lang="ko-KR" altLang="en-US" dirty="0" smtClean="0"/>
              <a:t>검사 결과 </a:t>
            </a:r>
            <a:r>
              <a:rPr lang="en-US" altLang="ko-KR" dirty="0" smtClean="0"/>
              <a:t>: 46 </a:t>
            </a:r>
            <a:r>
              <a:rPr lang="ko-KR" altLang="en-US" dirty="0" smtClean="0"/>
              <a:t>이상일 경우에 실시</a:t>
            </a:r>
            <a:endParaRPr lang="en-US" altLang="ko-KR" dirty="0" smtClean="0"/>
          </a:p>
          <a:p>
            <a:pPr marL="342900" indent="-342900">
              <a:buFont typeface="+mj-ea"/>
              <a:buAutoNum type="circleNumDbPlain"/>
            </a:pPr>
            <a:r>
              <a:rPr lang="en-US" altLang="ko-KR" dirty="0" smtClean="0"/>
              <a:t>B</a:t>
            </a:r>
            <a:r>
              <a:rPr lang="ko-KR" altLang="en-US" dirty="0" smtClean="0"/>
              <a:t>형 간염검사 양성인 경우에는 실시할 수 없고</a:t>
            </a:r>
            <a:r>
              <a:rPr lang="en-US" altLang="ko-KR" dirty="0" smtClean="0"/>
              <a:t>, </a:t>
            </a:r>
          </a:p>
          <a:p>
            <a:pPr marL="342900" indent="-342900"/>
            <a:r>
              <a:rPr lang="en-US" altLang="ko-KR" dirty="0" smtClean="0"/>
              <a:t>     </a:t>
            </a:r>
            <a:r>
              <a:rPr lang="ko-KR" altLang="en-US" dirty="0" smtClean="0"/>
              <a:t>즉시 간암검진 대상자로 포함시켜야 한다</a:t>
            </a:r>
            <a:r>
              <a:rPr lang="en-US" altLang="ko-KR" dirty="0" smtClean="0"/>
              <a:t>.</a:t>
            </a:r>
          </a:p>
          <a:p>
            <a:pPr marL="342900" indent="-342900"/>
            <a:endParaRPr lang="en-US" altLang="ko-KR" dirty="0" smtClean="0"/>
          </a:p>
          <a:p>
            <a:pPr marL="342900" indent="-342900"/>
            <a:r>
              <a:rPr lang="en-US" altLang="ko-KR" dirty="0" smtClean="0"/>
              <a:t>           </a:t>
            </a:r>
            <a:endParaRPr lang="ko-KR" altLang="en-US" dirty="0"/>
          </a:p>
        </p:txBody>
      </p:sp>
      <p:sp>
        <p:nvSpPr>
          <p:cNvPr id="7" name="순서도: 처리 6"/>
          <p:cNvSpPr/>
          <p:nvPr/>
        </p:nvSpPr>
        <p:spPr>
          <a:xfrm>
            <a:off x="4714876" y="3286124"/>
            <a:ext cx="4286280" cy="3429024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000596" y="3500438"/>
            <a:ext cx="4143404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B</a:t>
            </a:r>
            <a:r>
              <a:rPr lang="ko-KR" altLang="en-US" dirty="0" smtClean="0"/>
              <a:t>형 간염검사 </a:t>
            </a:r>
            <a:r>
              <a:rPr lang="en-US" altLang="ko-KR" dirty="0" smtClean="0"/>
              <a:t>+ ALT</a:t>
            </a:r>
          </a:p>
          <a:p>
            <a:pPr marL="342900" indent="-342900"/>
            <a:r>
              <a:rPr lang="en-US" altLang="ko-KR" dirty="0" smtClean="0"/>
              <a:t>1.</a:t>
            </a:r>
            <a:r>
              <a:rPr lang="ko-KR" altLang="en-US" dirty="0" smtClean="0"/>
              <a:t>이상 없음</a:t>
            </a:r>
            <a:endParaRPr lang="en-US" altLang="ko-KR" dirty="0" smtClean="0"/>
          </a:p>
          <a:p>
            <a:pPr marL="342900" indent="-342900">
              <a:buFont typeface="+mj-ea"/>
              <a:buAutoNum type="circleNumDbPlain"/>
            </a:pPr>
            <a:r>
              <a:rPr lang="en-US" altLang="ko-KR" sz="1600" dirty="0" smtClean="0"/>
              <a:t>B</a:t>
            </a:r>
            <a:r>
              <a:rPr lang="ko-KR" altLang="en-US" sz="1600" dirty="0" smtClean="0"/>
              <a:t>형 간염</a:t>
            </a:r>
            <a:r>
              <a:rPr lang="en-US" altLang="ko-KR" sz="1600" dirty="0" smtClean="0"/>
              <a:t>(-),ALT</a:t>
            </a:r>
            <a:r>
              <a:rPr lang="ko-KR" altLang="en-US" sz="1600" dirty="0" smtClean="0"/>
              <a:t>정상</a:t>
            </a:r>
            <a:endParaRPr lang="en-US" altLang="ko-KR" sz="1600" dirty="0" smtClean="0"/>
          </a:p>
          <a:p>
            <a:pPr marL="342900" indent="-342900"/>
            <a:r>
              <a:rPr lang="en-US" altLang="ko-KR" dirty="0" smtClean="0"/>
              <a:t>2. </a:t>
            </a:r>
            <a:r>
              <a:rPr lang="ko-KR" altLang="en-US" dirty="0" smtClean="0"/>
              <a:t>이상 있음</a:t>
            </a:r>
            <a:endParaRPr lang="en-US" altLang="ko-KR" dirty="0" smtClean="0"/>
          </a:p>
          <a:p>
            <a:pPr marL="342900" indent="-342900">
              <a:buFont typeface="+mj-ea"/>
              <a:buAutoNum type="circleNumDbPlain"/>
            </a:pPr>
            <a:r>
              <a:rPr lang="en-US" altLang="ko-KR" sz="1600" dirty="0" smtClean="0"/>
              <a:t> B</a:t>
            </a:r>
            <a:r>
              <a:rPr lang="ko-KR" altLang="en-US" sz="1600" dirty="0" smtClean="0"/>
              <a:t>형 간염</a:t>
            </a:r>
            <a:r>
              <a:rPr lang="en-US" altLang="ko-KR" sz="1600" dirty="0" smtClean="0"/>
              <a:t>(-),ALT</a:t>
            </a:r>
            <a:r>
              <a:rPr lang="ko-KR" altLang="en-US" sz="1600" dirty="0" smtClean="0"/>
              <a:t>만 상승</a:t>
            </a:r>
            <a:r>
              <a:rPr lang="en-US" altLang="ko-KR" sz="1600" dirty="0" smtClean="0"/>
              <a:t>(46</a:t>
            </a:r>
            <a:r>
              <a:rPr lang="ko-KR" altLang="en-US" sz="1600" dirty="0" smtClean="0"/>
              <a:t>이상</a:t>
            </a:r>
            <a:r>
              <a:rPr lang="en-US" altLang="ko-KR" sz="1600" dirty="0" smtClean="0"/>
              <a:t>)</a:t>
            </a:r>
          </a:p>
          <a:p>
            <a:pPr marL="342900" indent="-342900">
              <a:buFont typeface="+mj-ea"/>
              <a:buAutoNum type="circleNumDbPlain"/>
            </a:pPr>
            <a:r>
              <a:rPr lang="en-US" altLang="ko-KR" sz="1600" dirty="0" smtClean="0"/>
              <a:t> C</a:t>
            </a:r>
            <a:r>
              <a:rPr lang="ko-KR" altLang="en-US" sz="1600" dirty="0" smtClean="0"/>
              <a:t>형 간염 검사 필요</a:t>
            </a:r>
            <a:endParaRPr lang="en-US" altLang="ko-KR" sz="1600" dirty="0" smtClean="0"/>
          </a:p>
          <a:p>
            <a:pPr marL="342900" indent="-342900"/>
            <a:r>
              <a:rPr lang="en-US" altLang="ko-KR" dirty="0" smtClean="0"/>
              <a:t>3. </a:t>
            </a:r>
            <a:r>
              <a:rPr lang="ko-KR" altLang="en-US" dirty="0" smtClean="0"/>
              <a:t>간암 </a:t>
            </a:r>
            <a:r>
              <a:rPr lang="ko-KR" altLang="en-US" dirty="0" err="1" smtClean="0"/>
              <a:t>고위험</a:t>
            </a:r>
            <a:r>
              <a:rPr lang="ko-KR" altLang="en-US" dirty="0" smtClean="0"/>
              <a:t> 간장질환</a:t>
            </a:r>
            <a:endParaRPr lang="en-US" altLang="ko-KR" dirty="0" smtClean="0"/>
          </a:p>
          <a:p>
            <a:pPr marL="342900" indent="-342900">
              <a:buFont typeface="+mj-ea"/>
              <a:buAutoNum type="circleNumDbPlain"/>
            </a:pPr>
            <a:r>
              <a:rPr lang="en-US" altLang="ko-KR" sz="1600" dirty="0" smtClean="0"/>
              <a:t>ALT </a:t>
            </a:r>
            <a:r>
              <a:rPr lang="ko-KR" altLang="en-US" sz="1600" dirty="0" smtClean="0"/>
              <a:t>관계없이 </a:t>
            </a:r>
            <a:r>
              <a:rPr lang="en-US" altLang="ko-KR" sz="1600" dirty="0" smtClean="0"/>
              <a:t>B</a:t>
            </a:r>
            <a:r>
              <a:rPr lang="ko-KR" altLang="en-US" sz="1600" dirty="0" smtClean="0"/>
              <a:t>형 간염</a:t>
            </a:r>
            <a:r>
              <a:rPr lang="en-US" altLang="ko-KR" sz="1600" dirty="0" smtClean="0"/>
              <a:t>(+)</a:t>
            </a:r>
          </a:p>
          <a:p>
            <a:pPr marL="342900" indent="-342900"/>
            <a:r>
              <a:rPr lang="en-US" altLang="ko-KR" dirty="0" smtClean="0"/>
              <a:t>4. C</a:t>
            </a:r>
            <a:r>
              <a:rPr lang="ko-KR" altLang="en-US" dirty="0" smtClean="0"/>
              <a:t>형 간염검사</a:t>
            </a:r>
            <a:endParaRPr lang="en-US" altLang="ko-KR" dirty="0" smtClean="0"/>
          </a:p>
          <a:p>
            <a:pPr marL="342900" indent="-342900">
              <a:buFont typeface="+mj-ea"/>
              <a:buAutoNum type="circleNumDbPlain"/>
            </a:pPr>
            <a:r>
              <a:rPr lang="ko-KR" altLang="en-US" sz="1600" dirty="0" smtClean="0"/>
              <a:t>간암 </a:t>
            </a:r>
            <a:r>
              <a:rPr lang="ko-KR" altLang="en-US" sz="1600" dirty="0" err="1" smtClean="0"/>
              <a:t>고위험</a:t>
            </a:r>
            <a:r>
              <a:rPr lang="ko-KR" altLang="en-US" sz="1600" dirty="0" smtClean="0"/>
              <a:t> 간장질환 </a:t>
            </a:r>
            <a:endParaRPr lang="en-US" altLang="ko-KR" sz="1600" dirty="0" smtClean="0"/>
          </a:p>
          <a:p>
            <a:pPr marL="342900" indent="-342900"/>
            <a:r>
              <a:rPr lang="en-US" altLang="ko-KR" sz="1600" dirty="0" smtClean="0"/>
              <a:t>      (C</a:t>
            </a:r>
            <a:r>
              <a:rPr lang="ko-KR" altLang="en-US" sz="1600" dirty="0" smtClean="0"/>
              <a:t>형 간염검사 </a:t>
            </a:r>
            <a:r>
              <a:rPr lang="en-US" altLang="ko-KR" sz="1600" dirty="0" smtClean="0"/>
              <a:t>(+) )</a:t>
            </a:r>
          </a:p>
          <a:p>
            <a:pPr marL="342900" indent="-342900"/>
            <a:endParaRPr lang="en-US" altLang="ko-KR" dirty="0" smtClean="0"/>
          </a:p>
          <a:p>
            <a:pPr marL="342900" indent="-342900"/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9" name="액자 8"/>
          <p:cNvSpPr/>
          <p:nvPr/>
        </p:nvSpPr>
        <p:spPr>
          <a:xfrm>
            <a:off x="142844" y="1857364"/>
            <a:ext cx="6143668" cy="1071570"/>
          </a:xfrm>
          <a:prstGeom prst="frame">
            <a:avLst>
              <a:gd name="adj1" fmla="val 7929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결과 입력 </a:t>
            </a:r>
            <a:r>
              <a:rPr lang="en-US" altLang="ko-KR" dirty="0" smtClean="0"/>
              <a:t>7-1</a:t>
            </a:r>
            <a:r>
              <a:rPr lang="ko-KR" altLang="en-US" dirty="0" smtClean="0"/>
              <a:t>유방암</a:t>
            </a:r>
            <a:endParaRPr lang="ko-KR" altLang="en-US" dirty="0"/>
          </a:p>
        </p:txBody>
      </p:sp>
      <p:pic>
        <p:nvPicPr>
          <p:cNvPr id="4" name="내용 개체 틀 3" descr="a19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1500174"/>
            <a:ext cx="4596667" cy="5357826"/>
          </a:xfrm>
        </p:spPr>
      </p:pic>
      <p:sp>
        <p:nvSpPr>
          <p:cNvPr id="5" name="액자 4"/>
          <p:cNvSpPr/>
          <p:nvPr/>
        </p:nvSpPr>
        <p:spPr>
          <a:xfrm>
            <a:off x="0" y="1643050"/>
            <a:ext cx="4572000" cy="4857784"/>
          </a:xfrm>
          <a:prstGeom prst="frame">
            <a:avLst>
              <a:gd name="adj1" fmla="val 1357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43438" y="1643050"/>
            <a:ext cx="414340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청구종목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상담료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장소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일자를 입력하고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유방단순촬영  하단에</a:t>
            </a:r>
            <a:endParaRPr lang="en-US" altLang="ko-KR" dirty="0" smtClean="0"/>
          </a:p>
          <a:p>
            <a:r>
              <a:rPr lang="ko-KR" altLang="en-US" dirty="0" smtClean="0"/>
              <a:t>차트와 똑같이 결과 입력을 하면 된다</a:t>
            </a:r>
            <a:r>
              <a:rPr lang="en-US" altLang="ko-KR" dirty="0" smtClean="0"/>
              <a:t>. </a:t>
            </a:r>
          </a:p>
          <a:p>
            <a:endParaRPr lang="en-US" altLang="ko-KR" dirty="0" smtClean="0"/>
          </a:p>
          <a:p>
            <a:r>
              <a:rPr lang="ko-KR" altLang="en-US" dirty="0" err="1" smtClean="0"/>
              <a:t>유방실질분포량</a:t>
            </a:r>
            <a:endParaRPr lang="en-US" altLang="ko-KR" dirty="0" smtClean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 smtClean="0"/>
              <a:t>지방형 유방 </a:t>
            </a:r>
            <a:r>
              <a:rPr lang="en-US" altLang="ko-KR" dirty="0" smtClean="0"/>
              <a:t>: 1~2</a:t>
            </a:r>
            <a:r>
              <a:rPr lang="ko-KR" altLang="en-US" dirty="0" smtClean="0"/>
              <a:t>번</a:t>
            </a:r>
            <a:endParaRPr lang="en-US" altLang="ko-KR" dirty="0" smtClean="0"/>
          </a:p>
          <a:p>
            <a:pPr marL="342900" indent="-342900">
              <a:buFont typeface="+mj-ea"/>
              <a:buAutoNum type="circleNumDbPlain"/>
            </a:pPr>
            <a:r>
              <a:rPr lang="en-US" altLang="ko-KR" dirty="0" smtClean="0"/>
              <a:t> </a:t>
            </a:r>
            <a:r>
              <a:rPr lang="ko-KR" altLang="en-US" dirty="0" smtClean="0"/>
              <a:t>치밀유방 </a:t>
            </a:r>
            <a:r>
              <a:rPr lang="en-US" altLang="ko-KR" dirty="0" smtClean="0"/>
              <a:t>: 3~4</a:t>
            </a:r>
            <a:r>
              <a:rPr lang="ko-KR" altLang="en-US" dirty="0" smtClean="0"/>
              <a:t>번</a:t>
            </a:r>
            <a:endParaRPr lang="en-US" altLang="ko-KR" dirty="0" smtClean="0"/>
          </a:p>
          <a:p>
            <a:pPr marL="342900" indent="-342900"/>
            <a:r>
              <a:rPr lang="ko-KR" altLang="en-US" dirty="0" smtClean="0"/>
              <a:t>판독소견</a:t>
            </a:r>
            <a:endParaRPr lang="en-US" altLang="ko-KR" dirty="0" smtClean="0"/>
          </a:p>
          <a:p>
            <a:pPr marL="342900" indent="-342900">
              <a:buFont typeface="+mj-ea"/>
              <a:buAutoNum type="circleNumDbPlain"/>
            </a:pPr>
            <a:r>
              <a:rPr lang="en-US" altLang="ko-KR" dirty="0" smtClean="0"/>
              <a:t> </a:t>
            </a:r>
            <a:r>
              <a:rPr lang="ko-KR" altLang="en-US" dirty="0" smtClean="0"/>
              <a:t>최대</a:t>
            </a:r>
            <a:r>
              <a:rPr lang="en-US" altLang="ko-KR" dirty="0" smtClean="0"/>
              <a:t>3</a:t>
            </a:r>
            <a:r>
              <a:rPr lang="ko-KR" altLang="en-US" dirty="0" smtClean="0"/>
              <a:t>가지 소견까지 중복기입가능</a:t>
            </a:r>
            <a:endParaRPr lang="en-US" altLang="ko-KR" dirty="0" smtClean="0"/>
          </a:p>
          <a:p>
            <a:pPr marL="342900" indent="-342900">
              <a:buFont typeface="+mj-ea"/>
              <a:buAutoNum type="circleNumDbPlain"/>
            </a:pPr>
            <a:r>
              <a:rPr lang="en-US" altLang="ko-KR" dirty="0" smtClean="0"/>
              <a:t> 9</a:t>
            </a:r>
            <a:r>
              <a:rPr lang="ko-KR" altLang="en-US" dirty="0" smtClean="0"/>
              <a:t>번 판정곤란의 경우는 </a:t>
            </a:r>
            <a:r>
              <a:rPr lang="ko-KR" altLang="en-US" dirty="0" err="1" smtClean="0"/>
              <a:t>병변이</a:t>
            </a:r>
            <a:r>
              <a:rPr lang="ko-KR" altLang="en-US" dirty="0" smtClean="0"/>
              <a:t> 존재하나 현재 유방촬영 소견으로는 정확하게 판정 할 수 없는 상태로 추가적인 검사 또는 이전 사진과 비교가 필요한 상태</a:t>
            </a:r>
            <a:endParaRPr lang="en-US" altLang="ko-KR" dirty="0" smtClean="0"/>
          </a:p>
          <a:p>
            <a:pPr marL="342900" indent="-342900"/>
            <a:r>
              <a:rPr lang="en-US" altLang="ko-KR" dirty="0" smtClean="0"/>
              <a:t>*</a:t>
            </a:r>
            <a:r>
              <a:rPr lang="ko-KR" altLang="en-US" dirty="0" smtClean="0"/>
              <a:t>치밀유방만 나와서는 판정유보를 선택해선 </a:t>
            </a:r>
            <a:r>
              <a:rPr lang="ko-KR" altLang="en-US" dirty="0" err="1" smtClean="0"/>
              <a:t>안된다</a:t>
            </a:r>
            <a:r>
              <a:rPr lang="en-US" altLang="ko-KR" dirty="0" smtClean="0"/>
              <a:t>.</a:t>
            </a:r>
          </a:p>
          <a:p>
            <a:pPr marL="342900" indent="-342900"/>
            <a:r>
              <a:rPr lang="en-US" altLang="ko-KR" dirty="0" smtClean="0"/>
              <a:t>*</a:t>
            </a:r>
            <a:r>
              <a:rPr lang="ko-KR" altLang="en-US" dirty="0" smtClean="0"/>
              <a:t>치밀유방이기에 다른 </a:t>
            </a:r>
            <a:r>
              <a:rPr lang="ko-KR" altLang="en-US" dirty="0" err="1" smtClean="0"/>
              <a:t>병변이</a:t>
            </a:r>
            <a:r>
              <a:rPr lang="ko-KR" altLang="en-US" dirty="0" smtClean="0"/>
              <a:t> 잘 보이지 않아 </a:t>
            </a:r>
            <a:r>
              <a:rPr lang="ko-KR" altLang="en-US" dirty="0" err="1" smtClean="0"/>
              <a:t>다른검사가</a:t>
            </a:r>
            <a:r>
              <a:rPr lang="en-US" altLang="ko-KR" dirty="0" smtClean="0"/>
              <a:t> </a:t>
            </a:r>
          </a:p>
          <a:p>
            <a:pPr marL="342900" indent="-342900"/>
            <a:r>
              <a:rPr lang="en-US" altLang="ko-KR" dirty="0" smtClean="0"/>
              <a:t> </a:t>
            </a:r>
            <a:r>
              <a:rPr lang="ko-KR" altLang="en-US" dirty="0" smtClean="0"/>
              <a:t>필요한 경우에는 판정유보를 해도 되나</a:t>
            </a:r>
            <a:endParaRPr lang="en-US" altLang="ko-KR" dirty="0" smtClean="0"/>
          </a:p>
          <a:p>
            <a:pPr marL="342900" indent="-342900"/>
            <a:r>
              <a:rPr lang="en-US" altLang="ko-KR" dirty="0" smtClean="0"/>
              <a:t> </a:t>
            </a:r>
            <a:r>
              <a:rPr lang="ko-KR" altLang="en-US" dirty="0" smtClean="0"/>
              <a:t>판정유보는 질병을 </a:t>
            </a:r>
            <a:r>
              <a:rPr lang="en-US" altLang="ko-KR" dirty="0" smtClean="0"/>
              <a:t>“</a:t>
            </a:r>
            <a:r>
              <a:rPr lang="ko-KR" altLang="en-US" dirty="0" smtClean="0"/>
              <a:t>양성</a:t>
            </a:r>
            <a:r>
              <a:rPr lang="en-US" altLang="ko-KR" dirty="0" smtClean="0"/>
              <a:t>”</a:t>
            </a:r>
            <a:r>
              <a:rPr lang="ko-KR" altLang="en-US" dirty="0" smtClean="0"/>
              <a:t>으로 나타내므로 주의해야 한다</a:t>
            </a:r>
            <a:r>
              <a:rPr lang="en-US" altLang="ko-KR" dirty="0" smtClean="0"/>
              <a:t>.</a:t>
            </a:r>
          </a:p>
          <a:p>
            <a:pPr marL="342900" indent="-342900"/>
            <a:endParaRPr lang="en-US" altLang="ko-KR" dirty="0" smtClean="0"/>
          </a:p>
          <a:p>
            <a:pPr marL="342900" indent="-342900"/>
            <a:endParaRPr lang="en-US" altLang="ko-KR" dirty="0" smtClean="0"/>
          </a:p>
          <a:p>
            <a:pPr marL="342900" indent="-342900"/>
            <a:endParaRPr lang="en-US" altLang="ko-KR" dirty="0" smtClean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결과 입력 </a:t>
            </a:r>
            <a:r>
              <a:rPr lang="en-US" altLang="ko-KR" dirty="0" smtClean="0"/>
              <a:t>8-1</a:t>
            </a:r>
            <a:r>
              <a:rPr lang="ko-KR" altLang="en-US" dirty="0" err="1" smtClean="0"/>
              <a:t>자궁경부암</a:t>
            </a:r>
            <a:endParaRPr lang="ko-KR" altLang="en-US" dirty="0"/>
          </a:p>
        </p:txBody>
      </p:sp>
      <p:pic>
        <p:nvPicPr>
          <p:cNvPr id="4" name="내용 개체 틀 3" descr="a20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1500174"/>
            <a:ext cx="4714876" cy="5357826"/>
          </a:xfrm>
        </p:spPr>
      </p:pic>
      <p:sp>
        <p:nvSpPr>
          <p:cNvPr id="5" name="액자 4"/>
          <p:cNvSpPr/>
          <p:nvPr/>
        </p:nvSpPr>
        <p:spPr>
          <a:xfrm>
            <a:off x="0" y="2071678"/>
            <a:ext cx="4714876" cy="4214842"/>
          </a:xfrm>
          <a:prstGeom prst="frame">
            <a:avLst>
              <a:gd name="adj1" fmla="val 2009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57752" y="2000240"/>
            <a:ext cx="428624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청구종목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상담료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장소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검진일을</a:t>
            </a:r>
            <a:r>
              <a:rPr lang="ko-KR" altLang="en-US" dirty="0" smtClean="0"/>
              <a:t> 입력하였으면 역시</a:t>
            </a:r>
            <a:endParaRPr lang="en-US" altLang="ko-KR" dirty="0" smtClean="0"/>
          </a:p>
          <a:p>
            <a:r>
              <a:rPr lang="ko-KR" altLang="en-US" dirty="0" err="1" smtClean="0"/>
              <a:t>자궁경부암</a:t>
            </a:r>
            <a:r>
              <a:rPr lang="ko-KR" altLang="en-US" dirty="0" smtClean="0"/>
              <a:t> 하단을 차트와 동일하게 입력하면 된다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err="1" smtClean="0"/>
              <a:t>검체상태</a:t>
            </a:r>
            <a:endParaRPr lang="en-US" altLang="ko-KR" dirty="0" smtClean="0"/>
          </a:p>
          <a:p>
            <a:pPr marL="342900" indent="-342900">
              <a:buFont typeface="+mj-ea"/>
              <a:buAutoNum type="circleNumDbPlain"/>
            </a:pPr>
            <a:r>
              <a:rPr lang="en-US" altLang="ko-KR" dirty="0" smtClean="0"/>
              <a:t> </a:t>
            </a:r>
            <a:r>
              <a:rPr lang="ko-KR" altLang="en-US" dirty="0" smtClean="0"/>
              <a:t>적절</a:t>
            </a:r>
            <a:r>
              <a:rPr lang="en-US" altLang="ko-KR" dirty="0" smtClean="0"/>
              <a:t>/</a:t>
            </a:r>
            <a:r>
              <a:rPr lang="ko-KR" altLang="en-US" dirty="0" smtClean="0"/>
              <a:t>부적절 반드시 구분해야 한다</a:t>
            </a:r>
            <a:r>
              <a:rPr lang="en-US" altLang="ko-KR" dirty="0" smtClean="0"/>
              <a:t>.</a:t>
            </a:r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 err="1" smtClean="0"/>
              <a:t>검체</a:t>
            </a:r>
            <a:r>
              <a:rPr lang="ko-KR" altLang="en-US" dirty="0" smtClean="0"/>
              <a:t> 상태는 수검자에겐 통보되지 않는다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자궁경부 </a:t>
            </a:r>
            <a:r>
              <a:rPr lang="ko-KR" altLang="en-US" dirty="0" err="1" smtClean="0"/>
              <a:t>선상피세포</a:t>
            </a:r>
            <a:endParaRPr lang="en-US" altLang="ko-KR" dirty="0" smtClean="0"/>
          </a:p>
          <a:p>
            <a:pPr marL="342900" indent="-342900">
              <a:buFont typeface="+mj-ea"/>
              <a:buAutoNum type="circleNumDbPlain"/>
            </a:pPr>
            <a:r>
              <a:rPr lang="en-US" altLang="ko-KR" dirty="0" smtClean="0"/>
              <a:t> </a:t>
            </a:r>
            <a:r>
              <a:rPr lang="ko-KR" altLang="en-US" dirty="0" smtClean="0"/>
              <a:t>유</a:t>
            </a:r>
            <a:r>
              <a:rPr lang="en-US" altLang="ko-KR" dirty="0" smtClean="0"/>
              <a:t>/</a:t>
            </a:r>
            <a:r>
              <a:rPr lang="ko-KR" altLang="en-US" dirty="0" smtClean="0"/>
              <a:t>무로 구분</a:t>
            </a:r>
            <a:endParaRPr lang="en-US" altLang="ko-KR" dirty="0" smtClean="0"/>
          </a:p>
          <a:p>
            <a:pPr marL="342900" indent="-342900"/>
            <a:r>
              <a:rPr lang="ko-KR" altLang="en-US" dirty="0" smtClean="0"/>
              <a:t>유형별 진단</a:t>
            </a:r>
            <a:endParaRPr lang="en-US" altLang="ko-KR" dirty="0" smtClean="0"/>
          </a:p>
          <a:p>
            <a:pPr marL="342900" indent="-342900">
              <a:buFont typeface="+mj-ea"/>
              <a:buAutoNum type="circleNumDbPlain"/>
            </a:pPr>
            <a:r>
              <a:rPr lang="en-US" altLang="ko-KR" dirty="0" smtClean="0"/>
              <a:t> </a:t>
            </a:r>
            <a:r>
              <a:rPr lang="ko-KR" altLang="en-US" dirty="0" smtClean="0"/>
              <a:t>상피세포 이상일 경우에는 해당되는 항목 선택해야 한다</a:t>
            </a:r>
            <a:r>
              <a:rPr lang="en-US" altLang="ko-KR" dirty="0" smtClean="0"/>
              <a:t>.</a:t>
            </a:r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 smtClean="0"/>
              <a:t>비정형 </a:t>
            </a:r>
            <a:r>
              <a:rPr lang="ko-KR" altLang="en-US" dirty="0" err="1" smtClean="0"/>
              <a:t>편편상피세포일</a:t>
            </a:r>
            <a:r>
              <a:rPr lang="ko-KR" altLang="en-US" dirty="0" smtClean="0"/>
              <a:t> 경우 </a:t>
            </a:r>
            <a:r>
              <a:rPr lang="en-US" altLang="ko-KR" dirty="0" smtClean="0"/>
              <a:t>‘</a:t>
            </a:r>
            <a:r>
              <a:rPr lang="ko-KR" altLang="en-US" dirty="0" smtClean="0"/>
              <a:t>일반</a:t>
            </a:r>
            <a:r>
              <a:rPr lang="en-US" altLang="ko-KR" dirty="0" smtClean="0"/>
              <a:t>/</a:t>
            </a:r>
            <a:r>
              <a:rPr lang="ko-KR" altLang="en-US" dirty="0" err="1" smtClean="0"/>
              <a:t>고위험</a:t>
            </a:r>
            <a:r>
              <a:rPr lang="en-US" altLang="ko-KR" dirty="0" smtClean="0"/>
              <a:t>’ </a:t>
            </a:r>
            <a:r>
              <a:rPr lang="ko-KR" altLang="en-US" dirty="0" smtClean="0"/>
              <a:t>구분해야 한다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추가소견</a:t>
            </a:r>
            <a:endParaRPr lang="en-US" altLang="ko-KR" dirty="0" smtClean="0"/>
          </a:p>
          <a:p>
            <a:pPr marL="342900" indent="-342900">
              <a:buFont typeface="+mj-ea"/>
              <a:buAutoNum type="circleNumDbPlain"/>
            </a:pPr>
            <a:r>
              <a:rPr lang="en-US" altLang="ko-KR" dirty="0" smtClean="0"/>
              <a:t> </a:t>
            </a:r>
            <a:r>
              <a:rPr lang="ko-KR" altLang="en-US" dirty="0" smtClean="0"/>
              <a:t>기타 추가적인 </a:t>
            </a:r>
            <a:r>
              <a:rPr lang="ko-KR" altLang="en-US" dirty="0" err="1" smtClean="0"/>
              <a:t>반응성</a:t>
            </a:r>
            <a:r>
              <a:rPr lang="ko-KR" altLang="en-US" dirty="0" smtClean="0"/>
              <a:t> 및 감염성 소견이 </a:t>
            </a:r>
            <a:r>
              <a:rPr lang="ko-KR" altLang="en-US" dirty="0" err="1" smtClean="0"/>
              <a:t>있을경우</a:t>
            </a:r>
            <a:r>
              <a:rPr lang="ko-KR" altLang="en-US" dirty="0" smtClean="0"/>
              <a:t> 선택</a:t>
            </a:r>
            <a:endParaRPr lang="en-US" altLang="ko-KR" dirty="0" smtClean="0"/>
          </a:p>
          <a:p>
            <a:pPr marL="342900" indent="-342900"/>
            <a:endParaRPr lang="en-US" altLang="ko-KR" dirty="0" smtClean="0"/>
          </a:p>
          <a:p>
            <a:pPr marL="342900" indent="-342900"/>
            <a:endParaRPr lang="en-US" altLang="ko-KR" dirty="0" smtClean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가을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820</TotalTime>
  <Words>948</Words>
  <Application>Microsoft Office PowerPoint</Application>
  <PresentationFormat>화면 슬라이드 쇼(4:3)</PresentationFormat>
  <Paragraphs>155</Paragraphs>
  <Slides>17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18" baseType="lpstr">
      <vt:lpstr>가을</vt:lpstr>
      <vt:lpstr>암 검진 결과입력</vt:lpstr>
      <vt:lpstr>1.프로그램 실행 </vt:lpstr>
      <vt:lpstr>2. 검색</vt:lpstr>
      <vt:lpstr>3. 결과 입력 1-1</vt:lpstr>
      <vt:lpstr>3. 결과 입력 2-1 (문진)</vt:lpstr>
      <vt:lpstr>3. 결과 입력 3-1 (상위메뉴) </vt:lpstr>
      <vt:lpstr>3. 결과 입력 3-2 (상위메뉴)</vt:lpstr>
      <vt:lpstr>3. 결과 입력 3-3 (상위/하위메뉴)</vt:lpstr>
      <vt:lpstr>3. 결과 입력 4-1(위암)</vt:lpstr>
      <vt:lpstr>3. 결과 입력 4-2(위암)</vt:lpstr>
      <vt:lpstr>3. 결과 입력 4-3(위암)</vt:lpstr>
      <vt:lpstr>3. 결과 입력 5-2(대장암-분변잠혈)</vt:lpstr>
      <vt:lpstr>3. 결과 입력 5-1(대장암-내시경)</vt:lpstr>
      <vt:lpstr>3. 결과 입력 6-1간암(간초음파+AFP)</vt:lpstr>
      <vt:lpstr>3. 결과 입력 6-2간암(간염후)</vt:lpstr>
      <vt:lpstr>3. 결과 입력 7-1유방암</vt:lpstr>
      <vt:lpstr>3. 결과 입력 8-1자궁경부암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암 검진 결과입력</dc:title>
  <dc:creator>지희숙</dc:creator>
  <cp:lastModifiedBy>SEC</cp:lastModifiedBy>
  <cp:revision>84</cp:revision>
  <dcterms:created xsi:type="dcterms:W3CDTF">2010-01-21T02:30:50Z</dcterms:created>
  <dcterms:modified xsi:type="dcterms:W3CDTF">2010-02-08T01:28:47Z</dcterms:modified>
</cp:coreProperties>
</file>