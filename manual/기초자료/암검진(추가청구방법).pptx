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18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8670B-AD74-4D5B-A0A3-5E4D6E7B8152}" type="datetimeFigureOut">
              <a:rPr lang="ko-KR" altLang="en-US" smtClean="0"/>
              <a:pPr/>
              <a:t>2014-02-11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C0585-DE95-4C71-8C7B-6C70F05A8D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>
                <a:solidFill>
                  <a:srgbClr val="002060"/>
                </a:solidFill>
              </a:rPr>
              <a:t>암검진</a:t>
            </a:r>
            <a:r>
              <a:rPr lang="ko-KR" altLang="en-US" dirty="0" smtClean="0">
                <a:solidFill>
                  <a:srgbClr val="002060"/>
                </a:solidFill>
              </a:rPr>
              <a:t> 추가청구 방법</a:t>
            </a:r>
            <a:endParaRPr lang="ko-KR" altLang="en-US" dirty="0">
              <a:solidFill>
                <a:srgbClr val="002060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[</a:t>
            </a:r>
            <a:r>
              <a:rPr lang="ko-KR" altLang="en-US" dirty="0" err="1" smtClean="0"/>
              <a:t>암추가검진</a:t>
            </a:r>
            <a:r>
              <a:rPr lang="ko-KR" altLang="en-US" dirty="0" smtClean="0"/>
              <a:t> 접수방법</a:t>
            </a:r>
            <a:r>
              <a:rPr lang="en-US" altLang="ko-KR" dirty="0" smtClean="0"/>
              <a:t>]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smtClean="0"/>
              <a:t>본원에서 분변검사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</a:t>
            </a:r>
            <a:r>
              <a:rPr lang="ko-KR" altLang="en-US" dirty="0" smtClean="0"/>
              <a:t>시행한 경우</a:t>
            </a:r>
            <a:r>
              <a:rPr lang="en-US" altLang="ko-KR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pic>
        <p:nvPicPr>
          <p:cNvPr id="5" name="내용 개체 틀 4" descr="암추가검진접수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050" y="214290"/>
            <a:ext cx="5354668" cy="5929354"/>
          </a:xfrm>
        </p:spPr>
      </p:pic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rgbClr val="002060"/>
                </a:solidFill>
              </a:rPr>
              <a:t>본원에서 </a:t>
            </a:r>
            <a:r>
              <a:rPr lang="en-US" altLang="ko-KR" b="1" dirty="0" smtClean="0">
                <a:solidFill>
                  <a:srgbClr val="002060"/>
                </a:solidFill>
              </a:rPr>
              <a:t>‘</a:t>
            </a:r>
            <a:r>
              <a:rPr lang="ko-KR" altLang="en-US" b="1" dirty="0" smtClean="0">
                <a:solidFill>
                  <a:srgbClr val="002060"/>
                </a:solidFill>
              </a:rPr>
              <a:t>분변</a:t>
            </a:r>
            <a:r>
              <a:rPr lang="en-US" altLang="ko-KR" b="1" dirty="0" smtClean="0">
                <a:solidFill>
                  <a:srgbClr val="002060"/>
                </a:solidFill>
              </a:rPr>
              <a:t>’</a:t>
            </a:r>
            <a:r>
              <a:rPr lang="ko-KR" altLang="en-US" b="1" dirty="0" err="1" smtClean="0">
                <a:solidFill>
                  <a:srgbClr val="002060"/>
                </a:solidFill>
              </a:rPr>
              <a:t>검사후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>(</a:t>
            </a:r>
            <a:r>
              <a:rPr lang="ko-KR" altLang="en-US" b="1" dirty="0" smtClean="0">
                <a:solidFill>
                  <a:srgbClr val="002060"/>
                </a:solidFill>
              </a:rPr>
              <a:t>양성</a:t>
            </a:r>
            <a:r>
              <a:rPr lang="en-US" altLang="ko-KR" b="1" dirty="0" smtClean="0">
                <a:solidFill>
                  <a:srgbClr val="002060"/>
                </a:solidFill>
              </a:rPr>
              <a:t>)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반응나와서</a:t>
            </a:r>
            <a:r>
              <a:rPr lang="ko-KR" altLang="en-US" b="1" dirty="0" smtClean="0">
                <a:solidFill>
                  <a:srgbClr val="002060"/>
                </a:solidFill>
              </a:rPr>
              <a:t> 대장내시경 검사를 시행한 경우 접수방법입니다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다른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인적정보는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분변접수하듯이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입력하고 </a:t>
            </a:r>
            <a:r>
              <a:rPr lang="en-US" altLang="ko-KR" b="1" dirty="0" smtClean="0">
                <a:solidFill>
                  <a:srgbClr val="FF0000"/>
                </a:solidFill>
              </a:rPr>
              <a:t>‘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암추가검진</a:t>
            </a:r>
            <a:r>
              <a:rPr lang="en-US" altLang="ko-KR" b="1" dirty="0" smtClean="0">
                <a:solidFill>
                  <a:srgbClr val="FF0000"/>
                </a:solidFill>
              </a:rPr>
              <a:t>’</a:t>
            </a:r>
            <a:r>
              <a:rPr lang="ko-KR" altLang="en-US" b="1" dirty="0" smtClean="0">
                <a:solidFill>
                  <a:srgbClr val="FF0000"/>
                </a:solidFill>
              </a:rPr>
              <a:t>체크박스 체크하고 접수</a:t>
            </a:r>
            <a:r>
              <a:rPr lang="ko-KR" altLang="en-US" b="1" dirty="0" smtClean="0">
                <a:solidFill>
                  <a:srgbClr val="002060"/>
                </a:solidFill>
              </a:rPr>
              <a:t>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단</a:t>
            </a:r>
            <a:r>
              <a:rPr lang="en-US" altLang="ko-KR" b="1" dirty="0" smtClean="0">
                <a:solidFill>
                  <a:srgbClr val="002060"/>
                </a:solidFill>
              </a:rPr>
              <a:t>,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타병원에서</a:t>
            </a:r>
            <a:r>
              <a:rPr lang="ko-KR" altLang="en-US" b="1" dirty="0" smtClean="0">
                <a:solidFill>
                  <a:srgbClr val="002060"/>
                </a:solidFill>
              </a:rPr>
              <a:t> 분변하고 본원에서 대장내시경 검사를 하는 경우는 </a:t>
            </a:r>
            <a:r>
              <a:rPr lang="en-US" altLang="ko-KR" b="1" dirty="0" smtClean="0">
                <a:solidFill>
                  <a:srgbClr val="002060"/>
                </a:solidFill>
              </a:rPr>
              <a:t>‘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암추가검진</a:t>
            </a:r>
            <a:r>
              <a:rPr lang="en-US" altLang="ko-KR" b="1" dirty="0" smtClean="0">
                <a:solidFill>
                  <a:srgbClr val="002060"/>
                </a:solidFill>
              </a:rPr>
              <a:t>’ </a:t>
            </a:r>
            <a:r>
              <a:rPr lang="ko-KR" altLang="en-US" b="1" dirty="0" smtClean="0">
                <a:solidFill>
                  <a:srgbClr val="002060"/>
                </a:solidFill>
              </a:rPr>
              <a:t>체크하지 않고</a:t>
            </a:r>
            <a:r>
              <a:rPr lang="en-US" altLang="ko-KR" b="1" dirty="0" smtClean="0">
                <a:solidFill>
                  <a:srgbClr val="002060"/>
                </a:solidFill>
              </a:rPr>
              <a:t>,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일반암검진</a:t>
            </a:r>
            <a:r>
              <a:rPr lang="ko-KR" altLang="en-US" b="1" dirty="0" smtClean="0">
                <a:solidFill>
                  <a:srgbClr val="002060"/>
                </a:solidFill>
              </a:rPr>
              <a:t> 접수하듯이 접수하면 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 smtClean="0">
              <a:solidFill>
                <a:srgbClr val="00206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429388" y="2754626"/>
            <a:ext cx="71438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>
            <a:off x="5326386" y="2786058"/>
            <a:ext cx="978408" cy="21431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>
                <a:solidFill>
                  <a:srgbClr val="002060"/>
                </a:solidFill>
              </a:rPr>
              <a:t>‘</a:t>
            </a:r>
            <a:r>
              <a:rPr lang="ko-KR" altLang="en-US" dirty="0" err="1" smtClean="0">
                <a:solidFill>
                  <a:srgbClr val="002060"/>
                </a:solidFill>
              </a:rPr>
              <a:t>암검진추가</a:t>
            </a:r>
            <a:r>
              <a:rPr lang="en-US" altLang="ko-KR" dirty="0" smtClean="0">
                <a:solidFill>
                  <a:srgbClr val="002060"/>
                </a:solidFill>
              </a:rPr>
              <a:t>’</a:t>
            </a:r>
            <a:r>
              <a:rPr lang="ko-KR" altLang="en-US" dirty="0" smtClean="0">
                <a:solidFill>
                  <a:srgbClr val="002060"/>
                </a:solidFill>
              </a:rPr>
              <a:t>체크박스를 못하고 </a:t>
            </a:r>
            <a:r>
              <a:rPr lang="en-US" altLang="ko-KR" dirty="0" smtClean="0">
                <a:solidFill>
                  <a:srgbClr val="002060"/>
                </a:solidFill>
              </a:rPr>
              <a:t/>
            </a:r>
            <a:br>
              <a:rPr lang="en-US" altLang="ko-KR" dirty="0" smtClean="0">
                <a:solidFill>
                  <a:srgbClr val="002060"/>
                </a:solidFill>
              </a:rPr>
            </a:br>
            <a:r>
              <a:rPr lang="ko-KR" altLang="en-US" dirty="0" smtClean="0">
                <a:solidFill>
                  <a:srgbClr val="002060"/>
                </a:solidFill>
              </a:rPr>
              <a:t>접수한 경우</a:t>
            </a:r>
            <a:endParaRPr lang="ko-KR" altLang="en-US" dirty="0"/>
          </a:p>
        </p:txBody>
      </p:sp>
      <p:pic>
        <p:nvPicPr>
          <p:cNvPr id="10" name="내용 개체 틀 9" descr="7.JP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034" y="2137402"/>
            <a:ext cx="3972333" cy="3951288"/>
          </a:xfrm>
        </p:spPr>
      </p:pic>
      <p:sp>
        <p:nvSpPr>
          <p:cNvPr id="8" name="텍스트 개체 틀 7"/>
          <p:cNvSpPr>
            <a:spLocks noGrp="1"/>
          </p:cNvSpPr>
          <p:nvPr>
            <p:ph type="body" sz="quarter" idx="3"/>
          </p:nvPr>
        </p:nvSpPr>
        <p:spPr>
          <a:xfrm>
            <a:off x="4714876" y="2214554"/>
            <a:ext cx="4041775" cy="3751275"/>
          </a:xfrm>
        </p:spPr>
        <p:txBody>
          <a:bodyPr>
            <a:normAutofit lnSpcReduction="10000"/>
          </a:bodyPr>
          <a:lstStyle/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r>
              <a:rPr lang="ko-KR" altLang="en-US" sz="1400" dirty="0" err="1" smtClean="0">
                <a:solidFill>
                  <a:srgbClr val="002060"/>
                </a:solidFill>
              </a:rPr>
              <a:t>접수시</a:t>
            </a:r>
            <a:r>
              <a:rPr lang="ko-KR" altLang="en-US" sz="1400" dirty="0" smtClean="0">
                <a:solidFill>
                  <a:srgbClr val="002060"/>
                </a:solidFill>
              </a:rPr>
              <a:t> </a:t>
            </a:r>
            <a:r>
              <a:rPr lang="en-US" altLang="ko-KR" sz="1400" dirty="0" smtClean="0">
                <a:solidFill>
                  <a:srgbClr val="002060"/>
                </a:solidFill>
              </a:rPr>
              <a:t>‘</a:t>
            </a:r>
            <a:r>
              <a:rPr lang="ko-KR" altLang="en-US" sz="1400" dirty="0" err="1" smtClean="0">
                <a:solidFill>
                  <a:srgbClr val="002060"/>
                </a:solidFill>
              </a:rPr>
              <a:t>암추가검진</a:t>
            </a:r>
            <a:r>
              <a:rPr lang="en-US" altLang="ko-KR" sz="1400" dirty="0" smtClean="0">
                <a:solidFill>
                  <a:srgbClr val="002060"/>
                </a:solidFill>
              </a:rPr>
              <a:t>’</a:t>
            </a:r>
            <a:r>
              <a:rPr lang="ko-KR" altLang="en-US" sz="1400" dirty="0" smtClean="0">
                <a:solidFill>
                  <a:srgbClr val="002060"/>
                </a:solidFill>
              </a:rPr>
              <a:t>체크를 하지 못하고 접수를</a:t>
            </a:r>
            <a:endParaRPr lang="en-US" altLang="ko-KR" sz="1400" dirty="0" smtClean="0">
              <a:solidFill>
                <a:srgbClr val="002060"/>
              </a:solidFill>
            </a:endParaRPr>
          </a:p>
          <a:p>
            <a:r>
              <a:rPr lang="ko-KR" altLang="en-US" sz="1400" dirty="0" err="1" smtClean="0">
                <a:solidFill>
                  <a:srgbClr val="002060"/>
                </a:solidFill>
              </a:rPr>
              <a:t>했을경우는</a:t>
            </a:r>
            <a:r>
              <a:rPr lang="ko-KR" altLang="en-US" sz="1400" dirty="0" smtClean="0">
                <a:solidFill>
                  <a:srgbClr val="002060"/>
                </a:solidFill>
              </a:rPr>
              <a:t> </a:t>
            </a:r>
            <a:r>
              <a:rPr lang="ko-KR" altLang="en-US" sz="1400" dirty="0" err="1" smtClean="0">
                <a:solidFill>
                  <a:srgbClr val="002060"/>
                </a:solidFill>
              </a:rPr>
              <a:t>인적수정창에서</a:t>
            </a:r>
            <a:r>
              <a:rPr lang="ko-KR" altLang="en-US" sz="1400" dirty="0" smtClean="0">
                <a:solidFill>
                  <a:srgbClr val="002060"/>
                </a:solidFill>
              </a:rPr>
              <a:t> 오른쪽 상단에 공단청구금액의 </a:t>
            </a:r>
            <a:r>
              <a:rPr lang="ko-KR" altLang="en-US" sz="1400" dirty="0" err="1" smtClean="0">
                <a:solidFill>
                  <a:srgbClr val="002060"/>
                </a:solidFill>
              </a:rPr>
              <a:t>암검진의</a:t>
            </a:r>
            <a:r>
              <a:rPr lang="ko-KR" altLang="en-US" sz="1400" dirty="0" smtClean="0">
                <a:solidFill>
                  <a:srgbClr val="002060"/>
                </a:solidFill>
              </a:rPr>
              <a:t> </a:t>
            </a:r>
            <a:r>
              <a:rPr lang="ko-KR" altLang="en-US" sz="1400" dirty="0" err="1" smtClean="0">
                <a:solidFill>
                  <a:srgbClr val="002060"/>
                </a:solidFill>
              </a:rPr>
              <a:t>작은빈칸에</a:t>
            </a:r>
            <a:r>
              <a:rPr lang="ko-KR" altLang="en-US" sz="1400" dirty="0" smtClean="0">
                <a:solidFill>
                  <a:srgbClr val="002060"/>
                </a:solidFill>
              </a:rPr>
              <a:t> 커서를 놓고 더블클릭을 하면 </a:t>
            </a:r>
            <a:r>
              <a:rPr lang="en-US" altLang="ko-KR" sz="1400" dirty="0" smtClean="0">
                <a:solidFill>
                  <a:srgbClr val="002060"/>
                </a:solidFill>
              </a:rPr>
              <a:t>(2) </a:t>
            </a:r>
            <a:r>
              <a:rPr lang="ko-KR" altLang="en-US" sz="1400" dirty="0" smtClean="0">
                <a:solidFill>
                  <a:srgbClr val="002060"/>
                </a:solidFill>
              </a:rPr>
              <a:t>번과 같은 창이 활성화 됩니다</a:t>
            </a:r>
            <a:r>
              <a:rPr lang="en-US" altLang="ko-KR" sz="1400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r>
              <a:rPr lang="en-US" altLang="ko-KR" sz="1400" dirty="0" smtClean="0">
                <a:solidFill>
                  <a:srgbClr val="002060"/>
                </a:solidFill>
              </a:rPr>
              <a:t>(YES)</a:t>
            </a:r>
            <a:r>
              <a:rPr lang="ko-KR" altLang="en-US" sz="1400" dirty="0" smtClean="0">
                <a:solidFill>
                  <a:srgbClr val="002060"/>
                </a:solidFill>
              </a:rPr>
              <a:t>버튼을 눌러주면 임의의 번호를 생성시켜줍니다</a:t>
            </a:r>
            <a:r>
              <a:rPr lang="en-US" altLang="ko-KR" sz="1400" dirty="0" smtClean="0">
                <a:solidFill>
                  <a:srgbClr val="002060"/>
                </a:solidFill>
              </a:rPr>
              <a:t>.</a:t>
            </a:r>
          </a:p>
          <a:p>
            <a:r>
              <a:rPr lang="ko-KR" altLang="en-US" sz="1400" dirty="0" smtClean="0">
                <a:solidFill>
                  <a:srgbClr val="002060"/>
                </a:solidFill>
              </a:rPr>
              <a:t>이는 </a:t>
            </a:r>
            <a:r>
              <a:rPr lang="ko-KR" altLang="en-US" sz="1400" dirty="0" err="1" smtClean="0">
                <a:solidFill>
                  <a:srgbClr val="002060"/>
                </a:solidFill>
              </a:rPr>
              <a:t>접수시</a:t>
            </a:r>
            <a:r>
              <a:rPr lang="ko-KR" altLang="en-US" sz="1400" dirty="0" smtClean="0">
                <a:solidFill>
                  <a:srgbClr val="002060"/>
                </a:solidFill>
              </a:rPr>
              <a:t> </a:t>
            </a:r>
            <a:r>
              <a:rPr lang="en-US" altLang="ko-KR" sz="1400" dirty="0" smtClean="0">
                <a:solidFill>
                  <a:srgbClr val="002060"/>
                </a:solidFill>
              </a:rPr>
              <a:t>‘’</a:t>
            </a:r>
            <a:r>
              <a:rPr lang="ko-KR" altLang="en-US" sz="1400" dirty="0" err="1" smtClean="0">
                <a:solidFill>
                  <a:srgbClr val="002060"/>
                </a:solidFill>
              </a:rPr>
              <a:t>암검진추가</a:t>
            </a:r>
            <a:r>
              <a:rPr lang="en-US" altLang="ko-KR" sz="1400" dirty="0" smtClean="0">
                <a:solidFill>
                  <a:srgbClr val="002060"/>
                </a:solidFill>
              </a:rPr>
              <a:t>’’</a:t>
            </a:r>
            <a:r>
              <a:rPr lang="ko-KR" altLang="en-US" sz="1400" dirty="0" smtClean="0">
                <a:solidFill>
                  <a:srgbClr val="002060"/>
                </a:solidFill>
              </a:rPr>
              <a:t>체크박스를 </a:t>
            </a:r>
            <a:r>
              <a:rPr lang="ko-KR" altLang="en-US" sz="1400" dirty="0" err="1" smtClean="0">
                <a:solidFill>
                  <a:srgbClr val="002060"/>
                </a:solidFill>
              </a:rPr>
              <a:t>클릭한것과</a:t>
            </a:r>
            <a:r>
              <a:rPr lang="ko-KR" altLang="en-US" sz="1400" dirty="0" smtClean="0">
                <a:solidFill>
                  <a:srgbClr val="002060"/>
                </a:solidFill>
              </a:rPr>
              <a:t> 같은 기능을</a:t>
            </a:r>
            <a:r>
              <a:rPr lang="en-US" altLang="ko-KR" sz="1400" dirty="0" smtClean="0">
                <a:solidFill>
                  <a:srgbClr val="002060"/>
                </a:solidFill>
              </a:rPr>
              <a:t> </a:t>
            </a:r>
            <a:r>
              <a:rPr lang="ko-KR" altLang="en-US" sz="1400" dirty="0" smtClean="0">
                <a:solidFill>
                  <a:srgbClr val="002060"/>
                </a:solidFill>
              </a:rPr>
              <a:t>합니다</a:t>
            </a:r>
            <a:r>
              <a:rPr lang="en-US" altLang="ko-KR" sz="1400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endParaRPr lang="en-US" altLang="ko-KR" sz="1400" dirty="0" smtClean="0">
              <a:solidFill>
                <a:srgbClr val="002060"/>
              </a:solidFill>
            </a:endParaRPr>
          </a:p>
          <a:p>
            <a:endParaRPr lang="en-US" altLang="ko-KR" sz="1400" dirty="0" smtClean="0">
              <a:solidFill>
                <a:srgbClr val="002060"/>
              </a:solidFill>
            </a:endParaRPr>
          </a:p>
        </p:txBody>
      </p:sp>
      <p:pic>
        <p:nvPicPr>
          <p:cNvPr id="11" name="내용 개체 틀 10" descr="8.JPG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0034" y="3714752"/>
            <a:ext cx="4041775" cy="3143248"/>
          </a:xfrm>
        </p:spPr>
      </p:pic>
      <p:sp>
        <p:nvSpPr>
          <p:cNvPr id="12" name="직사각형 11"/>
          <p:cNvSpPr/>
          <p:nvPr/>
        </p:nvSpPr>
        <p:spPr>
          <a:xfrm>
            <a:off x="4071934" y="2571744"/>
            <a:ext cx="285752" cy="14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42910" y="3714752"/>
            <a:ext cx="2214578" cy="857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857488" y="3714752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대장내시경 </a:t>
            </a:r>
            <a:r>
              <a:rPr lang="ko-KR" altLang="en-US" dirty="0" smtClean="0"/>
              <a:t>결과 </a:t>
            </a:r>
            <a:r>
              <a:rPr lang="ko-KR" altLang="en-US" dirty="0" smtClean="0"/>
              <a:t>입력</a:t>
            </a:r>
            <a:r>
              <a:rPr lang="en-US" altLang="ko-KR" dirty="0" smtClean="0"/>
              <a:t>]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pic>
        <p:nvPicPr>
          <p:cNvPr id="5" name="내용 개체 틀 4" descr="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0430" y="285728"/>
            <a:ext cx="5111750" cy="6072230"/>
          </a:xfrm>
        </p:spPr>
      </p:pic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rgbClr val="002060"/>
                </a:solidFill>
              </a:rPr>
              <a:t>1.</a:t>
            </a:r>
            <a:r>
              <a:rPr lang="ko-KR" altLang="en-US" b="1" dirty="0" smtClean="0">
                <a:solidFill>
                  <a:srgbClr val="002060"/>
                </a:solidFill>
              </a:rPr>
              <a:t>대장내시경 결과입력란에 결과를 입력합니다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en-US" altLang="ko-KR" b="1" dirty="0" smtClean="0">
                <a:solidFill>
                  <a:srgbClr val="002060"/>
                </a:solidFill>
              </a:rPr>
              <a:t>2.</a:t>
            </a:r>
            <a:r>
              <a:rPr lang="ko-KR" altLang="en-US" b="1" dirty="0" smtClean="0">
                <a:solidFill>
                  <a:srgbClr val="002060"/>
                </a:solidFill>
              </a:rPr>
              <a:t>종합판정 및 소견 모두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입력한후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endParaRPr lang="en-US" altLang="ko-KR" b="1" dirty="0">
              <a:solidFill>
                <a:srgbClr val="002060"/>
              </a:solidFill>
            </a:endParaRPr>
          </a:p>
          <a:p>
            <a:r>
              <a:rPr lang="en-US" altLang="ko-KR" b="1" dirty="0" smtClean="0">
                <a:solidFill>
                  <a:srgbClr val="002060"/>
                </a:solidFill>
              </a:rPr>
              <a:t>‘’</a:t>
            </a:r>
            <a:r>
              <a:rPr lang="ko-KR" altLang="en-US" b="1" dirty="0" smtClean="0">
                <a:solidFill>
                  <a:srgbClr val="002060"/>
                </a:solidFill>
              </a:rPr>
              <a:t>완료</a:t>
            </a:r>
            <a:r>
              <a:rPr lang="en-US" altLang="ko-KR" b="1" dirty="0" smtClean="0">
                <a:solidFill>
                  <a:srgbClr val="002060"/>
                </a:solidFill>
              </a:rPr>
              <a:t>’’</a:t>
            </a:r>
            <a:r>
              <a:rPr lang="ko-KR" altLang="en-US" b="1" dirty="0" smtClean="0">
                <a:solidFill>
                  <a:srgbClr val="002060"/>
                </a:solidFill>
              </a:rPr>
              <a:t>버튼 눌러서 빨간색으로 보이게 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en-US" altLang="ko-KR" b="1" dirty="0" smtClean="0">
                <a:solidFill>
                  <a:srgbClr val="002060"/>
                </a:solidFill>
              </a:rPr>
              <a:t>3. ‘</a:t>
            </a:r>
            <a:r>
              <a:rPr lang="ko-KR" altLang="en-US" b="1" dirty="0" smtClean="0">
                <a:solidFill>
                  <a:srgbClr val="002060"/>
                </a:solidFill>
              </a:rPr>
              <a:t>추가체크</a:t>
            </a:r>
            <a:r>
              <a:rPr lang="en-US" altLang="ko-KR" b="1" dirty="0" smtClean="0">
                <a:solidFill>
                  <a:srgbClr val="002060"/>
                </a:solidFill>
              </a:rPr>
              <a:t>’</a:t>
            </a:r>
            <a:r>
              <a:rPr lang="ko-KR" altLang="en-US" b="1" dirty="0" smtClean="0">
                <a:solidFill>
                  <a:srgbClr val="002060"/>
                </a:solidFill>
              </a:rPr>
              <a:t>버튼</a:t>
            </a:r>
            <a:r>
              <a:rPr lang="ko-KR" altLang="en-US" b="1" dirty="0">
                <a:solidFill>
                  <a:srgbClr val="002060"/>
                </a:solidFill>
              </a:rPr>
              <a:t>을 </a:t>
            </a:r>
            <a:r>
              <a:rPr lang="ko-KR" altLang="en-US" b="1" dirty="0" smtClean="0">
                <a:solidFill>
                  <a:srgbClr val="002060"/>
                </a:solidFill>
              </a:rPr>
              <a:t>클릭하여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추가청구할</a:t>
            </a:r>
            <a:r>
              <a:rPr lang="ko-KR" altLang="en-US" b="1" dirty="0" smtClean="0">
                <a:solidFill>
                  <a:srgbClr val="002060"/>
                </a:solidFill>
              </a:rPr>
              <a:t> 항목을 체크합니다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>
              <a:solidFill>
                <a:srgbClr val="00206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929322" y="1142984"/>
            <a:ext cx="1357322" cy="30718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857752" y="5114936"/>
            <a:ext cx="428628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6286512" y="5072074"/>
            <a:ext cx="357190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572132" y="1057258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563560" y="100010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6000760" y="4857760"/>
            <a:ext cx="285752" cy="28575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4574109" y="4928179"/>
            <a:ext cx="283111" cy="2856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en-US" altLang="ko-KR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5972184" y="481489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추가청구체크</a:t>
            </a:r>
            <a:r>
              <a:rPr lang="en-US" altLang="ko-KR" dirty="0" smtClean="0"/>
              <a:t>]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pic>
        <p:nvPicPr>
          <p:cNvPr id="5" name="내용 개체 틀 4" descr="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050" y="285728"/>
            <a:ext cx="5111750" cy="5857916"/>
          </a:xfrm>
        </p:spPr>
      </p:pic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b="1" dirty="0" smtClean="0">
                <a:solidFill>
                  <a:srgbClr val="002060"/>
                </a:solidFill>
              </a:rPr>
              <a:t>‘’</a:t>
            </a:r>
            <a:r>
              <a:rPr lang="ko-KR" altLang="en-US" b="1" dirty="0" smtClean="0">
                <a:solidFill>
                  <a:srgbClr val="002060"/>
                </a:solidFill>
              </a:rPr>
              <a:t>추가체크</a:t>
            </a:r>
            <a:r>
              <a:rPr lang="en-US" altLang="ko-KR" b="1" dirty="0" smtClean="0">
                <a:solidFill>
                  <a:srgbClr val="002060"/>
                </a:solidFill>
              </a:rPr>
              <a:t>’ </a:t>
            </a:r>
            <a:r>
              <a:rPr lang="ko-KR" altLang="en-US" b="1" dirty="0" smtClean="0">
                <a:solidFill>
                  <a:srgbClr val="002060"/>
                </a:solidFill>
              </a:rPr>
              <a:t>버튼을 누르면 다음과 같은 창이 활성화 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추가청구항목에 체크를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한후</a:t>
            </a:r>
            <a:r>
              <a:rPr lang="en-US" altLang="ko-KR" b="1" dirty="0" smtClean="0">
                <a:solidFill>
                  <a:srgbClr val="002060"/>
                </a:solidFill>
              </a:rPr>
              <a:t>, </a:t>
            </a:r>
            <a:r>
              <a:rPr lang="ko-KR" altLang="en-US" b="1" dirty="0" smtClean="0">
                <a:solidFill>
                  <a:srgbClr val="002060"/>
                </a:solidFill>
              </a:rPr>
              <a:t>오른쪽 상단에 저장버튼을 누릅니다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추가청구파일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생성전에는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체크옆에</a:t>
            </a:r>
            <a:r>
              <a:rPr lang="ko-KR" altLang="en-US" b="1" dirty="0" smtClean="0">
                <a:solidFill>
                  <a:srgbClr val="002060"/>
                </a:solidFill>
              </a:rPr>
              <a:t> 청구금액이 생성되지 않습니다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창을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닫은후</a:t>
            </a:r>
            <a:r>
              <a:rPr lang="ko-KR" altLang="en-US" b="1" dirty="0" smtClean="0">
                <a:solidFill>
                  <a:srgbClr val="002060"/>
                </a:solidFill>
              </a:rPr>
              <a:t> 청구파일생성 하면 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715008" y="4643446"/>
            <a:ext cx="1857388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추가청구파일 생성</a:t>
            </a:r>
            <a:r>
              <a:rPr lang="en-US" altLang="ko-KR" dirty="0" smtClean="0"/>
              <a:t>]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pic>
        <p:nvPicPr>
          <p:cNvPr id="5" name="내용 개체 틀 4" descr="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050" y="285728"/>
            <a:ext cx="5111750" cy="5857915"/>
          </a:xfrm>
        </p:spPr>
      </p:pic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rgbClr val="002060"/>
                </a:solidFill>
              </a:rPr>
              <a:t>다른 조건들은 기존에 하던 방식으로 조건을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둔후</a:t>
            </a:r>
            <a:r>
              <a:rPr lang="ko-KR" altLang="en-US" b="1" dirty="0" smtClean="0">
                <a:solidFill>
                  <a:srgbClr val="002060"/>
                </a:solidFill>
              </a:rPr>
              <a:t> 청구서구분에서 </a:t>
            </a:r>
            <a:endParaRPr lang="en-US" altLang="ko-KR" b="1" dirty="0">
              <a:solidFill>
                <a:srgbClr val="00206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‘’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검진비추가지급청구서</a:t>
            </a:r>
            <a:r>
              <a:rPr lang="en-US" altLang="ko-KR" b="1" dirty="0" smtClean="0">
                <a:solidFill>
                  <a:srgbClr val="FF0000"/>
                </a:solidFill>
              </a:rPr>
              <a:t>’’ </a:t>
            </a:r>
            <a:r>
              <a:rPr lang="ko-KR" altLang="en-US" b="1" dirty="0" smtClean="0">
                <a:solidFill>
                  <a:srgbClr val="002060"/>
                </a:solidFill>
              </a:rPr>
              <a:t>메뉴를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선택한후</a:t>
            </a:r>
            <a:r>
              <a:rPr lang="ko-KR" altLang="en-US" b="1" dirty="0" smtClean="0">
                <a:solidFill>
                  <a:srgbClr val="002060"/>
                </a:solidFill>
              </a:rPr>
              <a:t> 파일을 </a:t>
            </a:r>
            <a:r>
              <a:rPr lang="ko-KR" altLang="en-US" b="1" dirty="0" smtClean="0">
                <a:solidFill>
                  <a:srgbClr val="002060"/>
                </a:solidFill>
              </a:rPr>
              <a:t>생성합니다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생성된 파일을 공단 </a:t>
            </a:r>
            <a:r>
              <a:rPr lang="en-US" altLang="ko-KR" b="1" dirty="0" smtClean="0">
                <a:solidFill>
                  <a:srgbClr val="002060"/>
                </a:solidFill>
              </a:rPr>
              <a:t>‘</a:t>
            </a:r>
            <a:r>
              <a:rPr lang="ko-KR" altLang="en-US" b="1" dirty="0" smtClean="0">
                <a:solidFill>
                  <a:srgbClr val="002060"/>
                </a:solidFill>
              </a:rPr>
              <a:t>청구시스템</a:t>
            </a:r>
            <a:r>
              <a:rPr lang="en-US" altLang="ko-KR" b="1" dirty="0" smtClean="0">
                <a:solidFill>
                  <a:srgbClr val="002060"/>
                </a:solidFill>
              </a:rPr>
              <a:t>’</a:t>
            </a:r>
            <a:r>
              <a:rPr lang="ko-KR" altLang="en-US" b="1" dirty="0" smtClean="0">
                <a:solidFill>
                  <a:srgbClr val="002060"/>
                </a:solidFill>
              </a:rPr>
              <a:t>에 연계하여 청구 진행합니다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대장내시경 뿐만 아니라 단계별로 진행하는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암검진의</a:t>
            </a:r>
            <a:r>
              <a:rPr lang="ko-KR" altLang="en-US" b="1" dirty="0" smtClean="0">
                <a:solidFill>
                  <a:srgbClr val="002060"/>
                </a:solidFill>
              </a:rPr>
              <a:t> 항목들 모두 해당됩니다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r>
              <a:rPr lang="en-US" altLang="ko-KR" b="1" dirty="0" smtClean="0">
                <a:solidFill>
                  <a:srgbClr val="002060"/>
                </a:solidFill>
              </a:rPr>
              <a:t>(</a:t>
            </a:r>
            <a:r>
              <a:rPr lang="ko-KR" altLang="en-US" b="1" dirty="0" smtClean="0">
                <a:solidFill>
                  <a:srgbClr val="002060"/>
                </a:solidFill>
              </a:rPr>
              <a:t>예</a:t>
            </a:r>
            <a:r>
              <a:rPr lang="en-US" altLang="ko-KR" b="1" dirty="0" smtClean="0">
                <a:solidFill>
                  <a:srgbClr val="002060"/>
                </a:solidFill>
              </a:rPr>
              <a:t>,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간염검사후</a:t>
            </a:r>
            <a:r>
              <a:rPr lang="ko-KR" altLang="en-US" b="1" dirty="0" smtClean="0">
                <a:solidFill>
                  <a:srgbClr val="002060"/>
                </a:solidFill>
              </a:rPr>
              <a:t> 실시</a:t>
            </a:r>
            <a:r>
              <a:rPr lang="en-US" altLang="ko-KR" b="1" dirty="0" smtClean="0">
                <a:solidFill>
                  <a:srgbClr val="002060"/>
                </a:solidFill>
              </a:rPr>
              <a:t>-&gt;</a:t>
            </a:r>
            <a:r>
              <a:rPr lang="ko-KR" altLang="en-US" b="1" dirty="0" err="1" smtClean="0">
                <a:solidFill>
                  <a:srgbClr val="002060"/>
                </a:solidFill>
              </a:rPr>
              <a:t>간초음파</a:t>
            </a:r>
            <a:r>
              <a:rPr lang="en-US" altLang="ko-KR" b="1" dirty="0" smtClean="0">
                <a:solidFill>
                  <a:srgbClr val="002060"/>
                </a:solidFill>
              </a:rPr>
              <a:t>)</a:t>
            </a:r>
          </a:p>
          <a:p>
            <a:endParaRPr lang="en-US" altLang="ko-KR" b="1" dirty="0" smtClean="0">
              <a:solidFill>
                <a:srgbClr val="002060"/>
              </a:solidFill>
            </a:endParaRPr>
          </a:p>
          <a:p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643702" y="857232"/>
            <a:ext cx="2000264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err="1" smtClean="0"/>
              <a:t>암추가검진</a:t>
            </a:r>
            <a:r>
              <a:rPr lang="ko-KR" altLang="en-US" dirty="0" smtClean="0"/>
              <a:t> 접수방법</a:t>
            </a:r>
            <a:r>
              <a:rPr lang="en-US" altLang="ko-KR" dirty="0" smtClean="0"/>
              <a:t>]</a:t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타병원에서</a:t>
            </a:r>
            <a:r>
              <a:rPr lang="ko-KR" altLang="en-US" dirty="0" smtClean="0"/>
              <a:t> 분변검사를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</a:t>
            </a:r>
            <a:r>
              <a:rPr lang="ko-KR" altLang="en-US" dirty="0" smtClean="0"/>
              <a:t>시행한 경우</a:t>
            </a:r>
            <a:endParaRPr lang="ko-KR" altLang="en-US" dirty="0"/>
          </a:p>
        </p:txBody>
      </p:sp>
      <p:pic>
        <p:nvPicPr>
          <p:cNvPr id="5" name="내용 개체 틀 4" descr="4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050" y="285728"/>
            <a:ext cx="5111750" cy="5857916"/>
          </a:xfrm>
        </p:spPr>
      </p:pic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b="1" dirty="0" err="1" smtClean="0">
                <a:solidFill>
                  <a:srgbClr val="002060"/>
                </a:solidFill>
              </a:rPr>
              <a:t>타병원에서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002060"/>
                </a:solidFill>
              </a:rPr>
              <a:t>‘</a:t>
            </a:r>
            <a:r>
              <a:rPr lang="ko-KR" altLang="en-US" b="1" dirty="0" smtClean="0">
                <a:solidFill>
                  <a:srgbClr val="002060"/>
                </a:solidFill>
              </a:rPr>
              <a:t>분변</a:t>
            </a:r>
            <a:r>
              <a:rPr lang="en-US" altLang="ko-KR" b="1" dirty="0" smtClean="0">
                <a:solidFill>
                  <a:srgbClr val="002060"/>
                </a:solidFill>
              </a:rPr>
              <a:t>’</a:t>
            </a:r>
            <a:r>
              <a:rPr lang="ko-KR" altLang="en-US" b="1" dirty="0" smtClean="0">
                <a:solidFill>
                  <a:srgbClr val="002060"/>
                </a:solidFill>
              </a:rPr>
              <a:t>검사를 시행한 경우 본원에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분변검사건에</a:t>
            </a:r>
            <a:r>
              <a:rPr lang="ko-KR" altLang="en-US" b="1" dirty="0" smtClean="0">
                <a:solidFill>
                  <a:srgbClr val="002060"/>
                </a:solidFill>
              </a:rPr>
              <a:t> 대해 청구금액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지급건이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없기때문에</a:t>
            </a:r>
            <a:r>
              <a:rPr lang="ko-KR" altLang="en-US" b="1" dirty="0" smtClean="0">
                <a:solidFill>
                  <a:srgbClr val="00206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‘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암추가검진</a:t>
            </a:r>
            <a:r>
              <a:rPr lang="en-US" altLang="ko-KR" b="1" dirty="0" smtClean="0">
                <a:solidFill>
                  <a:srgbClr val="FF0000"/>
                </a:solidFill>
              </a:rPr>
              <a:t>’</a:t>
            </a:r>
            <a:r>
              <a:rPr lang="ko-KR" altLang="en-US" b="1" dirty="0" smtClean="0">
                <a:solidFill>
                  <a:srgbClr val="FF0000"/>
                </a:solidFill>
              </a:rPr>
              <a:t>체크를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하지않고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002060"/>
                </a:solidFill>
              </a:rPr>
              <a:t>일반으로 접수합니다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대장내시경 결과 입력</a:t>
            </a:r>
            <a:r>
              <a:rPr lang="en-US" altLang="ko-KR" dirty="0" smtClean="0"/>
              <a:t>]</a:t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타병원에서</a:t>
            </a:r>
            <a:r>
              <a:rPr lang="ko-KR" altLang="en-US" dirty="0" smtClean="0"/>
              <a:t> 분변검사를    시행한 경우</a:t>
            </a:r>
            <a:endParaRPr lang="ko-KR" altLang="en-US" dirty="0"/>
          </a:p>
        </p:txBody>
      </p:sp>
      <p:pic>
        <p:nvPicPr>
          <p:cNvPr id="5" name="내용 개체 틀 4" descr="5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050" y="285728"/>
            <a:ext cx="5111750" cy="5786478"/>
          </a:xfrm>
        </p:spPr>
      </p:pic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rgbClr val="002060"/>
                </a:solidFill>
              </a:rPr>
              <a:t>대장내시경 결과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입력창에</a:t>
            </a:r>
            <a:r>
              <a:rPr lang="ko-KR" altLang="en-US" b="1" dirty="0" smtClean="0">
                <a:solidFill>
                  <a:srgbClr val="002060"/>
                </a:solidFill>
              </a:rPr>
              <a:t> 결과를 입력한 후 하단의 </a:t>
            </a:r>
            <a:r>
              <a:rPr lang="en-US" altLang="ko-KR" b="1" dirty="0" smtClean="0">
                <a:solidFill>
                  <a:srgbClr val="002060"/>
                </a:solidFill>
              </a:rPr>
              <a:t>‘’</a:t>
            </a:r>
            <a:r>
              <a:rPr lang="ko-KR" altLang="en-US" b="1" dirty="0" smtClean="0">
                <a:solidFill>
                  <a:srgbClr val="002060"/>
                </a:solidFill>
              </a:rPr>
              <a:t>완료</a:t>
            </a:r>
            <a:r>
              <a:rPr lang="en-US" altLang="ko-KR" b="1" dirty="0" smtClean="0">
                <a:solidFill>
                  <a:srgbClr val="002060"/>
                </a:solidFill>
              </a:rPr>
              <a:t>’’</a:t>
            </a:r>
            <a:r>
              <a:rPr lang="ko-KR" altLang="en-US" b="1" dirty="0" smtClean="0">
                <a:solidFill>
                  <a:srgbClr val="002060"/>
                </a:solidFill>
              </a:rPr>
              <a:t>버튼을 클릭하여 빨갛게 보이도록 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en-US" altLang="ko-KR" b="1" dirty="0" smtClean="0">
                <a:solidFill>
                  <a:srgbClr val="002060"/>
                </a:solidFill>
              </a:rPr>
              <a:t>‘’</a:t>
            </a:r>
            <a:r>
              <a:rPr lang="ko-KR" altLang="en-US" b="1" dirty="0" smtClean="0">
                <a:solidFill>
                  <a:srgbClr val="002060"/>
                </a:solidFill>
              </a:rPr>
              <a:t>완료</a:t>
            </a:r>
            <a:r>
              <a:rPr lang="en-US" altLang="ko-KR" b="1" dirty="0" smtClean="0">
                <a:solidFill>
                  <a:srgbClr val="002060"/>
                </a:solidFill>
              </a:rPr>
              <a:t>’’</a:t>
            </a:r>
            <a:r>
              <a:rPr lang="ko-KR" altLang="en-US" b="1" dirty="0" smtClean="0">
                <a:solidFill>
                  <a:srgbClr val="002060"/>
                </a:solidFill>
              </a:rPr>
              <a:t>버튼이 눌러진 </a:t>
            </a:r>
            <a:r>
              <a:rPr lang="ko-KR" altLang="en-US" b="1" dirty="0" err="1" smtClean="0">
                <a:solidFill>
                  <a:srgbClr val="002060"/>
                </a:solidFill>
              </a:rPr>
              <a:t>상태일때</a:t>
            </a:r>
            <a:r>
              <a:rPr lang="ko-KR" altLang="en-US" b="1" dirty="0" smtClean="0">
                <a:solidFill>
                  <a:srgbClr val="002060"/>
                </a:solidFill>
              </a:rPr>
              <a:t> 출력 및 청구가 가능합니다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929322" y="1357298"/>
            <a:ext cx="1357322" cy="2786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215074" y="4857760"/>
            <a:ext cx="428628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청구파일 </a:t>
            </a:r>
            <a:r>
              <a:rPr lang="ko-KR" altLang="en-US" dirty="0" smtClean="0"/>
              <a:t>생성</a:t>
            </a:r>
            <a:r>
              <a:rPr lang="en-US" altLang="ko-KR" dirty="0" smtClean="0"/>
              <a:t>]</a:t>
            </a:r>
            <a:br>
              <a:rPr lang="en-US" altLang="ko-KR" dirty="0" smtClean="0"/>
            </a:br>
            <a:r>
              <a:rPr lang="en-US" altLang="ko-KR" dirty="0" smtClean="0"/>
              <a:t>-</a:t>
            </a:r>
            <a:r>
              <a:rPr lang="ko-KR" altLang="en-US" dirty="0" err="1" smtClean="0"/>
              <a:t>타병원에서</a:t>
            </a:r>
            <a:r>
              <a:rPr lang="ko-KR" altLang="en-US" dirty="0" smtClean="0"/>
              <a:t> 분변검사를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시행한 경우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ko-KR" altLang="en-US" dirty="0"/>
          </a:p>
        </p:txBody>
      </p:sp>
      <p:pic>
        <p:nvPicPr>
          <p:cNvPr id="5" name="내용 개체 틀 4" descr="6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050" y="285728"/>
            <a:ext cx="5111750" cy="5857915"/>
          </a:xfrm>
        </p:spPr>
      </p:pic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rgbClr val="002060"/>
                </a:solidFill>
              </a:rPr>
              <a:t>청구서 파일 생성시 추가청구와는 다르게 </a:t>
            </a:r>
            <a:r>
              <a:rPr lang="en-US" altLang="ko-KR" b="1" dirty="0" smtClean="0">
                <a:solidFill>
                  <a:srgbClr val="002060"/>
                </a:solidFill>
              </a:rPr>
              <a:t>‘</a:t>
            </a:r>
            <a:r>
              <a:rPr lang="ko-KR" altLang="en-US" b="1" dirty="0" smtClean="0">
                <a:solidFill>
                  <a:srgbClr val="002060"/>
                </a:solidFill>
              </a:rPr>
              <a:t>청구서구분</a:t>
            </a:r>
            <a:r>
              <a:rPr lang="en-US" altLang="ko-KR" b="1" dirty="0" smtClean="0">
                <a:solidFill>
                  <a:srgbClr val="002060"/>
                </a:solidFill>
              </a:rPr>
              <a:t>-</a:t>
            </a:r>
            <a:r>
              <a:rPr lang="ko-KR" altLang="en-US" b="1" dirty="0" err="1" smtClean="0">
                <a:solidFill>
                  <a:srgbClr val="FF0000"/>
                </a:solidFill>
              </a:rPr>
              <a:t>검진비</a:t>
            </a:r>
            <a:r>
              <a:rPr lang="ko-KR" altLang="en-US" b="1" dirty="0" smtClean="0">
                <a:solidFill>
                  <a:srgbClr val="FF0000"/>
                </a:solidFill>
              </a:rPr>
              <a:t> 지급 청구서</a:t>
            </a:r>
            <a:r>
              <a:rPr lang="en-US" altLang="ko-KR" b="1" dirty="0" smtClean="0">
                <a:solidFill>
                  <a:srgbClr val="002060"/>
                </a:solidFill>
              </a:rPr>
              <a:t>’ </a:t>
            </a:r>
            <a:r>
              <a:rPr lang="ko-KR" altLang="en-US" b="1" dirty="0" smtClean="0">
                <a:solidFill>
                  <a:srgbClr val="002060"/>
                </a:solidFill>
              </a:rPr>
              <a:t>구분을 놓고 파일을 생성합니다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 smtClean="0">
              <a:solidFill>
                <a:srgbClr val="002060"/>
              </a:solidFill>
            </a:endParaRPr>
          </a:p>
          <a:p>
            <a:r>
              <a:rPr lang="ko-KR" altLang="en-US" b="1" dirty="0" smtClean="0">
                <a:solidFill>
                  <a:srgbClr val="002060"/>
                </a:solidFill>
              </a:rPr>
              <a:t>생성된 파일을 공단 </a:t>
            </a:r>
            <a:r>
              <a:rPr lang="en-US" altLang="ko-KR" b="1" dirty="0" smtClean="0">
                <a:solidFill>
                  <a:srgbClr val="002060"/>
                </a:solidFill>
              </a:rPr>
              <a:t>‘</a:t>
            </a:r>
            <a:r>
              <a:rPr lang="ko-KR" altLang="en-US" b="1" dirty="0" smtClean="0">
                <a:solidFill>
                  <a:srgbClr val="002060"/>
                </a:solidFill>
              </a:rPr>
              <a:t>청구시스템</a:t>
            </a:r>
            <a:r>
              <a:rPr lang="en-US" altLang="ko-KR" b="1" dirty="0" smtClean="0">
                <a:solidFill>
                  <a:srgbClr val="002060"/>
                </a:solidFill>
              </a:rPr>
              <a:t>’</a:t>
            </a:r>
            <a:r>
              <a:rPr lang="ko-KR" altLang="en-US" b="1" dirty="0" smtClean="0">
                <a:solidFill>
                  <a:srgbClr val="002060"/>
                </a:solidFill>
              </a:rPr>
              <a:t>에 연계하여 청구 진행합니다</a:t>
            </a:r>
            <a:r>
              <a:rPr lang="en-US" altLang="ko-KR" b="1" dirty="0" smtClean="0">
                <a:solidFill>
                  <a:srgbClr val="002060"/>
                </a:solidFill>
              </a:rPr>
              <a:t>.</a:t>
            </a:r>
          </a:p>
          <a:p>
            <a:endParaRPr lang="en-US" altLang="ko-KR" b="1" dirty="0" smtClean="0">
              <a:solidFill>
                <a:srgbClr val="002060"/>
              </a:solidFill>
            </a:endParaRPr>
          </a:p>
          <a:p>
            <a:endParaRPr lang="ko-KR" altLang="en-US" b="1" dirty="0">
              <a:solidFill>
                <a:srgbClr val="00206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643702" y="857232"/>
            <a:ext cx="2000264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325</Words>
  <Application>Microsoft Office PowerPoint</Application>
  <PresentationFormat>화면 슬라이드 쇼(4:3)</PresentationFormat>
  <Paragraphs>61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암검진 추가청구 방법</vt:lpstr>
      <vt:lpstr>[암추가검진 접수방법] -본원에서 분변검사   시행한 경우  </vt:lpstr>
      <vt:lpstr>‘암검진추가’체크박스를 못하고  접수한 경우</vt:lpstr>
      <vt:lpstr>[대장내시경 결과 입력] </vt:lpstr>
      <vt:lpstr>[추가청구체크] </vt:lpstr>
      <vt:lpstr>[추가청구파일 생성] </vt:lpstr>
      <vt:lpstr>[암추가검진 접수방법] -타병원에서 분변검사를  시행한 경우</vt:lpstr>
      <vt:lpstr>[대장내시경 결과 입력] -타병원에서 분변검사를    시행한 경우</vt:lpstr>
      <vt:lpstr>[청구파일 생성] -타병원에서 분변검사를 시행한 경우 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빌 게이츠</dc:creator>
  <cp:lastModifiedBy>빌 게이츠</cp:lastModifiedBy>
  <cp:revision>24</cp:revision>
  <dcterms:created xsi:type="dcterms:W3CDTF">2014-02-11T09:24:59Z</dcterms:created>
  <dcterms:modified xsi:type="dcterms:W3CDTF">2014-02-11T10:48:23Z</dcterms:modified>
</cp:coreProperties>
</file>