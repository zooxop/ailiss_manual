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1" r:id="rId4"/>
    <p:sldId id="266" r:id="rId5"/>
    <p:sldId id="258" r:id="rId6"/>
    <p:sldId id="259" r:id="rId7"/>
    <p:sldId id="260" r:id="rId8"/>
    <p:sldId id="262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4A48D-EB88-4A95-BD89-8D9A47338D39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CF286-024F-4BF1-ACAE-40889D98C9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9F4E37F-DCE4-40DB-8E4F-0A64A9DFD671}" type="datetimeFigureOut">
              <a:rPr lang="ko-KR" altLang="en-US" smtClean="0"/>
              <a:pPr/>
              <a:t>2010-02-08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49D3562-B830-4DBD-8D73-9448E7935D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57356" y="1214422"/>
            <a:ext cx="6477000" cy="1828800"/>
          </a:xfrm>
        </p:spPr>
        <p:txBody>
          <a:bodyPr>
            <a:normAutofit/>
          </a:bodyPr>
          <a:lstStyle/>
          <a:p>
            <a:r>
              <a:rPr lang="ko-KR" altLang="en-US" sz="7200" dirty="0" smtClean="0"/>
              <a:t>건강검진 결과입력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의</a:t>
            </a:r>
            <a:r>
              <a:rPr lang="en-US" altLang="ko-KR" dirty="0" smtClean="0"/>
              <a:t>)</a:t>
            </a:r>
            <a:r>
              <a:rPr lang="ko-KR" altLang="en-US" dirty="0" smtClean="0"/>
              <a:t>고담의료재단 </a:t>
            </a:r>
            <a:r>
              <a:rPr lang="ko-KR" altLang="en-US" dirty="0" err="1" smtClean="0"/>
              <a:t>마더스병원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072330" y="5286388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by. al2777g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프로그램 실행 </a:t>
            </a:r>
            <a:endParaRPr lang="ko-KR" altLang="en-US" dirty="0"/>
          </a:p>
        </p:txBody>
      </p:sp>
      <p:pic>
        <p:nvPicPr>
          <p:cNvPr id="4" name="내용 개체 틀 3" descr="000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286248" y="1714488"/>
            <a:ext cx="4500594" cy="4929222"/>
          </a:xfrm>
        </p:spPr>
      </p:pic>
      <p:pic>
        <p:nvPicPr>
          <p:cNvPr id="5" name="그림 4" descr="202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720" y="2071678"/>
            <a:ext cx="3214677" cy="107157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3643306" y="2357430"/>
            <a:ext cx="642942" cy="571504"/>
          </a:xfrm>
          <a:prstGeom prst="rightArrow">
            <a:avLst>
              <a:gd name="adj1" fmla="val 50000"/>
              <a:gd name="adj2" fmla="val 751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85720" y="228599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①</a:t>
            </a:r>
            <a:endParaRPr lang="ko-KR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4414" y="228599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596" y="3786190"/>
            <a:ext cx="3429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바탕화면의 </a:t>
            </a:r>
            <a:r>
              <a:rPr lang="ko-KR" altLang="en-US" sz="2000" dirty="0" err="1" smtClean="0">
                <a:latin typeface="+mn-ea"/>
              </a:rPr>
              <a:t>아름누리</a:t>
            </a:r>
            <a:r>
              <a:rPr lang="ko-KR" altLang="en-US" sz="2000" dirty="0" smtClean="0">
                <a:latin typeface="+mn-ea"/>
              </a:rPr>
              <a:t> 프로그램을 실행한다</a:t>
            </a:r>
            <a:r>
              <a:rPr lang="en-US" altLang="ko-KR" sz="2000" dirty="0" smtClean="0">
                <a:latin typeface="+mn-ea"/>
              </a:rPr>
              <a:t>.</a:t>
            </a:r>
          </a:p>
          <a:p>
            <a:r>
              <a:rPr lang="ko-KR" altLang="en-US" sz="2000" dirty="0" smtClean="0">
                <a:latin typeface="+mn-ea"/>
              </a:rPr>
              <a:t>먼저 검진 업데이트를 한 후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사과모양의 아이콘인 검진프로그램을 실행하면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우측과 같은 화면이 생성된다</a:t>
            </a:r>
            <a:r>
              <a:rPr lang="en-US" altLang="ko-KR" sz="2000" dirty="0" smtClean="0">
                <a:latin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연동 </a:t>
            </a:r>
            <a:r>
              <a:rPr lang="en-US" altLang="ko-KR" dirty="0" smtClean="0"/>
              <a:t>1-1</a:t>
            </a:r>
            <a:endParaRPr lang="ko-KR" altLang="en-US" dirty="0"/>
          </a:p>
        </p:txBody>
      </p:sp>
      <p:pic>
        <p:nvPicPr>
          <p:cNvPr id="4" name="내용 개체 틀 3" descr="2020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928802"/>
            <a:ext cx="3000364" cy="733425"/>
          </a:xfrm>
        </p:spPr>
      </p:pic>
      <p:sp>
        <p:nvSpPr>
          <p:cNvPr id="5" name="TextBox 4"/>
          <p:cNvSpPr txBox="1"/>
          <p:nvPr/>
        </p:nvSpPr>
        <p:spPr>
          <a:xfrm>
            <a:off x="3071802" y="2071678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바탕화면의 프로그램 중 연동프로그램을 실행한다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14942" y="2571744"/>
            <a:ext cx="4214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검진일자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사업장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성명 등  지정하여 </a:t>
            </a:r>
            <a:endParaRPr lang="en-US" altLang="ko-KR" dirty="0" smtClean="0"/>
          </a:p>
          <a:p>
            <a:r>
              <a:rPr lang="ko-KR" altLang="en-US" dirty="0" smtClean="0"/>
              <a:t> 조회를 하여 연동하고자 하는 사람이 나타나면 </a:t>
            </a:r>
            <a:endParaRPr lang="en-US" altLang="ko-KR" dirty="0" smtClean="0"/>
          </a:p>
          <a:p>
            <a:r>
              <a:rPr lang="ko-KR" altLang="en-US" dirty="0" smtClean="0"/>
              <a:t>검진일자 앞에 네모난 칸을 클릭하여 </a:t>
            </a:r>
            <a:endParaRPr lang="en-US" altLang="ko-KR" dirty="0" smtClean="0"/>
          </a:p>
          <a:p>
            <a:r>
              <a:rPr lang="ko-KR" altLang="en-US" dirty="0" smtClean="0"/>
              <a:t>연동하게  되면  </a:t>
            </a:r>
            <a:r>
              <a:rPr lang="en-US" altLang="ko-KR" dirty="0" smtClean="0"/>
              <a:t>MOD</a:t>
            </a:r>
            <a:r>
              <a:rPr lang="ko-KR" altLang="en-US" dirty="0" smtClean="0"/>
              <a:t>의 결과가 아름누리로도 등록된다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9" name="그림 8" descr="55555555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786058"/>
            <a:ext cx="4572000" cy="4071942"/>
          </a:xfrm>
          <a:prstGeom prst="rect">
            <a:avLst/>
          </a:prstGeom>
        </p:spPr>
      </p:pic>
      <p:pic>
        <p:nvPicPr>
          <p:cNvPr id="10" name="그림 9" descr="666666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57752" y="3857628"/>
            <a:ext cx="3786214" cy="2828926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5643570" y="6500834"/>
            <a:ext cx="357190" cy="2143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액자 11"/>
          <p:cNvSpPr/>
          <p:nvPr/>
        </p:nvSpPr>
        <p:spPr>
          <a:xfrm>
            <a:off x="7572396" y="5500702"/>
            <a:ext cx="1143008" cy="500066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액자 12"/>
          <p:cNvSpPr/>
          <p:nvPr/>
        </p:nvSpPr>
        <p:spPr>
          <a:xfrm>
            <a:off x="0" y="2857496"/>
            <a:ext cx="1714480" cy="1500198"/>
          </a:xfrm>
          <a:prstGeom prst="frame">
            <a:avLst>
              <a:gd name="adj1" fmla="val 37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857356" y="2526025"/>
            <a:ext cx="1000132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 </a:t>
            </a:r>
            <a:r>
              <a:rPr lang="ko-KR" altLang="en-US" dirty="0" smtClean="0"/>
              <a:t>연동 </a:t>
            </a:r>
            <a:r>
              <a:rPr lang="en-US" altLang="ko-KR" dirty="0" smtClean="0"/>
              <a:t>1-2</a:t>
            </a:r>
            <a:endParaRPr lang="ko-KR" altLang="en-US" dirty="0"/>
          </a:p>
        </p:txBody>
      </p:sp>
      <p:pic>
        <p:nvPicPr>
          <p:cNvPr id="4" name="내용 개체 틀 3" descr="a1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785926"/>
            <a:ext cx="3619500" cy="1295400"/>
          </a:xfrm>
        </p:spPr>
      </p:pic>
      <p:pic>
        <p:nvPicPr>
          <p:cNvPr id="5" name="그림 4" descr="a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3643314"/>
            <a:ext cx="3643338" cy="2956234"/>
          </a:xfrm>
          <a:prstGeom prst="rect">
            <a:avLst/>
          </a:prstGeom>
        </p:spPr>
      </p:pic>
      <p:sp>
        <p:nvSpPr>
          <p:cNvPr id="6" name="아래쪽 화살표 5"/>
          <p:cNvSpPr/>
          <p:nvPr/>
        </p:nvSpPr>
        <p:spPr>
          <a:xfrm>
            <a:off x="1785918" y="3143248"/>
            <a:ext cx="500066" cy="42862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액자 6"/>
          <p:cNvSpPr/>
          <p:nvPr/>
        </p:nvSpPr>
        <p:spPr>
          <a:xfrm>
            <a:off x="285720" y="5929330"/>
            <a:ext cx="3429024" cy="428628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14810" y="3071810"/>
            <a:ext cx="45005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연동프로그램 상위 메뉴 중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부가기능 </a:t>
            </a:r>
            <a:r>
              <a:rPr lang="en-US" altLang="ko-KR" dirty="0" smtClean="0"/>
              <a:t>-&gt; LDL  </a:t>
            </a:r>
            <a:r>
              <a:rPr lang="ko-KR" altLang="en-US" dirty="0" smtClean="0"/>
              <a:t>및 </a:t>
            </a:r>
            <a:r>
              <a:rPr lang="en-US" altLang="ko-KR" dirty="0"/>
              <a:t> </a:t>
            </a:r>
            <a:r>
              <a:rPr lang="en-US" altLang="ko-KR" dirty="0" smtClean="0"/>
              <a:t>GFR </a:t>
            </a:r>
            <a:r>
              <a:rPr lang="ko-KR" altLang="en-US" dirty="0" smtClean="0"/>
              <a:t>자동계산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실행하면  좌측 화면이 생성되는데 조건을 맞추어 실행하면 된다</a:t>
            </a:r>
            <a:r>
              <a:rPr lang="en-US" altLang="ko-KR" dirty="0" smtClean="0"/>
              <a:t>.</a:t>
            </a:r>
          </a:p>
        </p:txBody>
      </p:sp>
      <p:sp>
        <p:nvSpPr>
          <p:cNvPr id="9" name="액자 8"/>
          <p:cNvSpPr/>
          <p:nvPr/>
        </p:nvSpPr>
        <p:spPr>
          <a:xfrm>
            <a:off x="0" y="1714488"/>
            <a:ext cx="2428860" cy="714380"/>
          </a:xfrm>
          <a:prstGeom prst="frame">
            <a:avLst>
              <a:gd name="adj1" fmla="val 518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pic>
        <p:nvPicPr>
          <p:cNvPr id="4" name="내용 개체 틀 3" descr="212121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9144000" cy="5357826"/>
          </a:xfrm>
        </p:spPr>
      </p:pic>
      <p:sp>
        <p:nvSpPr>
          <p:cNvPr id="5" name="왼쪽 화살표 설명선 4"/>
          <p:cNvSpPr/>
          <p:nvPr/>
        </p:nvSpPr>
        <p:spPr>
          <a:xfrm>
            <a:off x="2928926" y="1643050"/>
            <a:ext cx="3143272" cy="178595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803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714744" y="1785926"/>
            <a:ext cx="2214578" cy="1571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+mn-ea"/>
              </a:rPr>
              <a:t>입력하고자 하는 </a:t>
            </a:r>
            <a:endParaRPr lang="en-US" altLang="ko-KR" sz="2400" dirty="0" smtClean="0">
              <a:latin typeface="+mn-ea"/>
            </a:endParaRPr>
          </a:p>
          <a:p>
            <a:r>
              <a:rPr lang="ko-KR" altLang="en-US" sz="2400" dirty="0" smtClean="0">
                <a:latin typeface="+mn-ea"/>
              </a:rPr>
              <a:t>사람의 이름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검진기간</a:t>
            </a:r>
            <a:r>
              <a:rPr lang="en-US" altLang="ko-KR" sz="2400" dirty="0" smtClean="0">
                <a:latin typeface="+mn-ea"/>
              </a:rPr>
              <a:t>, </a:t>
            </a:r>
          </a:p>
          <a:p>
            <a:r>
              <a:rPr lang="ko-KR" altLang="en-US" sz="2400" dirty="0" smtClean="0">
                <a:latin typeface="+mn-ea"/>
              </a:rPr>
              <a:t>사업장을 지정하여 </a:t>
            </a:r>
            <a:endParaRPr lang="en-US" altLang="ko-KR" sz="2400" dirty="0" smtClean="0">
              <a:latin typeface="+mn-ea"/>
            </a:endParaRPr>
          </a:p>
          <a:p>
            <a:r>
              <a:rPr lang="ko-KR" altLang="en-US" sz="2400" dirty="0" smtClean="0">
                <a:latin typeface="+mn-ea"/>
              </a:rPr>
              <a:t>찾기를 누른다</a:t>
            </a:r>
            <a:r>
              <a:rPr lang="en-US" altLang="ko-KR" sz="2400" dirty="0" smtClean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sp>
        <p:nvSpPr>
          <p:cNvPr id="7" name="액자 6"/>
          <p:cNvSpPr/>
          <p:nvPr/>
        </p:nvSpPr>
        <p:spPr>
          <a:xfrm>
            <a:off x="2428860" y="1785926"/>
            <a:ext cx="857256" cy="28575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85918" y="2212966"/>
            <a:ext cx="642942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액자 10"/>
          <p:cNvSpPr/>
          <p:nvPr/>
        </p:nvSpPr>
        <p:spPr>
          <a:xfrm>
            <a:off x="571472" y="2143116"/>
            <a:ext cx="928694" cy="357190"/>
          </a:xfrm>
          <a:prstGeom prst="frame">
            <a:avLst>
              <a:gd name="adj1" fmla="val 88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2643182"/>
            <a:ext cx="250029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위쪽 화살표 설명선 14"/>
          <p:cNvSpPr/>
          <p:nvPr/>
        </p:nvSpPr>
        <p:spPr>
          <a:xfrm>
            <a:off x="428596" y="3714752"/>
            <a:ext cx="2286016" cy="2214578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7031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2910" y="4429132"/>
            <a:ext cx="22145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/>
              <a:t>입력하고자 하는 </a:t>
            </a:r>
            <a:endParaRPr lang="en-US" altLang="ko-KR" sz="2400" dirty="0" smtClean="0"/>
          </a:p>
          <a:p>
            <a:r>
              <a:rPr lang="ko-KR" altLang="en-US" sz="2400" dirty="0" smtClean="0"/>
              <a:t>사람이 검색됐을 때  우측에 결과도 </a:t>
            </a:r>
            <a:endParaRPr lang="en-US" altLang="ko-KR" sz="2400" dirty="0" smtClean="0"/>
          </a:p>
          <a:p>
            <a:r>
              <a:rPr lang="ko-KR" altLang="en-US" sz="2400" dirty="0" smtClean="0"/>
              <a:t>같이 나타난다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결과 확인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입력</a:t>
            </a:r>
            <a:endParaRPr lang="ko-KR" altLang="en-US" dirty="0"/>
          </a:p>
        </p:txBody>
      </p:sp>
      <p:pic>
        <p:nvPicPr>
          <p:cNvPr id="4" name="내용 개체 틀 3" descr="2222222222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71612"/>
            <a:ext cx="3000364" cy="5286388"/>
          </a:xfrm>
        </p:spPr>
      </p:pic>
      <p:sp>
        <p:nvSpPr>
          <p:cNvPr id="5" name="TextBox 4"/>
          <p:cNvSpPr txBox="1"/>
          <p:nvPr/>
        </p:nvSpPr>
        <p:spPr>
          <a:xfrm>
            <a:off x="3357554" y="1643050"/>
            <a:ext cx="5214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혈액 검사 결과수치가 차트에 적힌 수치와 동일한지 확인하고</a:t>
            </a:r>
            <a:r>
              <a:rPr lang="en-US" altLang="ko-KR" sz="2000" dirty="0">
                <a:latin typeface="+mn-ea"/>
              </a:rPr>
              <a:t>,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 </a:t>
            </a:r>
            <a:r>
              <a:rPr lang="ko-KR" altLang="en-US" sz="2000" dirty="0" smtClean="0">
                <a:latin typeface="+mn-ea"/>
              </a:rPr>
              <a:t>흉부 </a:t>
            </a:r>
            <a:r>
              <a:rPr lang="en-US" altLang="ko-KR" sz="2000" dirty="0" smtClean="0">
                <a:latin typeface="+mn-ea"/>
              </a:rPr>
              <a:t>X</a:t>
            </a:r>
            <a:r>
              <a:rPr lang="ko-KR" altLang="en-US" sz="2000" dirty="0" smtClean="0">
                <a:latin typeface="+mn-ea"/>
              </a:rPr>
              <a:t>선 촬영 결과를  기록지에서 찾아 입력한다</a:t>
            </a:r>
            <a:r>
              <a:rPr lang="en-US" altLang="ko-KR" sz="2000" dirty="0" smtClean="0">
                <a:latin typeface="+mn-ea"/>
              </a:rPr>
              <a:t>.</a:t>
            </a:r>
          </a:p>
          <a:p>
            <a:r>
              <a:rPr lang="en-US" altLang="ko-KR" sz="2000" dirty="0" smtClean="0">
                <a:latin typeface="+mn-ea"/>
              </a:rPr>
              <a:t>* </a:t>
            </a:r>
            <a:r>
              <a:rPr lang="ko-KR" altLang="en-US" sz="2000" dirty="0" smtClean="0">
                <a:latin typeface="+mn-ea"/>
              </a:rPr>
              <a:t>차트와 </a:t>
            </a:r>
            <a:r>
              <a:rPr lang="ko-KR" altLang="en-US" sz="2000" dirty="0" err="1" smtClean="0">
                <a:latin typeface="+mn-ea"/>
              </a:rPr>
              <a:t>아름누리상의</a:t>
            </a:r>
            <a:r>
              <a:rPr lang="ko-KR" altLang="en-US" sz="2000" dirty="0" smtClean="0">
                <a:latin typeface="+mn-ea"/>
              </a:rPr>
              <a:t> 결과가 다를 시 </a:t>
            </a:r>
            <a:r>
              <a:rPr lang="en-US" altLang="ko-KR" sz="2000" dirty="0" smtClean="0">
                <a:latin typeface="+mn-ea"/>
              </a:rPr>
              <a:t>MOD</a:t>
            </a:r>
            <a:r>
              <a:rPr lang="ko-KR" altLang="en-US" sz="2000" dirty="0" smtClean="0">
                <a:latin typeface="+mn-ea"/>
              </a:rPr>
              <a:t>프로그램을 통해 확인한다</a:t>
            </a:r>
            <a:r>
              <a:rPr lang="en-US" altLang="ko-KR" sz="20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7" name="그림 6" descr="212121212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4678" y="3071810"/>
            <a:ext cx="2000264" cy="1756095"/>
          </a:xfrm>
          <a:prstGeom prst="rect">
            <a:avLst/>
          </a:prstGeom>
        </p:spPr>
      </p:pic>
      <p:sp>
        <p:nvSpPr>
          <p:cNvPr id="8" name="액자 7"/>
          <p:cNvSpPr/>
          <p:nvPr/>
        </p:nvSpPr>
        <p:spPr>
          <a:xfrm>
            <a:off x="4643438" y="4000504"/>
            <a:ext cx="500066" cy="357190"/>
          </a:xfrm>
          <a:prstGeom prst="frame">
            <a:avLst>
              <a:gd name="adj1" fmla="val 73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3214678" y="4284668"/>
            <a:ext cx="642942" cy="1588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33333333333333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57520" y="3000372"/>
            <a:ext cx="3786480" cy="2862265"/>
          </a:xfrm>
          <a:prstGeom prst="rect">
            <a:avLst/>
          </a:prstGeom>
        </p:spPr>
      </p:pic>
      <p:sp>
        <p:nvSpPr>
          <p:cNvPr id="16" name="오른쪽 화살표 15"/>
          <p:cNvSpPr/>
          <p:nvPr/>
        </p:nvSpPr>
        <p:spPr>
          <a:xfrm>
            <a:off x="5286380" y="4143380"/>
            <a:ext cx="285752" cy="2143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143240" y="6000768"/>
            <a:ext cx="62151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00" dirty="0" smtClean="0">
                <a:latin typeface="+mn-ea"/>
              </a:rPr>
              <a:t>MOD</a:t>
            </a:r>
            <a:r>
              <a:rPr lang="ko-KR" altLang="en-US" sz="1900" dirty="0" smtClean="0">
                <a:latin typeface="+mn-ea"/>
              </a:rPr>
              <a:t>에서 지원부서 </a:t>
            </a:r>
            <a:r>
              <a:rPr lang="en-US" altLang="ko-KR" sz="1900" dirty="0" smtClean="0">
                <a:latin typeface="+mn-ea"/>
              </a:rPr>
              <a:t>-&gt; </a:t>
            </a:r>
            <a:r>
              <a:rPr lang="ko-KR" altLang="en-US" sz="1900" dirty="0" smtClean="0">
                <a:latin typeface="+mn-ea"/>
              </a:rPr>
              <a:t>임상병리</a:t>
            </a:r>
            <a:r>
              <a:rPr lang="en-US" altLang="ko-KR" sz="1900" dirty="0" smtClean="0">
                <a:latin typeface="+mn-ea"/>
              </a:rPr>
              <a:t>-&gt;(</a:t>
            </a:r>
            <a:r>
              <a:rPr lang="ko-KR" altLang="en-US" sz="1900" dirty="0" smtClean="0">
                <a:latin typeface="+mn-ea"/>
              </a:rPr>
              <a:t>상위메뉴</a:t>
            </a:r>
            <a:r>
              <a:rPr lang="en-US" altLang="ko-KR" sz="1900" dirty="0" smtClean="0">
                <a:latin typeface="+mn-ea"/>
              </a:rPr>
              <a:t>)</a:t>
            </a:r>
            <a:r>
              <a:rPr lang="ko-KR" altLang="en-US" sz="1900" dirty="0" smtClean="0">
                <a:latin typeface="+mn-ea"/>
              </a:rPr>
              <a:t>임상병리</a:t>
            </a:r>
            <a:r>
              <a:rPr lang="en-US" altLang="ko-KR" sz="1900" dirty="0" smtClean="0">
                <a:latin typeface="+mn-ea"/>
              </a:rPr>
              <a:t>-&gt; </a:t>
            </a:r>
            <a:r>
              <a:rPr lang="ko-KR" altLang="en-US" sz="1900" dirty="0" smtClean="0">
                <a:latin typeface="+mn-ea"/>
              </a:rPr>
              <a:t>검사결과정보에  들어가 </a:t>
            </a:r>
            <a:endParaRPr lang="en-US" altLang="ko-KR" sz="1900" dirty="0" smtClean="0">
              <a:latin typeface="+mn-ea"/>
            </a:endParaRPr>
          </a:p>
          <a:p>
            <a:r>
              <a:rPr lang="ko-KR" altLang="en-US" sz="1900" dirty="0" smtClean="0">
                <a:latin typeface="+mn-ea"/>
              </a:rPr>
              <a:t>처방일자를  지정한 뒤 확인한다</a:t>
            </a:r>
            <a:r>
              <a:rPr lang="en-US" altLang="ko-KR" dirty="0" smtClean="0"/>
              <a:t>.</a:t>
            </a:r>
          </a:p>
        </p:txBody>
      </p:sp>
      <p:sp>
        <p:nvSpPr>
          <p:cNvPr id="18" name="액자 17"/>
          <p:cNvSpPr/>
          <p:nvPr/>
        </p:nvSpPr>
        <p:spPr>
          <a:xfrm>
            <a:off x="0" y="6357958"/>
            <a:ext cx="3000364" cy="500042"/>
          </a:xfrm>
          <a:prstGeom prst="frame">
            <a:avLst>
              <a:gd name="adj1" fmla="val 1044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문진 입력</a:t>
            </a:r>
            <a:endParaRPr lang="ko-KR" altLang="en-US" dirty="0"/>
          </a:p>
        </p:txBody>
      </p:sp>
      <p:pic>
        <p:nvPicPr>
          <p:cNvPr id="4" name="내용 개체 틀 3" descr="77777777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14282" y="1785926"/>
            <a:ext cx="3394226" cy="4495800"/>
          </a:xfrm>
        </p:spPr>
      </p:pic>
      <p:sp>
        <p:nvSpPr>
          <p:cNvPr id="6" name="TextBox 5"/>
          <p:cNvSpPr txBox="1"/>
          <p:nvPr/>
        </p:nvSpPr>
        <p:spPr>
          <a:xfrm>
            <a:off x="4429124" y="2643182"/>
            <a:ext cx="40719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+mn-ea"/>
              </a:rPr>
              <a:t>결과 확인</a:t>
            </a:r>
            <a:r>
              <a:rPr lang="en-US" altLang="ko-KR" sz="2400" dirty="0" smtClean="0">
                <a:latin typeface="+mn-ea"/>
              </a:rPr>
              <a:t>&amp;</a:t>
            </a:r>
            <a:r>
              <a:rPr lang="ko-KR" altLang="en-US" sz="2400" dirty="0" smtClean="0">
                <a:latin typeface="+mn-ea"/>
              </a:rPr>
              <a:t>입력 했다면 </a:t>
            </a:r>
            <a:endParaRPr lang="en-US" altLang="ko-KR" sz="2400" dirty="0" smtClean="0">
              <a:latin typeface="+mn-ea"/>
            </a:endParaRPr>
          </a:p>
          <a:p>
            <a:r>
              <a:rPr lang="ko-KR" altLang="en-US" sz="2400" dirty="0" smtClean="0">
                <a:latin typeface="+mn-ea"/>
              </a:rPr>
              <a:t>차트에 작성된  문진표를 보고 입력하고 </a:t>
            </a:r>
            <a:endParaRPr lang="en-US" altLang="ko-KR" sz="2400" dirty="0" smtClean="0">
              <a:latin typeface="+mn-ea"/>
            </a:endParaRPr>
          </a:p>
          <a:p>
            <a:r>
              <a:rPr lang="ko-KR" altLang="en-US" sz="2400" dirty="0" smtClean="0">
                <a:latin typeface="+mn-ea"/>
              </a:rPr>
              <a:t>저장하면 된다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endParaRPr lang="en-US" altLang="ko-KR" sz="2400" dirty="0" smtClean="0">
              <a:latin typeface="+mn-ea"/>
            </a:endParaRPr>
          </a:p>
          <a:p>
            <a:r>
              <a:rPr lang="en-US" altLang="ko-KR" sz="2400" dirty="0" smtClean="0">
                <a:latin typeface="+mn-ea"/>
              </a:rPr>
              <a:t>*</a:t>
            </a:r>
            <a:r>
              <a:rPr lang="ko-KR" altLang="en-US" sz="2400" dirty="0" smtClean="0">
                <a:latin typeface="+mn-ea"/>
              </a:rPr>
              <a:t>만</a:t>
            </a:r>
            <a:r>
              <a:rPr lang="en-US" altLang="ko-KR" sz="2400" dirty="0" smtClean="0">
                <a:latin typeface="+mn-ea"/>
              </a:rPr>
              <a:t>40</a:t>
            </a:r>
            <a:r>
              <a:rPr lang="ko-KR" altLang="en-US" sz="2400" dirty="0" smtClean="0">
                <a:latin typeface="+mn-ea"/>
              </a:rPr>
              <a:t>세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만</a:t>
            </a:r>
            <a:r>
              <a:rPr lang="en-US" altLang="ko-KR" sz="2400" dirty="0" smtClean="0">
                <a:latin typeface="+mn-ea"/>
              </a:rPr>
              <a:t>66</a:t>
            </a:r>
            <a:r>
              <a:rPr lang="ko-KR" altLang="en-US" sz="2400" dirty="0" smtClean="0">
                <a:latin typeface="+mn-ea"/>
              </a:rPr>
              <a:t>세 같은 경운 문진항목이 </a:t>
            </a:r>
            <a:endParaRPr lang="en-US" altLang="ko-KR" sz="2400" dirty="0" smtClean="0">
              <a:latin typeface="+mn-ea"/>
            </a:endParaRPr>
          </a:p>
          <a:p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더 있으므로 확인하고 입력해야 한다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r>
              <a:rPr lang="en-US" altLang="ko-KR" sz="2400" dirty="0" smtClean="0">
                <a:latin typeface="+mn-ea"/>
              </a:rPr>
              <a:t> </a:t>
            </a:r>
            <a:endParaRPr lang="ko-KR" altLang="en-US" sz="2400" dirty="0">
              <a:latin typeface="+mn-ea"/>
            </a:endParaRPr>
          </a:p>
        </p:txBody>
      </p:sp>
      <p:sp>
        <p:nvSpPr>
          <p:cNvPr id="7" name="액자 6"/>
          <p:cNvSpPr/>
          <p:nvPr/>
        </p:nvSpPr>
        <p:spPr>
          <a:xfrm>
            <a:off x="571472" y="1785926"/>
            <a:ext cx="357190" cy="21431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판정</a:t>
            </a:r>
            <a:endParaRPr lang="ko-KR" altLang="en-US" dirty="0"/>
          </a:p>
        </p:txBody>
      </p:sp>
      <p:pic>
        <p:nvPicPr>
          <p:cNvPr id="4" name="내용 개체 틀 3" descr="8888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500174"/>
            <a:ext cx="4643438" cy="5357826"/>
          </a:xfrm>
        </p:spPr>
      </p:pic>
      <p:sp>
        <p:nvSpPr>
          <p:cNvPr id="5" name="TextBox 4"/>
          <p:cNvSpPr txBox="1"/>
          <p:nvPr/>
        </p:nvSpPr>
        <p:spPr>
          <a:xfrm>
            <a:off x="4929190" y="2214554"/>
            <a:ext cx="40004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결과 확인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문진입력까지 다 했다면 바로 옆 메뉴인</a:t>
            </a:r>
            <a:endParaRPr lang="en-US" altLang="ko-KR" dirty="0" smtClean="0"/>
          </a:p>
          <a:p>
            <a:r>
              <a:rPr lang="en-US" altLang="ko-KR" dirty="0" smtClean="0"/>
              <a:t>1</a:t>
            </a:r>
            <a:r>
              <a:rPr lang="ko-KR" altLang="en-US" dirty="0" smtClean="0"/>
              <a:t>차 판정에 들어가서 하단에 개별자동판정을 누른다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그러면 결과판정이 자동으로 이루어지는데  과거병력과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생활습관개선이 필요하면 해당되는  버튼을  선택하고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외상 및 상태 또한 차트에 근거하여 판정을 내려준다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판정일자와 의사 명까지 판정이 완료되었으면</a:t>
            </a:r>
            <a:r>
              <a:rPr lang="en-US" altLang="ko-KR" dirty="0" smtClean="0"/>
              <a:t>, </a:t>
            </a:r>
            <a:endParaRPr lang="en-US" altLang="ko-KR" dirty="0"/>
          </a:p>
          <a:p>
            <a:r>
              <a:rPr lang="ko-KR" altLang="en-US" dirty="0" smtClean="0"/>
              <a:t>저장을  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차트에  똑같이 작성한다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6" name="액자 5"/>
          <p:cNvSpPr/>
          <p:nvPr/>
        </p:nvSpPr>
        <p:spPr>
          <a:xfrm>
            <a:off x="2143108" y="6000768"/>
            <a:ext cx="857256" cy="28575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액자 6"/>
          <p:cNvSpPr/>
          <p:nvPr/>
        </p:nvSpPr>
        <p:spPr>
          <a:xfrm>
            <a:off x="0" y="1714488"/>
            <a:ext cx="3071802" cy="714380"/>
          </a:xfrm>
          <a:prstGeom prst="frame">
            <a:avLst>
              <a:gd name="adj1" fmla="val 33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액자 7"/>
          <p:cNvSpPr/>
          <p:nvPr/>
        </p:nvSpPr>
        <p:spPr>
          <a:xfrm>
            <a:off x="2214546" y="2928934"/>
            <a:ext cx="2357454" cy="3000396"/>
          </a:xfrm>
          <a:prstGeom prst="frame">
            <a:avLst>
              <a:gd name="adj1" fmla="val 164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00628" y="4714884"/>
            <a:ext cx="39290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ko-KR" altLang="en-US" sz="1600" dirty="0" smtClean="0">
                <a:latin typeface="+mn-ea"/>
              </a:rPr>
              <a:t>흡연 </a:t>
            </a:r>
            <a:r>
              <a:rPr lang="en-US" altLang="ko-KR" sz="1600" dirty="0" smtClean="0">
                <a:latin typeface="+mn-ea"/>
              </a:rPr>
              <a:t>O -&gt; </a:t>
            </a:r>
            <a:r>
              <a:rPr lang="ko-KR" altLang="en-US" sz="1600" dirty="0" smtClean="0">
                <a:latin typeface="+mn-ea"/>
              </a:rPr>
              <a:t>흡연생활개선</a:t>
            </a:r>
            <a:endParaRPr lang="en-US" altLang="ko-KR" sz="1600" dirty="0" smtClean="0">
              <a:latin typeface="+mn-ea"/>
            </a:endParaRPr>
          </a:p>
          <a:p>
            <a:pPr>
              <a:buFont typeface="Arial" charset="0"/>
              <a:buChar char="•"/>
            </a:pP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음주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ko-KR" altLang="en-US" sz="1600" dirty="0" smtClean="0">
                <a:latin typeface="+mn-ea"/>
              </a:rPr>
              <a:t>일주일 동안 </a:t>
            </a:r>
            <a:r>
              <a:rPr lang="en-US" altLang="ko-KR" sz="1600" dirty="0" smtClean="0">
                <a:latin typeface="+mn-ea"/>
              </a:rPr>
              <a:t>4</a:t>
            </a:r>
            <a:r>
              <a:rPr lang="ko-KR" altLang="en-US" sz="1600" dirty="0" smtClean="0">
                <a:latin typeface="+mn-ea"/>
              </a:rPr>
              <a:t>일 이상 </a:t>
            </a:r>
            <a:r>
              <a:rPr lang="en-US" altLang="ko-KR" sz="1600" dirty="0" smtClean="0">
                <a:latin typeface="+mn-ea"/>
              </a:rPr>
              <a:t>10</a:t>
            </a:r>
            <a:r>
              <a:rPr lang="ko-KR" altLang="en-US" sz="1600" dirty="0" smtClean="0">
                <a:latin typeface="+mn-ea"/>
              </a:rPr>
              <a:t>잔 이상</a:t>
            </a:r>
            <a:r>
              <a:rPr lang="en-US" altLang="ko-KR" sz="1600" dirty="0" smtClean="0">
                <a:latin typeface="+mn-ea"/>
              </a:rPr>
              <a:t>) -&gt; </a:t>
            </a:r>
            <a:r>
              <a:rPr lang="ko-KR" altLang="en-US" sz="1600" dirty="0" smtClean="0">
                <a:latin typeface="+mn-ea"/>
              </a:rPr>
              <a:t>음주생활개선</a:t>
            </a:r>
            <a:endParaRPr lang="en-US" altLang="ko-KR" sz="1600" dirty="0" smtClean="0">
              <a:latin typeface="+mn-ea"/>
            </a:endParaRPr>
          </a:p>
          <a:p>
            <a:pPr>
              <a:buFont typeface="Arial" charset="0"/>
              <a:buChar char="•"/>
            </a:pPr>
            <a:r>
              <a:rPr lang="ko-KR" altLang="en-US" sz="1600" dirty="0" smtClean="0">
                <a:latin typeface="+mn-ea"/>
              </a:rPr>
              <a:t>운동 </a:t>
            </a:r>
            <a:r>
              <a:rPr lang="en-US" altLang="ko-KR" sz="1600" dirty="0" smtClean="0">
                <a:latin typeface="+mn-ea"/>
              </a:rPr>
              <a:t>X -&gt; </a:t>
            </a:r>
            <a:r>
              <a:rPr lang="ko-KR" altLang="en-US" sz="1600" dirty="0" smtClean="0">
                <a:latin typeface="+mn-ea"/>
              </a:rPr>
              <a:t>운동생활개선</a:t>
            </a:r>
            <a:endParaRPr lang="en-US" altLang="ko-KR" sz="1600" dirty="0" smtClean="0">
              <a:latin typeface="+mn-ea"/>
            </a:endParaRPr>
          </a:p>
          <a:p>
            <a:pPr>
              <a:buFont typeface="Arial" charset="0"/>
              <a:buChar char="•"/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체중 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ko-KR" altLang="en-US" sz="1600" dirty="0" smtClean="0">
                <a:latin typeface="+mn-ea"/>
              </a:rPr>
              <a:t>비만관리</a:t>
            </a:r>
            <a:r>
              <a:rPr lang="en-US" altLang="ko-KR" sz="1600" dirty="0" smtClean="0">
                <a:latin typeface="+mn-ea"/>
              </a:rPr>
              <a:t>) -&gt; </a:t>
            </a:r>
            <a:r>
              <a:rPr lang="ko-KR" altLang="en-US" sz="1600" dirty="0" smtClean="0">
                <a:latin typeface="+mn-ea"/>
              </a:rPr>
              <a:t>체중개선</a:t>
            </a:r>
            <a:endParaRPr lang="en-US" altLang="ko-KR" sz="1600" dirty="0" smtClean="0">
              <a:latin typeface="+mn-ea"/>
            </a:endParaRPr>
          </a:p>
          <a:p>
            <a:pPr>
              <a:buFont typeface="Arial" charset="0"/>
              <a:buChar char="•"/>
            </a:pPr>
            <a:r>
              <a:rPr lang="ko-KR" altLang="en-US" sz="1600" dirty="0" smtClean="0">
                <a:latin typeface="+mn-ea"/>
              </a:rPr>
              <a:t>과거병력 </a:t>
            </a:r>
            <a:r>
              <a:rPr lang="en-US" altLang="ko-KR" sz="1600" dirty="0" smtClean="0">
                <a:latin typeface="+mn-ea"/>
              </a:rPr>
              <a:t>O -&gt; </a:t>
            </a:r>
            <a:r>
              <a:rPr lang="ko-KR" altLang="en-US" sz="1600" dirty="0" smtClean="0">
                <a:latin typeface="+mn-ea"/>
              </a:rPr>
              <a:t>유 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ko-KR" altLang="en-US" sz="1600" dirty="0" smtClean="0">
                <a:latin typeface="+mn-ea"/>
              </a:rPr>
              <a:t>작성</a:t>
            </a:r>
            <a:r>
              <a:rPr lang="en-US" altLang="ko-KR" sz="1600" dirty="0" smtClean="0">
                <a:latin typeface="+mn-ea"/>
              </a:rPr>
              <a:t>) , </a:t>
            </a:r>
            <a:r>
              <a:rPr lang="ko-KR" altLang="en-US" sz="1600" dirty="0" smtClean="0">
                <a:latin typeface="+mn-ea"/>
              </a:rPr>
              <a:t>과거병력 </a:t>
            </a:r>
            <a:r>
              <a:rPr lang="en-US" altLang="ko-KR" sz="1600" dirty="0" smtClean="0">
                <a:latin typeface="+mn-ea"/>
              </a:rPr>
              <a:t>X -&gt; </a:t>
            </a:r>
            <a:r>
              <a:rPr lang="ko-KR" altLang="en-US" sz="1600" dirty="0" smtClean="0">
                <a:latin typeface="+mn-ea"/>
              </a:rPr>
              <a:t>무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ko-KR" altLang="en-US" sz="1600" dirty="0" smtClean="0">
                <a:latin typeface="+mn-ea"/>
              </a:rPr>
              <a:t>작성</a:t>
            </a:r>
            <a:r>
              <a:rPr lang="en-US" altLang="ko-KR" sz="1600" dirty="0" smtClean="0">
                <a:latin typeface="+mn-ea"/>
              </a:rPr>
              <a:t>)</a:t>
            </a:r>
          </a:p>
          <a:p>
            <a:pPr>
              <a:buFont typeface="Arial" charset="0"/>
              <a:buChar char="•"/>
            </a:pPr>
            <a:r>
              <a:rPr lang="ko-KR" altLang="en-US" sz="1600" dirty="0" smtClean="0">
                <a:latin typeface="+mn-ea"/>
              </a:rPr>
              <a:t>상태 </a:t>
            </a:r>
            <a:r>
              <a:rPr lang="en-US" altLang="ko-KR" sz="1600" dirty="0" smtClean="0">
                <a:latin typeface="+mn-ea"/>
              </a:rPr>
              <a:t>:</a:t>
            </a:r>
            <a:r>
              <a:rPr lang="ko-KR" altLang="en-US" sz="1600" dirty="0" smtClean="0">
                <a:latin typeface="+mn-ea"/>
              </a:rPr>
              <a:t>판정 </a:t>
            </a:r>
            <a:r>
              <a:rPr lang="en-US" altLang="ko-KR" sz="1600" dirty="0" smtClean="0">
                <a:latin typeface="+mn-ea"/>
              </a:rPr>
              <a:t>A(</a:t>
            </a:r>
            <a:r>
              <a:rPr lang="ko-KR" altLang="en-US" sz="1600" dirty="0" smtClean="0">
                <a:latin typeface="+mn-ea"/>
              </a:rPr>
              <a:t>정상</a:t>
            </a:r>
            <a:r>
              <a:rPr lang="en-US" altLang="ko-KR" sz="1600" dirty="0" smtClean="0">
                <a:latin typeface="+mn-ea"/>
              </a:rPr>
              <a:t>) -&gt; </a:t>
            </a:r>
          </a:p>
          <a:p>
            <a:r>
              <a:rPr lang="en-US" altLang="ko-KR" sz="1600" dirty="0" smtClean="0">
                <a:latin typeface="+mn-ea"/>
              </a:rPr>
              <a:t>         </a:t>
            </a:r>
            <a:r>
              <a:rPr lang="ko-KR" altLang="en-US" sz="1600" dirty="0" smtClean="0">
                <a:latin typeface="+mn-ea"/>
              </a:rPr>
              <a:t>양호</a:t>
            </a:r>
            <a:r>
              <a:rPr lang="en-US" altLang="ko-KR" sz="1600" dirty="0" smtClean="0">
                <a:latin typeface="+mn-ea"/>
              </a:rPr>
              <a:t> , </a:t>
            </a:r>
            <a:r>
              <a:rPr lang="ko-KR" altLang="en-US" sz="1600" dirty="0" smtClean="0">
                <a:latin typeface="+mn-ea"/>
              </a:rPr>
              <a:t>특별하게 </a:t>
            </a:r>
            <a:r>
              <a:rPr lang="ko-KR" altLang="en-US" sz="1600" dirty="0" err="1" smtClean="0">
                <a:latin typeface="+mn-ea"/>
              </a:rPr>
              <a:t>이상있지</a:t>
            </a:r>
            <a:r>
              <a:rPr lang="ko-KR" altLang="en-US" sz="1600" dirty="0" smtClean="0">
                <a:latin typeface="+mn-ea"/>
              </a:rPr>
              <a:t> 않는 이상</a:t>
            </a:r>
            <a:r>
              <a:rPr lang="en-US" altLang="ko-KR" sz="1600" dirty="0" smtClean="0">
                <a:latin typeface="+mn-ea"/>
              </a:rPr>
              <a:t>-&gt;</a:t>
            </a:r>
            <a:r>
              <a:rPr lang="ko-KR" altLang="en-US" sz="1600" dirty="0" smtClean="0">
                <a:latin typeface="+mn-ea"/>
              </a:rPr>
              <a:t>보통</a:t>
            </a:r>
            <a:endParaRPr lang="en-US" altLang="ko-KR" sz="1600" dirty="0" smtClean="0">
              <a:latin typeface="+mn-ea"/>
            </a:endParaRPr>
          </a:p>
          <a:p>
            <a:pPr>
              <a:buFont typeface="Arial" charset="0"/>
              <a:buChar char="•"/>
            </a:pPr>
            <a:endParaRPr lang="ko-KR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173</TotalTime>
  <Words>323</Words>
  <Application>Microsoft Office PowerPoint</Application>
  <PresentationFormat>화면 슬라이드 쇼(4:3)</PresentationFormat>
  <Paragraphs>60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가을</vt:lpstr>
      <vt:lpstr>건강검진 결과입력</vt:lpstr>
      <vt:lpstr>1.프로그램 실행 </vt:lpstr>
      <vt:lpstr>2. 연동 1-1</vt:lpstr>
      <vt:lpstr>2 연동 1-2</vt:lpstr>
      <vt:lpstr>3. 검색</vt:lpstr>
      <vt:lpstr>4. 결과 확인&amp;입력</vt:lpstr>
      <vt:lpstr>5. 문진 입력</vt:lpstr>
      <vt:lpstr>6. 판정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건강검진 결과입력</dc:title>
  <dc:creator>지희숙</dc:creator>
  <cp:lastModifiedBy>SEC</cp:lastModifiedBy>
  <cp:revision>23</cp:revision>
  <dcterms:created xsi:type="dcterms:W3CDTF">2010-01-20T23:54:54Z</dcterms:created>
  <dcterms:modified xsi:type="dcterms:W3CDTF">2010-02-08T01:27:44Z</dcterms:modified>
</cp:coreProperties>
</file>