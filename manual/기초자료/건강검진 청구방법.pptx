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1" r:id="rId15"/>
  </p:sldIdLst>
  <p:sldSz cx="9144000" cy="6858000" type="screen4x3"/>
  <p:notesSz cx="6888163" cy="10020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FF15C0B-DA19-4EC7-833B-CA16E2D9E4AF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5F5944B3-944F-432B-B08F-40C7C87C81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241A6FE7-1105-4ECD-9A18-DE11A7B8F74B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D80B5F3A-6A9B-43C6-84A4-A314C3FEAC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B5F3A-6A9B-43C6-84A4-A314C3FEACE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B5F3A-6A9B-43C6-84A4-A314C3FEACE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081A16B-863B-4766-BC0A-2D789287903E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244B53A-985C-4BF2-B0C8-277BB43BC5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edi.nhic.or.kr/index.jsp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00232" y="1785926"/>
            <a:ext cx="6477000" cy="1828800"/>
          </a:xfrm>
        </p:spPr>
        <p:txBody>
          <a:bodyPr>
            <a:normAutofit/>
          </a:bodyPr>
          <a:lstStyle/>
          <a:p>
            <a:r>
              <a:rPr lang="ko-KR" altLang="en-US" sz="9600" dirty="0" smtClean="0"/>
              <a:t>건강검진 청구</a:t>
            </a:r>
            <a:endParaRPr lang="ko-KR" altLang="en-US" sz="9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의</a:t>
            </a:r>
            <a:r>
              <a:rPr lang="en-US" altLang="ko-KR" dirty="0" smtClean="0"/>
              <a:t>)</a:t>
            </a:r>
            <a:r>
              <a:rPr lang="ko-KR" altLang="en-US" dirty="0" smtClean="0"/>
              <a:t>고담의료재단 </a:t>
            </a:r>
            <a:r>
              <a:rPr lang="ko-KR" altLang="en-US" smtClean="0"/>
              <a:t>마더스병원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72264" y="5357826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by. al2777g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프로그램 실행하기</a:t>
            </a:r>
            <a:endParaRPr lang="ko-KR" altLang="en-US" dirty="0"/>
          </a:p>
        </p:txBody>
      </p:sp>
      <p:pic>
        <p:nvPicPr>
          <p:cNvPr id="5" name="내용 개체 틀 4" descr="000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785786" y="2000240"/>
            <a:ext cx="3405791" cy="1357322"/>
          </a:xfrm>
          <a:effectLst>
            <a:outerShdw blurRad="1270000" dist="50800" dir="7200000" sx="84000" sy="84000" algn="ctr" rotWithShape="0">
              <a:schemeClr val="accent1">
                <a:lumMod val="60000"/>
                <a:lumOff val="40000"/>
                <a:alpha val="95000"/>
              </a:schemeClr>
            </a:outerShdw>
          </a:effectLst>
        </p:spPr>
      </p:pic>
      <p:sp>
        <p:nvSpPr>
          <p:cNvPr id="10" name="순서도: 대체 처리 9"/>
          <p:cNvSpPr/>
          <p:nvPr/>
        </p:nvSpPr>
        <p:spPr>
          <a:xfrm>
            <a:off x="642910" y="1785926"/>
            <a:ext cx="3714776" cy="1714512"/>
          </a:xfrm>
          <a:prstGeom prst="flowChartAlternateProcess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00034" y="4143380"/>
            <a:ext cx="3929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바탕화면의 </a:t>
            </a:r>
            <a:r>
              <a:rPr lang="ko-KR" altLang="en-US" sz="2400" dirty="0" err="1" smtClean="0"/>
              <a:t>아름누리</a:t>
            </a:r>
            <a:r>
              <a:rPr lang="ko-KR" altLang="en-US" sz="2400" dirty="0" smtClean="0"/>
              <a:t> 프로그램을 실행한다</a:t>
            </a:r>
            <a:r>
              <a:rPr lang="en-US" altLang="ko-KR" sz="2400" dirty="0" smtClean="0"/>
              <a:t>.</a:t>
            </a:r>
          </a:p>
          <a:p>
            <a:r>
              <a:rPr lang="ko-KR" altLang="en-US" sz="2400" dirty="0" smtClean="0"/>
              <a:t>먼저 검진 업데이트를 한 후 </a:t>
            </a:r>
            <a:endParaRPr lang="en-US" altLang="ko-KR" sz="2400" dirty="0" smtClean="0"/>
          </a:p>
          <a:p>
            <a:r>
              <a:rPr lang="ko-KR" altLang="en-US" sz="2400" dirty="0" smtClean="0"/>
              <a:t>사과모양의 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아이콘인 검진프로그램을 누르면 </a:t>
            </a:r>
            <a:endParaRPr lang="en-US" altLang="ko-KR" sz="2400" dirty="0" smtClean="0"/>
          </a:p>
          <a:p>
            <a:r>
              <a:rPr lang="ko-KR" altLang="en-US" sz="2400" dirty="0" smtClean="0"/>
              <a:t>우</a:t>
            </a:r>
            <a:r>
              <a:rPr lang="ko-KR" altLang="en-US" sz="2400" dirty="0"/>
              <a:t>측</a:t>
            </a:r>
            <a:r>
              <a:rPr lang="ko-KR" altLang="en-US" sz="2400" dirty="0" smtClean="0"/>
              <a:t>과 같은 화면이 생성된다</a:t>
            </a:r>
            <a:r>
              <a:rPr lang="en-US" altLang="ko-KR" sz="2400" dirty="0" smtClean="0"/>
              <a:t>.</a:t>
            </a:r>
          </a:p>
        </p:txBody>
      </p:sp>
      <p:pic>
        <p:nvPicPr>
          <p:cNvPr id="14" name="그림 13" descr="00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3438" y="1714488"/>
            <a:ext cx="4143372" cy="4929222"/>
          </a:xfrm>
          <a:prstGeom prst="rect">
            <a:avLst/>
          </a:prstGeom>
        </p:spPr>
      </p:pic>
      <p:sp>
        <p:nvSpPr>
          <p:cNvPr id="15" name="뺄셈 기호 14"/>
          <p:cNvSpPr/>
          <p:nvPr/>
        </p:nvSpPr>
        <p:spPr>
          <a:xfrm>
            <a:off x="928662" y="2928934"/>
            <a:ext cx="3143272" cy="285752"/>
          </a:xfrm>
          <a:prstGeom prst="mathMin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성적확인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4" name="내용 개체 틀 3" descr="1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571612"/>
            <a:ext cx="6095599" cy="4960920"/>
          </a:xfrm>
        </p:spPr>
      </p:pic>
      <p:sp>
        <p:nvSpPr>
          <p:cNvPr id="6" name="TextBox 5"/>
          <p:cNvSpPr txBox="1"/>
          <p:nvPr/>
        </p:nvSpPr>
        <p:spPr>
          <a:xfrm>
            <a:off x="6786578" y="2214554"/>
            <a:ext cx="20717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상단 </a:t>
            </a:r>
            <a:r>
              <a:rPr lang="ko-KR" altLang="en-US" sz="2400" dirty="0" err="1" smtClean="0"/>
              <a:t>메뉴중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r>
              <a:rPr lang="ko-KR" altLang="en-US" sz="2400" dirty="0" smtClean="0"/>
              <a:t>건강검진 </a:t>
            </a:r>
            <a:r>
              <a:rPr lang="en-US" altLang="ko-KR" sz="2400" dirty="0" smtClean="0"/>
              <a:t>-&gt; </a:t>
            </a:r>
          </a:p>
          <a:p>
            <a:r>
              <a:rPr lang="ko-KR" altLang="en-US" sz="2400" dirty="0" smtClean="0"/>
              <a:t>청구관련</a:t>
            </a:r>
            <a:r>
              <a:rPr lang="en-US" altLang="ko-KR" sz="2400" dirty="0" smtClean="0"/>
              <a:t>-&gt; </a:t>
            </a:r>
          </a:p>
          <a:p>
            <a:r>
              <a:rPr lang="ko-KR" altLang="en-US" sz="2400" dirty="0" err="1" smtClean="0"/>
              <a:t>청구시</a:t>
            </a:r>
            <a:r>
              <a:rPr lang="ko-KR" altLang="en-US" sz="2400" dirty="0" smtClean="0"/>
              <a:t> 검진결과성적확인 의 순서로 들어간다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428728" y="1928802"/>
            <a:ext cx="571504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428728" y="2097397"/>
            <a:ext cx="714380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000496" y="2097397"/>
            <a:ext cx="1571636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</a:t>
            </a:r>
            <a:r>
              <a:rPr lang="ko-KR" altLang="en-US" dirty="0" smtClean="0"/>
              <a:t>성적확인 </a:t>
            </a:r>
            <a:r>
              <a:rPr lang="en-US" altLang="ko-KR" dirty="0" smtClean="0"/>
              <a:t>1-2</a:t>
            </a:r>
            <a:endParaRPr lang="ko-KR" altLang="en-US" dirty="0"/>
          </a:p>
        </p:txBody>
      </p:sp>
      <p:pic>
        <p:nvPicPr>
          <p:cNvPr id="6" name="내용 개체 틀 5" descr="222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85720" y="1714488"/>
            <a:ext cx="7467600" cy="3190875"/>
          </a:xfrm>
        </p:spPr>
      </p:pic>
      <p:sp>
        <p:nvSpPr>
          <p:cNvPr id="7" name="TextBox 6"/>
          <p:cNvSpPr txBox="1"/>
          <p:nvPr/>
        </p:nvSpPr>
        <p:spPr>
          <a:xfrm>
            <a:off x="571472" y="5214950"/>
            <a:ext cx="7572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검진일자와 청구여부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사업장 등  원하는 것을 지정하여 조회 후 성적오류를 수정한다</a:t>
            </a:r>
            <a:r>
              <a:rPr lang="en-US" altLang="ko-KR" dirty="0" smtClean="0"/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14282" y="2143116"/>
            <a:ext cx="314327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 flipH="1" flipV="1">
            <a:off x="285720" y="2428868"/>
            <a:ext cx="714380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flipH="1">
            <a:off x="4214810" y="2928934"/>
            <a:ext cx="350046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청구화일</a:t>
            </a:r>
            <a:r>
              <a:rPr lang="ko-KR" altLang="en-US" dirty="0" smtClean="0"/>
              <a:t> 생성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4" name="내용 개체 틀 3" descr="3333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714488"/>
            <a:ext cx="5286411" cy="4572032"/>
          </a:xfrm>
        </p:spPr>
      </p:pic>
      <p:sp>
        <p:nvSpPr>
          <p:cNvPr id="6" name="TextBox 5"/>
          <p:cNvSpPr txBox="1"/>
          <p:nvPr/>
        </p:nvSpPr>
        <p:spPr>
          <a:xfrm>
            <a:off x="5786446" y="2428868"/>
            <a:ext cx="30003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성적 확인 후 </a:t>
            </a:r>
            <a:endParaRPr lang="en-US" altLang="ko-KR" sz="2400" dirty="0" smtClean="0"/>
          </a:p>
          <a:p>
            <a:r>
              <a:rPr lang="ko-KR" altLang="en-US" sz="2400" dirty="0" smtClean="0"/>
              <a:t>메뉴로 돌아와서 다시</a:t>
            </a:r>
            <a:endParaRPr lang="en-US" altLang="ko-KR" sz="2400" dirty="0" smtClean="0"/>
          </a:p>
          <a:p>
            <a:r>
              <a:rPr lang="ko-KR" altLang="en-US" sz="2400" dirty="0" smtClean="0"/>
              <a:t>건강검진</a:t>
            </a:r>
            <a:r>
              <a:rPr lang="en-US" altLang="ko-KR" sz="2400" dirty="0"/>
              <a:t> </a:t>
            </a:r>
            <a:r>
              <a:rPr lang="en-US" altLang="ko-KR" sz="2400" dirty="0" smtClean="0"/>
              <a:t>-&gt;</a:t>
            </a:r>
          </a:p>
          <a:p>
            <a:r>
              <a:rPr lang="ko-KR" altLang="en-US" sz="2400" dirty="0" smtClean="0"/>
              <a:t>청구관련 </a:t>
            </a:r>
            <a:r>
              <a:rPr lang="en-US" altLang="ko-KR" sz="2400" dirty="0" smtClean="0"/>
              <a:t>-&gt;</a:t>
            </a:r>
          </a:p>
          <a:p>
            <a:r>
              <a:rPr lang="ko-KR" altLang="en-US" sz="2400" dirty="0" err="1" smtClean="0"/>
              <a:t>청구화일</a:t>
            </a:r>
            <a:r>
              <a:rPr lang="ko-KR" altLang="en-US" sz="2400" dirty="0" smtClean="0"/>
              <a:t> 생성으로 클릭한다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1357290" y="2285992"/>
            <a:ext cx="571504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357290" y="2643182"/>
            <a:ext cx="1071570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9058" y="3214686"/>
            <a:ext cx="1071570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청구화일</a:t>
            </a:r>
            <a:r>
              <a:rPr lang="ko-KR" altLang="en-US" dirty="0" smtClean="0"/>
              <a:t> 생성 </a:t>
            </a:r>
            <a:r>
              <a:rPr lang="en-US" altLang="ko-KR" dirty="0" smtClean="0"/>
              <a:t>1-2</a:t>
            </a:r>
            <a:endParaRPr lang="ko-KR" altLang="en-US" dirty="0"/>
          </a:p>
        </p:txBody>
      </p:sp>
      <p:pic>
        <p:nvPicPr>
          <p:cNvPr id="4" name="내용 개체 틀 3" descr="444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643050"/>
            <a:ext cx="5429288" cy="4911357"/>
          </a:xfrm>
        </p:spPr>
      </p:pic>
      <p:sp>
        <p:nvSpPr>
          <p:cNvPr id="10" name="액자 9"/>
          <p:cNvSpPr/>
          <p:nvPr/>
        </p:nvSpPr>
        <p:spPr>
          <a:xfrm>
            <a:off x="214282" y="1785926"/>
            <a:ext cx="5357850" cy="928694"/>
          </a:xfrm>
          <a:prstGeom prst="frame">
            <a:avLst>
              <a:gd name="adj1" fmla="val 562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왼쪽 화살표 설명선 10"/>
          <p:cNvSpPr/>
          <p:nvPr/>
        </p:nvSpPr>
        <p:spPr>
          <a:xfrm>
            <a:off x="5715008" y="1643050"/>
            <a:ext cx="3357554" cy="15716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65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215074" y="1714488"/>
            <a:ext cx="29289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/>
              <a:t>생성구분은 </a:t>
            </a:r>
            <a:r>
              <a:rPr lang="ko-KR" altLang="en-US" sz="2000" b="1" u="sng" dirty="0" smtClean="0"/>
              <a:t>최초청구 </a:t>
            </a:r>
            <a:r>
              <a:rPr lang="en-US" altLang="ko-KR" sz="2000" b="1" u="sng" dirty="0" smtClean="0"/>
              <a:t>+ </a:t>
            </a:r>
            <a:r>
              <a:rPr lang="ko-KR" altLang="en-US" sz="2000" b="1" u="sng" dirty="0" err="1" smtClean="0"/>
              <a:t>반송건포함</a:t>
            </a:r>
            <a:r>
              <a:rPr lang="ko-KR" altLang="en-US" sz="2000" dirty="0" err="1" smtClean="0"/>
              <a:t>을</a:t>
            </a:r>
            <a:r>
              <a:rPr lang="ko-KR" altLang="en-US" sz="2000" dirty="0" smtClean="0"/>
              <a:t> </a:t>
            </a:r>
            <a:endParaRPr lang="en-US" altLang="ko-KR" sz="2000" dirty="0" smtClean="0"/>
          </a:p>
          <a:p>
            <a:r>
              <a:rPr lang="ko-KR" altLang="en-US" sz="2000" dirty="0" smtClean="0"/>
              <a:t>선택하고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검진구분에서 </a:t>
            </a:r>
            <a:r>
              <a:rPr lang="en-US" altLang="ko-KR" sz="2000" dirty="0" smtClean="0"/>
              <a:t>1</a:t>
            </a:r>
            <a:r>
              <a:rPr lang="ko-KR" altLang="en-US" sz="2000" dirty="0" err="1" smtClean="0"/>
              <a:t>차검진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일반검진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암검진을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구별후</a:t>
            </a:r>
            <a:r>
              <a:rPr lang="ko-KR" altLang="en-US" sz="2000" dirty="0" smtClean="0"/>
              <a:t> 하단메뉴인 구분에서 건강보험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의료급여를 나눈다</a:t>
            </a:r>
            <a:r>
              <a:rPr lang="en-US" altLang="ko-KR" sz="2000" dirty="0" smtClean="0"/>
              <a:t>. </a:t>
            </a:r>
            <a:endParaRPr lang="ko-KR" altLang="en-US" sz="2000" dirty="0"/>
          </a:p>
        </p:txBody>
      </p:sp>
      <p:sp>
        <p:nvSpPr>
          <p:cNvPr id="13" name="위로 굽은 화살표 12"/>
          <p:cNvSpPr/>
          <p:nvPr/>
        </p:nvSpPr>
        <p:spPr>
          <a:xfrm flipH="1">
            <a:off x="4786314" y="3429000"/>
            <a:ext cx="1500198" cy="1071570"/>
          </a:xfrm>
          <a:prstGeom prst="bentUpArrow">
            <a:avLst>
              <a:gd name="adj1" fmla="val 18143"/>
              <a:gd name="adj2" fmla="val 20733"/>
              <a:gd name="adj3" fmla="val 2865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액자 13"/>
          <p:cNvSpPr/>
          <p:nvPr/>
        </p:nvSpPr>
        <p:spPr>
          <a:xfrm>
            <a:off x="4429124" y="3000372"/>
            <a:ext cx="1071570" cy="428628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286512" y="3643314"/>
            <a:ext cx="2786082" cy="171451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29388" y="4000504"/>
            <a:ext cx="3214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위 구분들을 입력완료 했다면 </a:t>
            </a:r>
            <a:endParaRPr lang="en-US" altLang="ko-KR" sz="2400" dirty="0" smtClean="0"/>
          </a:p>
          <a:p>
            <a:r>
              <a:rPr lang="ko-KR" altLang="en-US" sz="2400" dirty="0" smtClean="0"/>
              <a:t>실행을 눌러 파일을 생성한다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4143380"/>
            <a:ext cx="5715040" cy="2469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디스켓작성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4" name="내용 개체 틀 3" descr="555.JPG"/>
          <p:cNvPicPr>
            <a:picLocks noGrp="1" noChangeAspect="1"/>
          </p:cNvPicPr>
          <p:nvPr>
            <p:ph sz="quarter" idx="1"/>
          </p:nvPr>
        </p:nvPicPr>
        <p:blipFill>
          <a:blip r:embed="rId4" cstate="print"/>
          <a:stretch>
            <a:fillRect/>
          </a:stretch>
        </p:blipFill>
        <p:spPr>
          <a:xfrm>
            <a:off x="214282" y="1643050"/>
            <a:ext cx="5715040" cy="2357454"/>
          </a:xfrm>
        </p:spPr>
      </p:pic>
      <p:sp>
        <p:nvSpPr>
          <p:cNvPr id="5" name="액자 4"/>
          <p:cNvSpPr/>
          <p:nvPr/>
        </p:nvSpPr>
        <p:spPr>
          <a:xfrm>
            <a:off x="4714876" y="2500306"/>
            <a:ext cx="642942" cy="357190"/>
          </a:xfrm>
          <a:prstGeom prst="frame">
            <a:avLst>
              <a:gd name="adj1" fmla="val 88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왼쪽 화살표 설명선 5"/>
          <p:cNvSpPr/>
          <p:nvPr/>
        </p:nvSpPr>
        <p:spPr>
          <a:xfrm>
            <a:off x="5500694" y="1928802"/>
            <a:ext cx="3286148" cy="4286280"/>
          </a:xfrm>
          <a:prstGeom prst="leftArrowCallout">
            <a:avLst>
              <a:gd name="adj1" fmla="val 17845"/>
              <a:gd name="adj2" fmla="val 25000"/>
              <a:gd name="adj3" fmla="val 25000"/>
              <a:gd name="adj4" fmla="val 65374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뺄셈 기호 6"/>
          <p:cNvSpPr/>
          <p:nvPr/>
        </p:nvSpPr>
        <p:spPr>
          <a:xfrm>
            <a:off x="-285784" y="3000372"/>
            <a:ext cx="5929354" cy="45719"/>
          </a:xfrm>
          <a:prstGeom prst="mathMinu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715140" y="2000240"/>
            <a:ext cx="26431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디스켓 작성 하는 방법 </a:t>
            </a:r>
            <a:r>
              <a:rPr lang="en-US" altLang="ko-KR" dirty="0" smtClean="0"/>
              <a:t>1.</a:t>
            </a:r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1.</a:t>
            </a:r>
            <a:r>
              <a:rPr lang="ko-KR" altLang="en-US" dirty="0" smtClean="0"/>
              <a:t>청구파일생성에서 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  하단에 파일 생성확인 후 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   디스켓작성을 클릭한다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/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 smtClean="0"/>
              <a:t>2. </a:t>
            </a:r>
            <a:r>
              <a:rPr lang="ko-KR" altLang="en-US" dirty="0" smtClean="0"/>
              <a:t>청구일자를 지정하고</a:t>
            </a:r>
            <a:endParaRPr lang="en-US" altLang="ko-KR" dirty="0" smtClean="0"/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파일 선택 후 작성하기를 </a:t>
            </a:r>
            <a:r>
              <a:rPr lang="en-US" altLang="ko-KR" dirty="0"/>
              <a:t> </a:t>
            </a:r>
            <a:r>
              <a:rPr lang="en-US" altLang="ko-KR" dirty="0" smtClean="0"/>
              <a:t>  </a:t>
            </a:r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클릭하면 파일 생성된다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디스켓작성 </a:t>
            </a:r>
            <a:r>
              <a:rPr lang="en-US" altLang="ko-KR" dirty="0" smtClean="0"/>
              <a:t>1-2</a:t>
            </a:r>
            <a:endParaRPr lang="ko-KR" altLang="en-US" dirty="0"/>
          </a:p>
        </p:txBody>
      </p:sp>
      <p:pic>
        <p:nvPicPr>
          <p:cNvPr id="4" name="내용 개체 틀 3" descr="66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85720" y="1714488"/>
            <a:ext cx="5643602" cy="2066925"/>
          </a:xfr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4000504"/>
            <a:ext cx="5715040" cy="2469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왼쪽 화살표 설명선 5"/>
          <p:cNvSpPr/>
          <p:nvPr/>
        </p:nvSpPr>
        <p:spPr>
          <a:xfrm>
            <a:off x="5500694" y="1928802"/>
            <a:ext cx="3286148" cy="4286280"/>
          </a:xfrm>
          <a:prstGeom prst="leftArrowCallout">
            <a:avLst>
              <a:gd name="adj1" fmla="val 17845"/>
              <a:gd name="adj2" fmla="val 25000"/>
              <a:gd name="adj3" fmla="val 25000"/>
              <a:gd name="adj4" fmla="val 65374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715140" y="2000240"/>
            <a:ext cx="26431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디스켓 작성 하는 방법  </a:t>
            </a:r>
            <a:r>
              <a:rPr lang="en-US" altLang="ko-KR" dirty="0" smtClean="0"/>
              <a:t>2. </a:t>
            </a:r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1 </a:t>
            </a:r>
            <a:r>
              <a:rPr lang="ko-KR" altLang="en-US" dirty="0" err="1" smtClean="0"/>
              <a:t>메인메뉴</a:t>
            </a:r>
            <a:r>
              <a:rPr lang="ko-KR" altLang="en-US" dirty="0" smtClean="0"/>
              <a:t> 상단에서 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청구관련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청구디스켓작성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 을 클릭한다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/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 smtClean="0"/>
              <a:t>2. </a:t>
            </a:r>
            <a:r>
              <a:rPr lang="ko-KR" altLang="en-US" dirty="0" smtClean="0"/>
              <a:t>청구일자를 지정하고</a:t>
            </a:r>
            <a:endParaRPr lang="en-US" altLang="ko-KR" dirty="0" smtClean="0"/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파일 선택 후 작성하기를 </a:t>
            </a:r>
            <a:r>
              <a:rPr lang="en-US" altLang="ko-KR" dirty="0"/>
              <a:t> </a:t>
            </a:r>
            <a:r>
              <a:rPr lang="en-US" altLang="ko-KR" dirty="0" smtClean="0"/>
              <a:t>  </a:t>
            </a:r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클릭하면 파일 생성된다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공단청구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4" name="내용 개체 틀 3" descr="121212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85720" y="1785926"/>
            <a:ext cx="5305470" cy="4495800"/>
          </a:xfrm>
        </p:spPr>
      </p:pic>
      <p:sp>
        <p:nvSpPr>
          <p:cNvPr id="5" name="TextBox 4"/>
          <p:cNvSpPr txBox="1"/>
          <p:nvPr/>
        </p:nvSpPr>
        <p:spPr>
          <a:xfrm>
            <a:off x="5857884" y="1571612"/>
            <a:ext cx="300039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+mn-ea"/>
                <a:hlinkClick r:id="rId3"/>
              </a:rPr>
              <a:t>http://medi.nhic.or.kr/index.jsp</a:t>
            </a:r>
            <a:r>
              <a:rPr lang="en-US" altLang="ko-KR" sz="1600" dirty="0" smtClean="0">
                <a:latin typeface="+mn-ea"/>
              </a:rPr>
              <a:t>  </a:t>
            </a:r>
            <a:r>
              <a:rPr lang="ko-KR" altLang="en-US" sz="1600" dirty="0" smtClean="0">
                <a:latin typeface="+mn-ea"/>
              </a:rPr>
              <a:t> </a:t>
            </a:r>
            <a:endParaRPr lang="en-US" altLang="ko-KR" sz="1600" dirty="0" smtClean="0">
              <a:latin typeface="+mn-ea"/>
            </a:endParaRPr>
          </a:p>
          <a:p>
            <a:r>
              <a:rPr lang="en-US" altLang="ko-KR" sz="1900" dirty="0" smtClean="0">
                <a:latin typeface="+mn-ea"/>
              </a:rPr>
              <a:t>(</a:t>
            </a:r>
            <a:r>
              <a:rPr lang="ko-KR" altLang="en-US" sz="1900" dirty="0" smtClean="0">
                <a:latin typeface="+mn-ea"/>
              </a:rPr>
              <a:t>국민건강보험공단</a:t>
            </a:r>
            <a:r>
              <a:rPr lang="en-US" altLang="ko-KR" sz="1900" dirty="0" smtClean="0">
                <a:latin typeface="+mn-ea"/>
              </a:rPr>
              <a:t>)</a:t>
            </a:r>
            <a:r>
              <a:rPr lang="ko-KR" altLang="en-US" sz="1900" dirty="0" smtClean="0">
                <a:latin typeface="+mn-ea"/>
              </a:rPr>
              <a:t>사이트로 들어가 </a:t>
            </a:r>
            <a:endParaRPr lang="en-US" altLang="ko-KR" sz="1900" dirty="0" smtClean="0">
              <a:latin typeface="+mn-ea"/>
            </a:endParaRPr>
          </a:p>
          <a:p>
            <a:r>
              <a:rPr lang="ko-KR" altLang="en-US" sz="1900" dirty="0" smtClean="0">
                <a:latin typeface="+mn-ea"/>
              </a:rPr>
              <a:t>회원서비스 메뉴 중 </a:t>
            </a:r>
            <a:endParaRPr lang="en-US" altLang="ko-KR" sz="1900" dirty="0" smtClean="0">
              <a:latin typeface="+mn-ea"/>
            </a:endParaRPr>
          </a:p>
          <a:p>
            <a:r>
              <a:rPr lang="ko-KR" altLang="en-US" sz="1900" dirty="0" smtClean="0">
                <a:latin typeface="+mn-ea"/>
              </a:rPr>
              <a:t> 건강검진 </a:t>
            </a:r>
            <a:r>
              <a:rPr lang="en-US" altLang="ko-KR" sz="1900" dirty="0" smtClean="0">
                <a:latin typeface="+mn-ea"/>
              </a:rPr>
              <a:t>-&gt; </a:t>
            </a:r>
            <a:r>
              <a:rPr lang="ko-KR" altLang="en-US" sz="1900" dirty="0" smtClean="0">
                <a:latin typeface="+mn-ea"/>
              </a:rPr>
              <a:t>검진 비 인터넷청구를 </a:t>
            </a:r>
            <a:endParaRPr lang="en-US" altLang="ko-KR" sz="1900" dirty="0" smtClean="0">
              <a:latin typeface="+mn-ea"/>
            </a:endParaRPr>
          </a:p>
          <a:p>
            <a:r>
              <a:rPr lang="en-US" altLang="ko-KR" sz="1900" dirty="0" smtClean="0">
                <a:latin typeface="+mn-ea"/>
              </a:rPr>
              <a:t>  </a:t>
            </a:r>
            <a:r>
              <a:rPr lang="ko-KR" altLang="en-US" sz="1900" dirty="0" smtClean="0">
                <a:latin typeface="+mn-ea"/>
              </a:rPr>
              <a:t>클릭하면 화면이 나타나는데</a:t>
            </a:r>
            <a:endParaRPr lang="en-US" altLang="ko-KR" sz="1900" dirty="0" smtClean="0">
              <a:latin typeface="+mn-ea"/>
            </a:endParaRPr>
          </a:p>
          <a:p>
            <a:r>
              <a:rPr lang="ko-KR" altLang="en-US" sz="1900" dirty="0" smtClean="0">
                <a:latin typeface="+mn-ea"/>
              </a:rPr>
              <a:t> 맨 앞 메뉴인 청구파일전송 을  클릭하면 아래화면이 생성되고</a:t>
            </a:r>
            <a:r>
              <a:rPr lang="en-US" altLang="ko-KR" sz="1900" dirty="0" smtClean="0">
                <a:latin typeface="+mn-ea"/>
              </a:rPr>
              <a:t>,</a:t>
            </a:r>
            <a:r>
              <a:rPr lang="ko-KR" altLang="en-US" sz="1900" dirty="0" smtClean="0">
                <a:latin typeface="+mn-ea"/>
              </a:rPr>
              <a:t> 디스켓 작성한 파일을 찾아서 </a:t>
            </a:r>
            <a:r>
              <a:rPr lang="en-US" altLang="ko-KR" sz="1900" dirty="0" smtClean="0">
                <a:latin typeface="+mn-ea"/>
              </a:rPr>
              <a:t> ‘</a:t>
            </a:r>
            <a:r>
              <a:rPr lang="ko-KR" altLang="en-US" sz="1900" dirty="0" smtClean="0">
                <a:latin typeface="+mn-ea"/>
              </a:rPr>
              <a:t>열기</a:t>
            </a:r>
            <a:r>
              <a:rPr lang="en-US" altLang="ko-KR" sz="1900" dirty="0" smtClean="0">
                <a:latin typeface="+mn-ea"/>
              </a:rPr>
              <a:t>’</a:t>
            </a:r>
            <a:r>
              <a:rPr lang="ko-KR" altLang="en-US" sz="1900" dirty="0" smtClean="0">
                <a:latin typeface="+mn-ea"/>
              </a:rPr>
              <a:t>를  누르면 된다</a:t>
            </a:r>
            <a:r>
              <a:rPr lang="en-US" altLang="ko-KR" sz="1900" dirty="0" smtClean="0">
                <a:latin typeface="+mn-ea"/>
              </a:rPr>
              <a:t>.</a:t>
            </a:r>
          </a:p>
          <a:p>
            <a:r>
              <a:rPr lang="en-US" altLang="ko-KR" sz="1900" dirty="0" smtClean="0">
                <a:latin typeface="+mn-ea"/>
              </a:rPr>
              <a:t>    </a:t>
            </a:r>
            <a:r>
              <a:rPr lang="en-US" altLang="ko-KR" sz="1900" b="1" dirty="0" smtClean="0">
                <a:latin typeface="+mn-ea"/>
              </a:rPr>
              <a:t>①→②→③→④→⑤</a:t>
            </a:r>
            <a:r>
              <a:rPr lang="en-US" altLang="ko-KR" sz="1900" dirty="0" smtClean="0">
                <a:latin typeface="+mn-ea"/>
              </a:rPr>
              <a:t> </a:t>
            </a:r>
          </a:p>
          <a:p>
            <a:r>
              <a:rPr lang="ko-KR" altLang="en-US" sz="1900" dirty="0" smtClean="0">
                <a:latin typeface="+mn-ea"/>
              </a:rPr>
              <a:t>    순서로 한다</a:t>
            </a:r>
            <a:r>
              <a:rPr lang="en-US" altLang="ko-KR" sz="1900" dirty="0" smtClean="0">
                <a:latin typeface="맑은 고딕"/>
                <a:ea typeface="맑은 고딕"/>
              </a:rPr>
              <a:t>.</a:t>
            </a:r>
            <a:endParaRPr lang="en-US" altLang="ko-KR" sz="1900" dirty="0" smtClean="0"/>
          </a:p>
          <a:p>
            <a:endParaRPr lang="en-US" altLang="ko-KR" dirty="0" smtClean="0"/>
          </a:p>
        </p:txBody>
      </p:sp>
      <p:sp>
        <p:nvSpPr>
          <p:cNvPr id="6" name="액자 5"/>
          <p:cNvSpPr/>
          <p:nvPr/>
        </p:nvSpPr>
        <p:spPr>
          <a:xfrm>
            <a:off x="285720" y="5500702"/>
            <a:ext cx="1285884" cy="571504"/>
          </a:xfrm>
          <a:prstGeom prst="frame">
            <a:avLst>
              <a:gd name="adj1" fmla="val 56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8596" y="5929330"/>
            <a:ext cx="71438" cy="714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위로 굽은 화살표 9"/>
          <p:cNvSpPr/>
          <p:nvPr/>
        </p:nvSpPr>
        <p:spPr>
          <a:xfrm flipH="1">
            <a:off x="4643438" y="5000636"/>
            <a:ext cx="1357322" cy="1357322"/>
          </a:xfrm>
          <a:prstGeom prst="bentUpArrow">
            <a:avLst>
              <a:gd name="adj1" fmla="val 19664"/>
              <a:gd name="adj2" fmla="val 26444"/>
              <a:gd name="adj3" fmla="val 365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000760" y="4572008"/>
            <a:ext cx="3143240" cy="22859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1313131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72198" y="4621728"/>
            <a:ext cx="3071834" cy="2236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5720" y="3643314"/>
            <a:ext cx="357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0100" y="5572140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3042" y="4071942"/>
            <a:ext cx="357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86248" y="4559866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액자 20"/>
          <p:cNvSpPr/>
          <p:nvPr/>
        </p:nvSpPr>
        <p:spPr>
          <a:xfrm>
            <a:off x="4286248" y="4429132"/>
            <a:ext cx="1285884" cy="571504"/>
          </a:xfrm>
          <a:prstGeom prst="frame">
            <a:avLst>
              <a:gd name="adj1" fmla="val 79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16" y="6357958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⑤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공단청구 </a:t>
            </a:r>
            <a:r>
              <a:rPr lang="en-US" altLang="ko-KR" dirty="0" smtClean="0"/>
              <a:t>1-2</a:t>
            </a:r>
            <a:endParaRPr lang="ko-KR" altLang="en-US" dirty="0"/>
          </a:p>
        </p:txBody>
      </p:sp>
      <p:pic>
        <p:nvPicPr>
          <p:cNvPr id="4" name="내용 개체 틀 3" descr="141414.JP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500174"/>
            <a:ext cx="5214942" cy="2643206"/>
          </a:xfrm>
        </p:spPr>
      </p:pic>
      <p:pic>
        <p:nvPicPr>
          <p:cNvPr id="5" name="그림 4" descr="15151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71670" y="4143380"/>
            <a:ext cx="2963502" cy="890586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 rot="5400000">
            <a:off x="3893339" y="3821909"/>
            <a:ext cx="142876" cy="3571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액자 6"/>
          <p:cNvSpPr/>
          <p:nvPr/>
        </p:nvSpPr>
        <p:spPr>
          <a:xfrm>
            <a:off x="3571868" y="3357562"/>
            <a:ext cx="785818" cy="500066"/>
          </a:xfrm>
          <a:prstGeom prst="frame">
            <a:avLst>
              <a:gd name="adj1" fmla="val 704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액자 7"/>
          <p:cNvSpPr/>
          <p:nvPr/>
        </p:nvSpPr>
        <p:spPr>
          <a:xfrm>
            <a:off x="2857488" y="4714884"/>
            <a:ext cx="642942" cy="21431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 descr="161616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429256" y="2500306"/>
            <a:ext cx="3555301" cy="2428869"/>
          </a:xfrm>
          <a:prstGeom prst="rect">
            <a:avLst/>
          </a:prstGeom>
        </p:spPr>
      </p:pic>
      <p:sp>
        <p:nvSpPr>
          <p:cNvPr id="10" name="오른쪽 화살표 9"/>
          <p:cNvSpPr/>
          <p:nvPr/>
        </p:nvSpPr>
        <p:spPr>
          <a:xfrm>
            <a:off x="5072066" y="4429132"/>
            <a:ext cx="285752" cy="28575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00430" y="3429000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00298" y="4572008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5074" y="2714620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  <a:endParaRPr lang="ko-KR" altLang="en-US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29256" y="1643050"/>
            <a:ext cx="350046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 smtClean="0">
                <a:latin typeface="+mn-ea"/>
              </a:rPr>
              <a:t>①→②  순서대로 청구한다</a:t>
            </a:r>
            <a:r>
              <a:rPr lang="en-US" altLang="ko-KR" sz="1900" dirty="0" smtClean="0">
                <a:latin typeface="+mn-ea"/>
              </a:rPr>
              <a:t>.</a:t>
            </a:r>
          </a:p>
          <a:p>
            <a:r>
              <a:rPr lang="ko-KR" altLang="en-US" sz="1900" dirty="0" smtClean="0">
                <a:latin typeface="+mn-ea"/>
              </a:rPr>
              <a:t>③ 화면이 나타나면 청구완료 된 것이다</a:t>
            </a:r>
            <a:r>
              <a:rPr lang="en-US" altLang="ko-KR" sz="1900" dirty="0" smtClean="0">
                <a:latin typeface="맑은 고딕"/>
                <a:ea typeface="맑은 고딕"/>
              </a:rPr>
              <a:t>.</a:t>
            </a:r>
            <a:endParaRPr lang="ko-KR" altLang="en-US" sz="1900" dirty="0"/>
          </a:p>
        </p:txBody>
      </p:sp>
      <p:pic>
        <p:nvPicPr>
          <p:cNvPr id="16" name="그림 15" descr="171717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33950" y="5291186"/>
            <a:ext cx="4110050" cy="1566814"/>
          </a:xfrm>
          <a:prstGeom prst="rect">
            <a:avLst/>
          </a:prstGeom>
        </p:spPr>
      </p:pic>
      <p:sp>
        <p:nvSpPr>
          <p:cNvPr id="17" name="오른쪽 화살표 16"/>
          <p:cNvSpPr/>
          <p:nvPr/>
        </p:nvSpPr>
        <p:spPr>
          <a:xfrm rot="5400000">
            <a:off x="7322363" y="4964917"/>
            <a:ext cx="142876" cy="3571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액자 17"/>
          <p:cNvSpPr/>
          <p:nvPr/>
        </p:nvSpPr>
        <p:spPr>
          <a:xfrm>
            <a:off x="8215338" y="6000768"/>
            <a:ext cx="928662" cy="571504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8596" y="5572140"/>
            <a:ext cx="435771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 smtClean="0"/>
              <a:t>청구가 완료되면 청산버튼을 눌러 내역서의 금액과 </a:t>
            </a:r>
            <a:r>
              <a:rPr lang="ko-KR" altLang="en-US" sz="1900" dirty="0" err="1" smtClean="0"/>
              <a:t>청구서출력한것의</a:t>
            </a:r>
            <a:r>
              <a:rPr lang="ko-KR" altLang="en-US" sz="1900" dirty="0" smtClean="0"/>
              <a:t>  청구금액이 일치하는지 확인하고 삭감이 되었으면 삭감내역에서 확인하면 된다</a:t>
            </a:r>
            <a:r>
              <a:rPr lang="en-US" altLang="ko-KR" sz="1900" dirty="0" smtClean="0"/>
              <a:t>.</a:t>
            </a:r>
            <a:endParaRPr lang="ko-KR" alt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공단청구  </a:t>
            </a:r>
            <a:r>
              <a:rPr lang="en-US" altLang="ko-KR" dirty="0" smtClean="0"/>
              <a:t>2-1</a:t>
            </a:r>
            <a:endParaRPr lang="ko-KR" altLang="en-US" dirty="0"/>
          </a:p>
        </p:txBody>
      </p:sp>
      <p:pic>
        <p:nvPicPr>
          <p:cNvPr id="4" name="내용 개체 틀 3" descr="181818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85720" y="2428868"/>
            <a:ext cx="3676650" cy="3143250"/>
          </a:xfrm>
        </p:spPr>
      </p:pic>
      <p:sp>
        <p:nvSpPr>
          <p:cNvPr id="5" name="TextBox 4"/>
          <p:cNvSpPr txBox="1"/>
          <p:nvPr/>
        </p:nvSpPr>
        <p:spPr>
          <a:xfrm>
            <a:off x="357158" y="1857364"/>
            <a:ext cx="100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오류발생</a:t>
            </a:r>
            <a:endParaRPr lang="ko-KR" altLang="en-US" sz="2400" dirty="0"/>
          </a:p>
        </p:txBody>
      </p:sp>
      <p:sp>
        <p:nvSpPr>
          <p:cNvPr id="6" name="액자 5"/>
          <p:cNvSpPr/>
          <p:nvPr/>
        </p:nvSpPr>
        <p:spPr>
          <a:xfrm>
            <a:off x="3071802" y="5214950"/>
            <a:ext cx="428628" cy="35719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1919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6248" y="2428868"/>
            <a:ext cx="676279" cy="584059"/>
          </a:xfrm>
          <a:prstGeom prst="rect">
            <a:avLst/>
          </a:prstGeom>
        </p:spPr>
      </p:pic>
      <p:cxnSp>
        <p:nvCxnSpPr>
          <p:cNvPr id="19" name="꺾인 연결선 18"/>
          <p:cNvCxnSpPr>
            <a:stCxn id="6" idx="3"/>
            <a:endCxn id="7" idx="1"/>
          </p:cNvCxnSpPr>
          <p:nvPr/>
        </p:nvCxnSpPr>
        <p:spPr>
          <a:xfrm flipV="1">
            <a:off x="3500430" y="2720898"/>
            <a:ext cx="785818" cy="2672647"/>
          </a:xfrm>
          <a:prstGeom prst="bentConnector3">
            <a:avLst>
              <a:gd name="adj1" fmla="val 50000"/>
            </a:avLst>
          </a:prstGeom>
          <a:ln w="47625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액자 19"/>
          <p:cNvSpPr/>
          <p:nvPr/>
        </p:nvSpPr>
        <p:spPr>
          <a:xfrm>
            <a:off x="4286248" y="2428868"/>
            <a:ext cx="571504" cy="500066"/>
          </a:xfrm>
          <a:prstGeom prst="frame">
            <a:avLst>
              <a:gd name="adj1" fmla="val 68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43504" y="2786058"/>
            <a:ext cx="4000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/>
              <a:t>오류발생시 오류구분의 마크를 클릭하면 화면이 나타나고</a:t>
            </a:r>
            <a:endParaRPr lang="en-US" altLang="ko-KR" sz="2000" dirty="0" smtClean="0"/>
          </a:p>
          <a:p>
            <a:r>
              <a:rPr lang="ko-KR" altLang="en-US" sz="2000" dirty="0" smtClean="0"/>
              <a:t>오류수정 후 재청구하면 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</a:t>
            </a:r>
            <a:r>
              <a:rPr lang="ko-KR" altLang="en-US" dirty="0" smtClean="0"/>
              <a:t>청구서출력</a:t>
            </a:r>
            <a:endParaRPr lang="ko-KR" altLang="en-US" dirty="0"/>
          </a:p>
        </p:txBody>
      </p:sp>
      <p:pic>
        <p:nvPicPr>
          <p:cNvPr id="4" name="내용 개체 틀 3" descr="1010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42844" y="1714488"/>
            <a:ext cx="5886450" cy="1990725"/>
          </a:xfrm>
        </p:spPr>
      </p:pic>
      <p:pic>
        <p:nvPicPr>
          <p:cNvPr id="5" name="그림 4" descr="1111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786190"/>
            <a:ext cx="8010525" cy="2481283"/>
          </a:xfrm>
          <a:prstGeom prst="rect">
            <a:avLst/>
          </a:prstGeom>
        </p:spPr>
      </p:pic>
      <p:sp>
        <p:nvSpPr>
          <p:cNvPr id="6" name="아래로 구부러진 화살표 5"/>
          <p:cNvSpPr/>
          <p:nvPr/>
        </p:nvSpPr>
        <p:spPr>
          <a:xfrm rot="3732665">
            <a:off x="5368449" y="3181698"/>
            <a:ext cx="1529995" cy="785685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7950" y="1785926"/>
            <a:ext cx="2786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메인 메뉴에서 </a:t>
            </a:r>
            <a:endParaRPr lang="en-US" altLang="ko-KR" dirty="0" smtClean="0"/>
          </a:p>
          <a:p>
            <a:r>
              <a:rPr lang="ko-KR" altLang="en-US" dirty="0" smtClean="0"/>
              <a:t>청구관련 </a:t>
            </a:r>
            <a:r>
              <a:rPr lang="en-US" altLang="ko-KR" dirty="0" smtClean="0"/>
              <a:t>-&gt;</a:t>
            </a:r>
          </a:p>
          <a:p>
            <a:r>
              <a:rPr lang="ko-KR" altLang="en-US" dirty="0" smtClean="0"/>
              <a:t>청구서 출력 </a:t>
            </a:r>
            <a:endParaRPr lang="en-US" altLang="ko-KR" dirty="0" smtClean="0"/>
          </a:p>
          <a:p>
            <a:r>
              <a:rPr lang="ko-KR" altLang="en-US" dirty="0" smtClean="0"/>
              <a:t>클릭 후 검진구분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일자지정 후 </a:t>
            </a:r>
            <a:endParaRPr lang="en-US" altLang="ko-KR" dirty="0" smtClean="0"/>
          </a:p>
          <a:p>
            <a:r>
              <a:rPr lang="ko-KR" altLang="en-US" dirty="0" smtClean="0"/>
              <a:t>조회를 누르면 파일이 나타나는데</a:t>
            </a:r>
            <a:endParaRPr lang="en-US" altLang="ko-KR" dirty="0" smtClean="0"/>
          </a:p>
          <a:p>
            <a:r>
              <a:rPr lang="ko-KR" altLang="en-US" dirty="0" smtClean="0"/>
              <a:t>파일 클릭 후 실행 누르면 자동 인쇄된다</a:t>
            </a:r>
            <a:r>
              <a:rPr lang="en-US" altLang="ko-KR" dirty="0" smtClean="0"/>
              <a:t>.</a:t>
            </a:r>
          </a:p>
        </p:txBody>
      </p:sp>
      <p:sp>
        <p:nvSpPr>
          <p:cNvPr id="8" name="액자 7"/>
          <p:cNvSpPr/>
          <p:nvPr/>
        </p:nvSpPr>
        <p:spPr>
          <a:xfrm>
            <a:off x="4857752" y="4357694"/>
            <a:ext cx="3214710" cy="57150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282" y="6286520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/>
              <a:t>청구서는  공단청구까지 완료된 상황에서 출력하는 것이 좋다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</a:t>
            </a:r>
            <a:r>
              <a:rPr lang="ko-KR" altLang="en-US" dirty="0" smtClean="0"/>
              <a:t>반송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4" name="내용 개체 틀 3" descr="77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643050"/>
            <a:ext cx="4500594" cy="2357454"/>
          </a:xfrm>
        </p:spPr>
      </p:pic>
      <p:pic>
        <p:nvPicPr>
          <p:cNvPr id="5" name="그림 4" descr="8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4429132"/>
            <a:ext cx="7962900" cy="2071702"/>
          </a:xfrm>
          <a:prstGeom prst="rect">
            <a:avLst/>
          </a:prstGeom>
        </p:spPr>
      </p:pic>
      <p:sp>
        <p:nvSpPr>
          <p:cNvPr id="6" name="아래쪽 화살표 5"/>
          <p:cNvSpPr/>
          <p:nvPr/>
        </p:nvSpPr>
        <p:spPr>
          <a:xfrm>
            <a:off x="2214546" y="4071942"/>
            <a:ext cx="285752" cy="28575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929190" y="2214554"/>
            <a:ext cx="4000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altLang="ko-KR" sz="2200" dirty="0" smtClean="0"/>
              <a:t>1.</a:t>
            </a:r>
            <a:r>
              <a:rPr lang="ko-KR" altLang="en-US" sz="2200" dirty="0" smtClean="0"/>
              <a:t>청구관련 </a:t>
            </a:r>
            <a:r>
              <a:rPr lang="en-US" altLang="ko-KR" sz="2200" dirty="0" smtClean="0"/>
              <a:t>-&gt; </a:t>
            </a:r>
            <a:r>
              <a:rPr lang="ko-KR" altLang="en-US" sz="2200" dirty="0" err="1" smtClean="0"/>
              <a:t>청구화일생성</a:t>
            </a:r>
            <a:r>
              <a:rPr lang="ko-KR" altLang="en-US" sz="2200" dirty="0" smtClean="0"/>
              <a:t> 확인을 클릭</a:t>
            </a:r>
            <a:endParaRPr lang="en-US" altLang="ko-KR" sz="2200" dirty="0" smtClean="0"/>
          </a:p>
          <a:p>
            <a:r>
              <a:rPr lang="en-US" altLang="ko-KR" sz="2200" dirty="0" smtClean="0"/>
              <a:t>2. </a:t>
            </a:r>
            <a:r>
              <a:rPr lang="ko-KR" altLang="en-US" sz="2200" dirty="0" smtClean="0"/>
              <a:t>검진구분 한 후 </a:t>
            </a:r>
            <a:r>
              <a:rPr lang="ko-KR" altLang="en-US" sz="2200" dirty="0" err="1" smtClean="0"/>
              <a:t>검사년도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청구일자 지정한 후</a:t>
            </a:r>
            <a:endParaRPr lang="en-US" altLang="ko-KR" sz="2200" dirty="0" smtClean="0"/>
          </a:p>
          <a:p>
            <a:r>
              <a:rPr lang="en-US" altLang="ko-KR" sz="2200" dirty="0" smtClean="0"/>
              <a:t>3. </a:t>
            </a:r>
            <a:r>
              <a:rPr lang="ko-KR" altLang="en-US" sz="2200" dirty="0" smtClean="0"/>
              <a:t>조회하면 파일이 나타난다</a:t>
            </a:r>
            <a:r>
              <a:rPr lang="en-US" altLang="ko-KR" sz="2200" dirty="0" smtClean="0"/>
              <a:t>.</a:t>
            </a:r>
            <a:endParaRPr lang="en-US" altLang="ko-KR" sz="2200" dirty="0"/>
          </a:p>
          <a:p>
            <a:endParaRPr lang="ko-KR" altLang="en-US" dirty="0"/>
          </a:p>
        </p:txBody>
      </p:sp>
      <p:sp>
        <p:nvSpPr>
          <p:cNvPr id="8" name="액자 7"/>
          <p:cNvSpPr/>
          <p:nvPr/>
        </p:nvSpPr>
        <p:spPr>
          <a:xfrm>
            <a:off x="6715140" y="4786322"/>
            <a:ext cx="928694" cy="642942"/>
          </a:xfrm>
          <a:prstGeom prst="frame">
            <a:avLst>
              <a:gd name="adj1" fmla="val 812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4282" y="5072074"/>
            <a:ext cx="135732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14282" y="5429264"/>
            <a:ext cx="135732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857488" y="5429264"/>
            <a:ext cx="278608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 flipV="1">
            <a:off x="1214414" y="2285992"/>
            <a:ext cx="207170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 flipV="1">
            <a:off x="3286116" y="2786054"/>
            <a:ext cx="1214446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</a:t>
            </a:r>
            <a:r>
              <a:rPr lang="ko-KR" altLang="en-US" dirty="0" smtClean="0"/>
              <a:t>반송 </a:t>
            </a:r>
            <a:r>
              <a:rPr lang="en-US" altLang="ko-KR" dirty="0" smtClean="0"/>
              <a:t>1-2</a:t>
            </a:r>
            <a:endParaRPr lang="ko-KR" altLang="en-US" dirty="0"/>
          </a:p>
        </p:txBody>
      </p:sp>
      <p:pic>
        <p:nvPicPr>
          <p:cNvPr id="4" name="내용 개체 틀 3" descr="9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00034" y="2071678"/>
            <a:ext cx="7962900" cy="2457450"/>
          </a:xfrm>
        </p:spPr>
      </p:pic>
      <p:sp>
        <p:nvSpPr>
          <p:cNvPr id="5" name="TextBox 4"/>
          <p:cNvSpPr txBox="1"/>
          <p:nvPr/>
        </p:nvSpPr>
        <p:spPr>
          <a:xfrm>
            <a:off x="1428728" y="4572008"/>
            <a:ext cx="6715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반송 메뉴를 클릭하면 위 화면이 나타난다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r>
              <a:rPr lang="ko-KR" altLang="en-US" sz="2400" dirty="0" smtClean="0"/>
              <a:t>반송 할 시 </a:t>
            </a:r>
            <a:r>
              <a:rPr lang="en-US" altLang="ko-KR" sz="2400" dirty="0" smtClean="0"/>
              <a:t>Yes , </a:t>
            </a:r>
            <a:r>
              <a:rPr lang="ko-KR" altLang="en-US" sz="2400" dirty="0" smtClean="0"/>
              <a:t>하지 않을  시  </a:t>
            </a:r>
            <a:r>
              <a:rPr lang="en-US" altLang="ko-KR" sz="2400" dirty="0" smtClean="0"/>
              <a:t>No </a:t>
            </a:r>
            <a:r>
              <a:rPr lang="ko-KR" altLang="en-US" sz="2400" dirty="0" smtClean="0"/>
              <a:t>를  클릭하면 된다</a:t>
            </a:r>
            <a:r>
              <a:rPr lang="en-US" altLang="ko-KR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415</TotalTime>
  <Words>383</Words>
  <Application>Microsoft Office PowerPoint</Application>
  <PresentationFormat>화면 슬라이드 쇼(4:3)</PresentationFormat>
  <Paragraphs>94</Paragraphs>
  <Slides>14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가을</vt:lpstr>
      <vt:lpstr>건강검진 청구</vt:lpstr>
      <vt:lpstr>1. 프로그램 실행하기</vt:lpstr>
      <vt:lpstr>2. 성적확인 1-1</vt:lpstr>
      <vt:lpstr>2.성적확인 1-2</vt:lpstr>
      <vt:lpstr>3. 청구화일 생성 1-1</vt:lpstr>
      <vt:lpstr>3. 청구화일 생성 1-2</vt:lpstr>
      <vt:lpstr>4. 디스켓작성 1-1</vt:lpstr>
      <vt:lpstr>4. 디스켓작성 1-2</vt:lpstr>
      <vt:lpstr>5. 공단청구 1-1</vt:lpstr>
      <vt:lpstr>5. 공단청구 1-2</vt:lpstr>
      <vt:lpstr>5. 공단청구  2-1</vt:lpstr>
      <vt:lpstr>6.청구서출력</vt:lpstr>
      <vt:lpstr>7.반송 1-1</vt:lpstr>
      <vt:lpstr>7.반송 1-2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건강검진 청구</dc:title>
  <dc:creator>지희숙</dc:creator>
  <cp:lastModifiedBy>SEC</cp:lastModifiedBy>
  <cp:revision>37</cp:revision>
  <dcterms:created xsi:type="dcterms:W3CDTF">2010-01-19T07:19:01Z</dcterms:created>
  <dcterms:modified xsi:type="dcterms:W3CDTF">2010-02-08T01:28:07Z</dcterms:modified>
</cp:coreProperties>
</file>