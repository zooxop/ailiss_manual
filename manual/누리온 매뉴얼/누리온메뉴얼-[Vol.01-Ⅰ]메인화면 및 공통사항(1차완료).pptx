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400" r:id="rId2"/>
    <p:sldId id="258" r:id="rId3"/>
    <p:sldId id="345" r:id="rId4"/>
    <p:sldId id="398" r:id="rId5"/>
    <p:sldId id="399" r:id="rId6"/>
    <p:sldId id="391" r:id="rId7"/>
    <p:sldId id="392" r:id="rId8"/>
    <p:sldId id="393" r:id="rId9"/>
    <p:sldId id="394" r:id="rId10"/>
    <p:sldId id="395" r:id="rId11"/>
    <p:sldId id="396" r:id="rId12"/>
    <p:sldId id="397" r:id="rId13"/>
  </p:sldIdLst>
  <p:sldSz cx="9906000" cy="6858000" type="A4"/>
  <p:notesSz cx="9939338" cy="68072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6583" autoAdjust="0"/>
    <p:restoredTop sz="94660" autoAdjust="0"/>
  </p:normalViewPr>
  <p:slideViewPr>
    <p:cSldViewPr>
      <p:cViewPr varScale="1">
        <p:scale>
          <a:sx n="116" d="100"/>
          <a:sy n="116" d="100"/>
        </p:scale>
        <p:origin x="-1710" y="-96"/>
      </p:cViewPr>
      <p:guideLst>
        <p:guide orient="horz" pos="935"/>
        <p:guide pos="27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1398" y="-84"/>
      </p:cViewPr>
      <p:guideLst>
        <p:guide orient="horz" pos="2144"/>
        <p:guide pos="313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30567" y="0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3BC38-6B88-48E1-946D-21E545C3368A}" type="datetimeFigureOut">
              <a:rPr lang="ko-KR" altLang="en-US" smtClean="0"/>
              <a:pPr/>
              <a:t>2016-08-26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65265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30567" y="6465265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0EC1D-3534-4B3A-8CB3-E6F221D9FA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30567" y="0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33571-A313-4801-8FCB-C6EB3B94E46D}" type="datetimeFigureOut">
              <a:rPr lang="ko-KR" altLang="en-US" smtClean="0"/>
              <a:pPr/>
              <a:t>2016-08-26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25788" y="511175"/>
            <a:ext cx="3687762" cy="2552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3934" y="3233420"/>
            <a:ext cx="7951470" cy="3063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65265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30567" y="6465265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75355-C4FD-4FBD-9908-FB753DE1AA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/>
          <a:lstStyle/>
          <a:p>
            <a:fld id="{FED36DFB-A57B-4746-B5E7-E11F8B1474F2}" type="datetimeFigureOut">
              <a:rPr lang="ko-KR" altLang="en-US" smtClean="0"/>
              <a:pPr/>
              <a:t>2016-08-26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800872" y="6492875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D9B53-0516-4E5C-999F-1BAEBD06949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3800872" y="6492875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dirty="0" smtClean="0">
                <a:latin typeface="HY동녘M" pitchFamily="18" charset="-127"/>
                <a:ea typeface="HY동녘M" pitchFamily="18" charset="-127"/>
              </a:rPr>
              <a:t>Ⅰ-</a:t>
            </a:r>
            <a:fld id="{4DA07E4F-6DD0-4CC4-88B7-868E7B7710E0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그림 7" descr="로고1.png"/>
          <p:cNvPicPr>
            <a:picLocks noChangeAspect="1"/>
          </p:cNvPicPr>
          <p:nvPr userDrawn="1"/>
        </p:nvPicPr>
        <p:blipFill>
          <a:blip r:embed="rId11" cstate="print"/>
          <a:srcRect l="23255" t="44750" r="23254" b="45800"/>
          <a:stretch>
            <a:fillRect/>
          </a:stretch>
        </p:blipFill>
        <p:spPr>
          <a:xfrm>
            <a:off x="7204298" y="6472386"/>
            <a:ext cx="1105808" cy="276452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 userDrawn="1"/>
        </p:nvSpPr>
        <p:spPr>
          <a:xfrm>
            <a:off x="200472" y="714356"/>
            <a:ext cx="9505056" cy="5738832"/>
          </a:xfrm>
          <a:prstGeom prst="roundRect">
            <a:avLst>
              <a:gd name="adj" fmla="val 2184"/>
            </a:avLst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4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72480" y="260648"/>
            <a:ext cx="1323906" cy="31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직선 연결선 10"/>
          <p:cNvCxnSpPr/>
          <p:nvPr userDrawn="1"/>
        </p:nvCxnSpPr>
        <p:spPr>
          <a:xfrm>
            <a:off x="1856656" y="302204"/>
            <a:ext cx="0" cy="230969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8265584" y="6530683"/>
            <a:ext cx="151195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>
                    <a:lumMod val="65000"/>
                  </a:schemeClr>
                </a:solidFill>
              </a:rPr>
              <a:t>Copyright </a:t>
            </a:r>
            <a:r>
              <a:rPr lang="en-US" altLang="ko-KR" sz="700" b="1" dirty="0" smtClean="0">
                <a:solidFill>
                  <a:schemeClr val="bg1">
                    <a:lumMod val="65000"/>
                  </a:schemeClr>
                </a:solidFill>
              </a:rPr>
              <a:t>ⓒ </a:t>
            </a:r>
            <a:r>
              <a:rPr lang="ko-KR" altLang="en-US" sz="700" b="1" dirty="0" smtClean="0">
                <a:solidFill>
                  <a:schemeClr val="bg1">
                    <a:lumMod val="65000"/>
                  </a:schemeClr>
                </a:solidFill>
              </a:rPr>
              <a:t>㈜ 아름누리메디컴</a:t>
            </a:r>
            <a:endParaRPr lang="ko-KR" altLang="en-US" sz="7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1738290" y="214290"/>
            <a:ext cx="28712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dirty="0" smtClean="0">
                <a:latin typeface="HY동녘M" pitchFamily="18" charset="-127"/>
                <a:ea typeface="HY동녘M" pitchFamily="18" charset="-127"/>
              </a:rPr>
              <a:t>Ⅰ.  </a:t>
            </a:r>
            <a:r>
              <a:rPr lang="ko-KR" altLang="en-US" sz="1800" dirty="0" smtClean="0">
                <a:latin typeface="HY동녘M" pitchFamily="18" charset="-127"/>
                <a:ea typeface="HY동녘M" pitchFamily="18" charset="-127"/>
              </a:rPr>
              <a:t>메인화면 및 공통사항</a:t>
            </a:r>
            <a:endParaRPr lang="ko-KR" altLang="en-US" sz="1800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 flipH="1">
            <a:off x="0" y="0"/>
            <a:ext cx="9905999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440832" y="2636912"/>
            <a:ext cx="5407249" cy="81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altLang="ko-KR" sz="3600" b="1" dirty="0" smtClean="0">
                <a:solidFill>
                  <a:schemeClr val="bg1"/>
                </a:solidFill>
              </a:rPr>
              <a:t>Ⅰ. </a:t>
            </a:r>
            <a:r>
              <a:rPr lang="ko-KR" altLang="en-US" sz="3600" b="1" dirty="0" err="1" smtClean="0">
                <a:solidFill>
                  <a:schemeClr val="bg1"/>
                </a:solidFill>
              </a:rPr>
              <a:t>메인화면</a:t>
            </a:r>
            <a:r>
              <a:rPr lang="ko-KR" altLang="en-US" sz="3600" b="1" dirty="0" smtClean="0">
                <a:solidFill>
                  <a:schemeClr val="bg1"/>
                </a:solidFill>
              </a:rPr>
              <a:t> 및 공통사항</a:t>
            </a:r>
            <a:endParaRPr lang="en-US" altLang="ko-KR" sz="3600" dirty="0" smtClean="0">
              <a:solidFill>
                <a:schemeClr val="bg1"/>
              </a:solidFill>
            </a:endParaRPr>
          </a:p>
        </p:txBody>
      </p:sp>
      <p:pic>
        <p:nvPicPr>
          <p:cNvPr id="15" name="그림 14" descr="화면3종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6576" y="2564904"/>
            <a:ext cx="2059681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52800" y="836713"/>
            <a:ext cx="35205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lnSpc>
                <a:spcPct val="150000"/>
              </a:lnSpc>
            </a:pPr>
            <a:r>
              <a:rPr lang="ko-KR" altLang="en-US" dirty="0" smtClean="0">
                <a:latin typeface="HY동녘M" pitchFamily="18" charset="-127"/>
                <a:ea typeface="HY동녘M" pitchFamily="18" charset="-127"/>
              </a:rPr>
              <a:t>목차</a:t>
            </a:r>
            <a:endParaRPr lang="ko-KR" altLang="en-US" dirty="0">
              <a:latin typeface="HY동녘M" pitchFamily="18" charset="-127"/>
              <a:ea typeface="HY동녘M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416496" y="1340768"/>
          <a:ext cx="9073008" cy="1602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364"/>
                <a:gridCol w="5311492"/>
                <a:gridCol w="1368152"/>
              </a:tblGrid>
              <a:tr h="3626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메뉴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비고</a:t>
                      </a:r>
                      <a:endParaRPr lang="ko-KR" altLang="en-US" dirty="0"/>
                    </a:p>
                  </a:txBody>
                  <a:tcPr/>
                </a:tc>
              </a:tr>
              <a:tr h="362692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로그인</a:t>
                      </a:r>
                      <a:endParaRPr lang="en-US" altLang="ko-KR" sz="1200" b="1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200" b="0" dirty="0" smtClean="0"/>
                        <a:t>아이디</a:t>
                      </a:r>
                      <a:r>
                        <a:rPr lang="en-US" altLang="ko-KR" sz="1200" b="0" dirty="0" smtClean="0"/>
                        <a:t>/</a:t>
                      </a:r>
                      <a:r>
                        <a:rPr lang="ko-KR" altLang="en-US" sz="1200" b="0" dirty="0" smtClean="0"/>
                        <a:t>비밀번호를 입력하여 누리온</a:t>
                      </a:r>
                      <a:r>
                        <a:rPr lang="en-US" altLang="ko-KR" sz="1200" b="0" dirty="0" smtClean="0"/>
                        <a:t>(</a:t>
                      </a:r>
                      <a:r>
                        <a:rPr lang="ko-KR" altLang="en-US" sz="1200" b="0" dirty="0" smtClean="0"/>
                        <a:t>맞춤형 검진시스템</a:t>
                      </a:r>
                      <a:r>
                        <a:rPr lang="en-US" altLang="ko-KR" sz="1200" b="0" dirty="0" smtClean="0"/>
                        <a:t>)</a:t>
                      </a:r>
                      <a:r>
                        <a:rPr lang="ko-KR" altLang="en-US" sz="1200" b="0" dirty="0" smtClean="0"/>
                        <a:t>에 로그인합니다</a:t>
                      </a:r>
                      <a:r>
                        <a:rPr lang="en-US" altLang="ko-KR" sz="1200" b="0" dirty="0" smtClean="0"/>
                        <a:t>.</a:t>
                      </a:r>
                    </a:p>
                    <a:p>
                      <a:r>
                        <a:rPr lang="en-US" altLang="ko-KR" sz="1200" b="0" dirty="0" smtClean="0"/>
                        <a:t>* </a:t>
                      </a:r>
                      <a:r>
                        <a:rPr lang="ko-KR" altLang="en-US" sz="1200" b="0" dirty="0" smtClean="0"/>
                        <a:t>부가 기능으로 연결설정</a:t>
                      </a:r>
                      <a:r>
                        <a:rPr lang="en-US" altLang="ko-KR" sz="1200" b="0" dirty="0" smtClean="0"/>
                        <a:t>, </a:t>
                      </a:r>
                      <a:r>
                        <a:rPr lang="ko-KR" altLang="en-US" sz="1200" b="0" dirty="0" smtClean="0"/>
                        <a:t>암호변경</a:t>
                      </a:r>
                      <a:r>
                        <a:rPr lang="en-US" altLang="ko-KR" sz="1200" b="0" dirty="0" smtClean="0"/>
                        <a:t>, </a:t>
                      </a:r>
                      <a:r>
                        <a:rPr lang="ko-KR" altLang="en-US" sz="1200" b="0" dirty="0" smtClean="0"/>
                        <a:t>공지사항확인</a:t>
                      </a:r>
                      <a:r>
                        <a:rPr lang="en-US" altLang="ko-KR" sz="1200" b="0" dirty="0" smtClean="0"/>
                        <a:t>, </a:t>
                      </a:r>
                      <a:r>
                        <a:rPr lang="ko-KR" altLang="en-US" sz="1200" b="0" dirty="0" smtClean="0"/>
                        <a:t>새소식확인</a:t>
                      </a:r>
                      <a:r>
                        <a:rPr lang="en-US" altLang="ko-KR" sz="1200" b="0" dirty="0" smtClean="0"/>
                        <a:t>, </a:t>
                      </a:r>
                      <a:r>
                        <a:rPr lang="ko-KR" altLang="en-US" sz="1200" b="0" dirty="0" smtClean="0"/>
                        <a:t>원격지원 기능이 있습니다</a:t>
                      </a:r>
                      <a:r>
                        <a:rPr lang="en-US" altLang="ko-KR" sz="1200" b="0" dirty="0" smtClean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  <a:tr h="32271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smtClean="0"/>
                        <a:t>2. </a:t>
                      </a:r>
                      <a:r>
                        <a:rPr lang="ko-KR" altLang="en-US" sz="1200" b="1" dirty="0" smtClean="0"/>
                        <a:t>메인화면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/>
                        <a:t>누리온 메인화면으로 기본정보확인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 이용메뉴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환경설정 기능이 있습니다</a:t>
                      </a:r>
                      <a:r>
                        <a:rPr lang="en-US" altLang="ko-KR" sz="1200" dirty="0" smtClean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/>
                        <a:t>3. </a:t>
                      </a:r>
                      <a:r>
                        <a:rPr lang="ko-KR" altLang="en-US" sz="1200" b="1" dirty="0" smtClean="0"/>
                        <a:t>월중행사 및 계획표</a:t>
                      </a:r>
                      <a:r>
                        <a:rPr lang="en-US" altLang="ko-KR" sz="1200" b="1" dirty="0" smtClean="0"/>
                        <a:t>(</a:t>
                      </a:r>
                      <a:r>
                        <a:rPr lang="ko-KR" altLang="en-US" sz="1200" b="1" dirty="0" smtClean="0"/>
                        <a:t>공지사항</a:t>
                      </a:r>
                      <a:r>
                        <a:rPr lang="en-US" altLang="ko-KR" sz="1200" b="1" dirty="0" smtClean="0"/>
                        <a:t>)</a:t>
                      </a:r>
                      <a:endParaRPr lang="ko-KR" altLang="en-US" sz="12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월중행사 및 계획표를 확인하고 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등록</a:t>
                      </a:r>
                      <a:r>
                        <a:rPr lang="en-US" altLang="ko-KR" sz="1200" dirty="0" smtClean="0"/>
                        <a:t>/</a:t>
                      </a:r>
                      <a:r>
                        <a:rPr lang="ko-KR" altLang="en-US" sz="1200" dirty="0" smtClean="0"/>
                        <a:t>수정합니다</a:t>
                      </a:r>
                      <a:r>
                        <a:rPr lang="en-US" altLang="ko-KR" sz="1200" dirty="0" smtClean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0968" y="785794"/>
            <a:ext cx="949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HY동녘M" pitchFamily="18" charset="-127"/>
                <a:ea typeface="HY동녘M" pitchFamily="18" charset="-127"/>
              </a:rPr>
              <a:t>1. </a:t>
            </a:r>
            <a:r>
              <a:rPr lang="ko-KR" altLang="en-US" sz="1400" dirty="0" smtClean="0">
                <a:latin typeface="HY동녘M" pitchFamily="18" charset="-127"/>
                <a:ea typeface="HY동녘M" pitchFamily="18" charset="-127"/>
              </a:rPr>
              <a:t>로그인</a:t>
            </a:r>
            <a:endParaRPr lang="ko-KR" altLang="en-US" sz="1400" dirty="0"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16496" y="1052736"/>
            <a:ext cx="9073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설명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아이디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비밀번호를 입력하여 누리온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맞춤형 검진시스템</a:t>
            </a:r>
            <a:r>
              <a:rPr lang="en-US" altLang="ko-KR" sz="1200" dirty="0" smtClean="0"/>
              <a:t>)</a:t>
            </a:r>
            <a:r>
              <a:rPr lang="ko-KR" altLang="en-US" sz="1200" dirty="0" smtClean="0"/>
              <a:t>에 로그인합니다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/>
              <a:t>* </a:t>
            </a:r>
            <a:r>
              <a:rPr lang="ko-KR" altLang="en-US" sz="1200" dirty="0" smtClean="0"/>
              <a:t>부가 기능으로 연결설정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암호변경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공지사항확인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새소식확인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원격지원 접속 기능이 있습니다</a:t>
            </a:r>
            <a:r>
              <a:rPr lang="en-US" altLang="ko-KR" sz="1200" dirty="0" smtClean="0"/>
              <a:t>. </a:t>
            </a:r>
          </a:p>
          <a:p>
            <a:r>
              <a:rPr lang="en-US" altLang="ko-KR" sz="1200" dirty="0" smtClean="0"/>
              <a:t>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9931" y="404664"/>
            <a:ext cx="840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dirty="0" smtClean="0">
                <a:latin typeface="HY동녘M" pitchFamily="18" charset="-127"/>
                <a:ea typeface="HY동녘M" pitchFamily="18" charset="-127"/>
              </a:rPr>
              <a:t>1. </a:t>
            </a:r>
            <a:r>
              <a:rPr lang="ko-KR" altLang="en-US" sz="1200" dirty="0" smtClean="0">
                <a:latin typeface="HY동녘M" pitchFamily="18" charset="-127"/>
                <a:ea typeface="HY동녘M" pitchFamily="18" charset="-127"/>
              </a:rPr>
              <a:t>로그인</a:t>
            </a:r>
            <a:endParaRPr lang="ko-KR" altLang="en-US" sz="1200" dirty="0">
              <a:latin typeface="HY동녘M" pitchFamily="18" charset="-127"/>
              <a:ea typeface="HY동녘M" pitchFamily="18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6496" y="1628800"/>
            <a:ext cx="5184576" cy="3511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Box 20"/>
          <p:cNvSpPr txBox="1"/>
          <p:nvPr/>
        </p:nvSpPr>
        <p:spPr>
          <a:xfrm>
            <a:off x="5673080" y="1593751"/>
            <a:ext cx="39604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>
                <a:latin typeface="+mj-lt"/>
              </a:rPr>
              <a:t>1) </a:t>
            </a:r>
            <a:r>
              <a:rPr lang="ko-KR" altLang="en-US" sz="1000" b="1" dirty="0" smtClean="0">
                <a:latin typeface="+mj-lt"/>
              </a:rPr>
              <a:t>로그인</a:t>
            </a:r>
            <a:endParaRPr lang="en-US" altLang="ko-KR" sz="1000" dirty="0" smtClean="0">
              <a:latin typeface="+mj-lt"/>
            </a:endParaRP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>
                <a:latin typeface="+mj-lt"/>
              </a:rPr>
              <a:t>   - </a:t>
            </a:r>
            <a:r>
              <a:rPr lang="ko-KR" altLang="en-US" sz="1000" dirty="0" smtClean="0">
                <a:latin typeface="+mj-lt"/>
              </a:rPr>
              <a:t>아이디</a:t>
            </a:r>
            <a:r>
              <a:rPr lang="en-US" altLang="ko-KR" sz="1000" dirty="0" smtClean="0">
                <a:latin typeface="+mj-lt"/>
              </a:rPr>
              <a:t>/</a:t>
            </a:r>
            <a:r>
              <a:rPr lang="ko-KR" altLang="en-US" sz="1000" dirty="0" smtClean="0">
                <a:latin typeface="+mj-lt"/>
              </a:rPr>
              <a:t>비밀번호를 입력하여 누리온</a:t>
            </a:r>
            <a:r>
              <a:rPr lang="en-US" altLang="ko-KR" sz="1000" dirty="0" smtClean="0">
                <a:latin typeface="+mj-lt"/>
              </a:rPr>
              <a:t>(</a:t>
            </a:r>
            <a:r>
              <a:rPr lang="ko-KR" altLang="en-US" sz="1000" dirty="0" smtClean="0">
                <a:latin typeface="+mj-lt"/>
              </a:rPr>
              <a:t>맞춤형 검진시스템</a:t>
            </a:r>
            <a:r>
              <a:rPr lang="en-US" altLang="ko-KR" sz="1000" dirty="0" smtClean="0">
                <a:latin typeface="+mj-lt"/>
              </a:rPr>
              <a:t>)</a:t>
            </a:r>
            <a:r>
              <a:rPr lang="ko-KR" altLang="en-US" sz="1000" dirty="0" smtClean="0">
                <a:latin typeface="+mj-lt"/>
              </a:rPr>
              <a:t>에 로그인합니다</a:t>
            </a:r>
            <a:r>
              <a:rPr lang="en-US" altLang="ko-KR" sz="1000" dirty="0" smtClean="0">
                <a:latin typeface="+mj-lt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endParaRPr lang="en-US" altLang="ko-KR" sz="1000" dirty="0" smtClean="0">
              <a:latin typeface="+mj-lt"/>
            </a:endParaRPr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/>
              <a:t>2) </a:t>
            </a:r>
            <a:r>
              <a:rPr lang="ko-KR" altLang="en-US" sz="1000" b="1" dirty="0" smtClean="0"/>
              <a:t>연결설정</a:t>
            </a: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 - </a:t>
            </a:r>
            <a:r>
              <a:rPr lang="ko-KR" altLang="en-US" sz="1000" dirty="0" smtClean="0"/>
              <a:t>프로그램 설치 후 최초 접속시 서버 접속 연결설정을 처리합니다</a:t>
            </a:r>
            <a:r>
              <a:rPr lang="en-US" altLang="ko-KR" sz="1000" dirty="0" smtClean="0"/>
              <a:t>.</a:t>
            </a:r>
            <a:endParaRPr lang="en-US" altLang="ko-KR" sz="1000" dirty="0" smtClean="0">
              <a:latin typeface="+mj-lt"/>
            </a:endParaRPr>
          </a:p>
          <a:p>
            <a:pPr marL="228600" indent="-228600">
              <a:lnSpc>
                <a:spcPct val="120000"/>
              </a:lnSpc>
            </a:pPr>
            <a:endParaRPr lang="en-US" altLang="ko-KR" sz="1000" b="1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/>
              <a:t>3) </a:t>
            </a:r>
            <a:r>
              <a:rPr lang="ko-KR" altLang="en-US" sz="1000" b="1" dirty="0" smtClean="0"/>
              <a:t>암호변경</a:t>
            </a: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 - </a:t>
            </a:r>
            <a:r>
              <a:rPr lang="ko-KR" altLang="en-US" sz="1000" dirty="0" smtClean="0"/>
              <a:t>기 등록된 로그인 사용자 비밀번호를 변경합니다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endParaRPr lang="en-US" altLang="ko-KR" sz="1000" b="1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/>
              <a:t>4) </a:t>
            </a:r>
            <a:r>
              <a:rPr lang="ko-KR" altLang="en-US" sz="1000" b="1" dirty="0" smtClean="0"/>
              <a:t>공지사항</a:t>
            </a: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 - </a:t>
            </a:r>
            <a:r>
              <a:rPr lang="ko-KR" altLang="en-US" sz="1000" dirty="0" smtClean="0"/>
              <a:t>아름누리메디컴에서 제공하는 공지사항을 확인합니다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endParaRPr lang="en-US" altLang="ko-KR" sz="1000" b="1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/>
              <a:t>5) </a:t>
            </a:r>
            <a:r>
              <a:rPr lang="ko-KR" altLang="en-US" sz="1000" b="1" dirty="0" smtClean="0"/>
              <a:t>새소식</a:t>
            </a: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 - </a:t>
            </a:r>
            <a:r>
              <a:rPr lang="ko-KR" altLang="en-US" sz="1000" dirty="0" smtClean="0"/>
              <a:t>아름누리메디컴에서 제공하는 새소식을 확인합니다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endParaRPr lang="en-US" altLang="ko-KR" sz="1000" b="1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/>
              <a:t>6) </a:t>
            </a:r>
            <a:r>
              <a:rPr lang="ko-KR" altLang="en-US" sz="1000" b="1" dirty="0" smtClean="0"/>
              <a:t>원격지원</a:t>
            </a: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 - </a:t>
            </a:r>
            <a:r>
              <a:rPr lang="ko-KR" altLang="en-US" sz="1000" dirty="0" smtClean="0"/>
              <a:t>아름누리메디컴에서 지원하는 원격서비스에 접속합니다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>
                <a:solidFill>
                  <a:srgbClr val="FF0000"/>
                </a:solidFill>
              </a:rPr>
              <a:t>   ※ </a:t>
            </a:r>
            <a:r>
              <a:rPr lang="ko-KR" altLang="en-US" sz="1000" dirty="0" smtClean="0">
                <a:solidFill>
                  <a:srgbClr val="FF0000"/>
                </a:solidFill>
              </a:rPr>
              <a:t>원격지원서비스는 아름누리고객센터로 먼저 전화 후 상담안내에 따라 진행하여야 합니다</a:t>
            </a:r>
            <a:r>
              <a:rPr lang="en-US" altLang="ko-KR" sz="1000" dirty="0" smtClean="0">
                <a:solidFill>
                  <a:srgbClr val="FF0000"/>
                </a:solidFill>
              </a:rPr>
              <a:t>.</a:t>
            </a:r>
            <a:r>
              <a:rPr lang="ko-KR" altLang="en-US" sz="1000" dirty="0" smtClean="0">
                <a:solidFill>
                  <a:srgbClr val="FF0000"/>
                </a:solidFill>
              </a:rPr>
              <a:t> </a:t>
            </a:r>
            <a:endParaRPr lang="en-US" altLang="ko-KR" sz="1000" dirty="0" smtClean="0">
              <a:solidFill>
                <a:srgbClr val="FF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0404" y="5523334"/>
            <a:ext cx="2376264" cy="792088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58716" y="5439891"/>
            <a:ext cx="2304256" cy="893298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</p:pic>
      <p:sp>
        <p:nvSpPr>
          <p:cNvPr id="32" name="모서리가 둥근 직사각형 31"/>
          <p:cNvSpPr/>
          <p:nvPr/>
        </p:nvSpPr>
        <p:spPr>
          <a:xfrm>
            <a:off x="450404" y="5528667"/>
            <a:ext cx="2448272" cy="792088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3258716" y="5445224"/>
            <a:ext cx="2342356" cy="864096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1026468" y="5312643"/>
            <a:ext cx="697627" cy="24622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latin typeface="+mj-lt"/>
              </a:rPr>
              <a:t>연결설정</a:t>
            </a:r>
            <a:endParaRPr lang="ko-KR" altLang="en-US" sz="1000" dirty="0">
              <a:latin typeface="+mj-l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834780" y="5229200"/>
            <a:ext cx="697627" cy="24622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latin typeface="+mj-lt"/>
              </a:rPr>
              <a:t>암호변경</a:t>
            </a:r>
            <a:endParaRPr lang="ko-KR" altLang="en-US" sz="1000" dirty="0">
              <a:latin typeface="+mj-lt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416496" y="1628800"/>
            <a:ext cx="5184576" cy="3528392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0968" y="785794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HY동녘M" pitchFamily="18" charset="-127"/>
                <a:ea typeface="HY동녘M" pitchFamily="18" charset="-127"/>
              </a:rPr>
              <a:t>2. </a:t>
            </a:r>
            <a:r>
              <a:rPr lang="ko-KR" altLang="en-US" sz="1400" dirty="0" smtClean="0">
                <a:latin typeface="HY동녘M" pitchFamily="18" charset="-127"/>
                <a:ea typeface="HY동녘M" pitchFamily="18" charset="-127"/>
              </a:rPr>
              <a:t>메인화면</a:t>
            </a:r>
            <a:endParaRPr lang="ko-KR" altLang="en-US" sz="1400" dirty="0"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16496" y="1052736"/>
            <a:ext cx="900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설명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누리온 메인화면으로 기본정보확인</a:t>
            </a:r>
            <a:r>
              <a:rPr lang="en-US" altLang="ko-KR" sz="1200" dirty="0" smtClean="0"/>
              <a:t>,  </a:t>
            </a:r>
            <a:r>
              <a:rPr lang="ko-KR" altLang="en-US" sz="1200" dirty="0" smtClean="0"/>
              <a:t>이용메뉴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환경설정 기능이 있습니다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1308" y="404664"/>
            <a:ext cx="942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dirty="0" smtClean="0">
                <a:latin typeface="HY동녘M" pitchFamily="18" charset="-127"/>
                <a:ea typeface="HY동녘M" pitchFamily="18" charset="-127"/>
              </a:rPr>
              <a:t>2.</a:t>
            </a:r>
            <a:r>
              <a:rPr lang="ko-KR" altLang="en-US" sz="1200" dirty="0" smtClean="0">
                <a:latin typeface="HY동녘M" pitchFamily="18" charset="-127"/>
                <a:ea typeface="HY동녘M" pitchFamily="18" charset="-127"/>
              </a:rPr>
              <a:t>메인화면</a:t>
            </a:r>
            <a:endParaRPr lang="ko-KR" altLang="en-US" sz="1200" dirty="0">
              <a:latin typeface="HY동녘M" pitchFamily="18" charset="-127"/>
              <a:ea typeface="HY동녘M" pitchFamily="18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1700808"/>
            <a:ext cx="6552728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모서리가 둥근 직사각형 16"/>
          <p:cNvSpPr/>
          <p:nvPr/>
        </p:nvSpPr>
        <p:spPr>
          <a:xfrm>
            <a:off x="344488" y="1700808"/>
            <a:ext cx="6552728" cy="4680520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2846487" y="6102821"/>
            <a:ext cx="1152128" cy="2462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j-lt"/>
              </a:rPr>
              <a:t>2.1.1 </a:t>
            </a:r>
            <a:r>
              <a:rPr lang="ko-KR" altLang="en-US" sz="1000" dirty="0" smtClean="0">
                <a:latin typeface="+mj-lt"/>
              </a:rPr>
              <a:t>메인화면</a:t>
            </a:r>
            <a:endParaRPr lang="ko-KR" altLang="en-US" sz="1000" dirty="0"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73280" y="1412776"/>
            <a:ext cx="1584176" cy="2462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j-lt"/>
              </a:rPr>
              <a:t>2.1.2 </a:t>
            </a:r>
            <a:r>
              <a:rPr lang="ko-KR" altLang="en-US" sz="1000" dirty="0" smtClean="0">
                <a:latin typeface="+mj-lt"/>
              </a:rPr>
              <a:t>마이메뉴 설정</a:t>
            </a:r>
            <a:endParaRPr lang="ko-KR" altLang="en-US" sz="1000" dirty="0">
              <a:latin typeface="+mj-lt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4520952" y="1685925"/>
            <a:ext cx="365373" cy="230907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꺾인 연결선 22"/>
          <p:cNvCxnSpPr>
            <a:stCxn id="16" idx="0"/>
            <a:endCxn id="15" idx="1"/>
          </p:cNvCxnSpPr>
          <p:nvPr/>
        </p:nvCxnSpPr>
        <p:spPr>
          <a:xfrm rot="5400000" flipH="1" flipV="1">
            <a:off x="6013440" y="226086"/>
            <a:ext cx="150038" cy="2769641"/>
          </a:xfrm>
          <a:prstGeom prst="bentConnector2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17296" y="2852936"/>
            <a:ext cx="1584176" cy="2462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j-lt"/>
              </a:rPr>
              <a:t>2.1.3 </a:t>
            </a:r>
            <a:r>
              <a:rPr lang="ko-KR" altLang="en-US" sz="1000" dirty="0" smtClean="0">
                <a:latin typeface="+mj-lt"/>
              </a:rPr>
              <a:t>화면잠금 설정</a:t>
            </a:r>
            <a:endParaRPr lang="ko-KR" altLang="en-US" sz="1000" dirty="0">
              <a:latin typeface="+mj-lt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6004545" y="1950740"/>
            <a:ext cx="504056" cy="216024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꺾인 연결선 22"/>
          <p:cNvCxnSpPr>
            <a:stCxn id="32" idx="2"/>
            <a:endCxn id="27" idx="1"/>
          </p:cNvCxnSpPr>
          <p:nvPr/>
        </p:nvCxnSpPr>
        <p:spPr>
          <a:xfrm rot="16200000" flipH="1">
            <a:off x="6532293" y="1891043"/>
            <a:ext cx="809283" cy="1360723"/>
          </a:xfrm>
          <a:prstGeom prst="bentConnector2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0968" y="872474"/>
            <a:ext cx="2396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HY동녘M" pitchFamily="18" charset="-127"/>
                <a:ea typeface="HY동녘M" pitchFamily="18" charset="-127"/>
              </a:rPr>
              <a:t>○ </a:t>
            </a:r>
            <a:r>
              <a:rPr lang="ko-KR" altLang="en-US" sz="1400" dirty="0" smtClean="0">
                <a:latin typeface="HY동녘M" pitchFamily="18" charset="-127"/>
                <a:ea typeface="HY동녘M" pitchFamily="18" charset="-127"/>
              </a:rPr>
              <a:t>메인화면 주요 업무 설명</a:t>
            </a:r>
            <a:endParaRPr lang="ko-KR" altLang="en-US" sz="1400" dirty="0">
              <a:latin typeface="HY동녘M" pitchFamily="18" charset="-127"/>
              <a:ea typeface="HY동녘M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52406" y="1229664"/>
          <a:ext cx="878687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330"/>
                <a:gridCol w="4714908"/>
                <a:gridCol w="1571636"/>
              </a:tblGrid>
              <a:tr h="3254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관리부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주요 업무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비고</a:t>
                      </a:r>
                      <a:endParaRPr lang="ko-KR" altLang="en-US" dirty="0"/>
                    </a:p>
                  </a:txBody>
                  <a:tcPr/>
                </a:tc>
              </a:tr>
              <a:tr h="3254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2.1 </a:t>
                      </a:r>
                      <a:r>
                        <a:rPr lang="ko-KR" altLang="en-US" sz="1200" dirty="0" smtClean="0"/>
                        <a:t>메인화면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누리온 메인화면으로 기본정보확인</a:t>
                      </a:r>
                      <a:r>
                        <a:rPr lang="en-US" altLang="ko-KR" sz="1200" dirty="0" smtClean="0"/>
                        <a:t>,  </a:t>
                      </a:r>
                      <a:r>
                        <a:rPr lang="ko-KR" altLang="en-US" sz="1200" dirty="0" smtClean="0"/>
                        <a:t>이용메뉴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환경설정 기능이 있습니다</a:t>
                      </a:r>
                      <a:r>
                        <a:rPr lang="en-US" altLang="ko-KR" sz="1200" dirty="0" smtClean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  <a:tr h="16272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2.2 </a:t>
                      </a:r>
                      <a:r>
                        <a:rPr lang="ko-KR" altLang="en-US" sz="1200" dirty="0" smtClean="0"/>
                        <a:t>마이메뉴설정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메인화면 메뉴부</a:t>
                      </a:r>
                      <a:r>
                        <a:rPr lang="en-US" altLang="ko-KR" sz="1200" dirty="0" smtClean="0"/>
                        <a:t>-</a:t>
                      </a:r>
                      <a:r>
                        <a:rPr lang="ko-KR" altLang="en-US" sz="1200" dirty="0" smtClean="0"/>
                        <a:t>마이메뉴에서 이용 할 메뉴를 등록합니다</a:t>
                      </a:r>
                      <a:r>
                        <a:rPr lang="en-US" altLang="ko-KR" sz="1200" dirty="0" smtClean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  <a:tr h="16272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2.3 </a:t>
                      </a:r>
                      <a:r>
                        <a:rPr lang="ko-KR" altLang="en-US" sz="1200" dirty="0" smtClean="0"/>
                        <a:t>화면잠금설정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대기시간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분</a:t>
                      </a:r>
                      <a:r>
                        <a:rPr lang="en-US" altLang="ko-KR" sz="1200" dirty="0" smtClean="0"/>
                        <a:t>) </a:t>
                      </a:r>
                      <a:r>
                        <a:rPr lang="ko-KR" altLang="en-US" sz="1200" dirty="0" smtClean="0"/>
                        <a:t>동안 컴퓨터를 사용하지 않으면 메인화면을 잠금 화면으로 변경하도록 설정합니다</a:t>
                      </a:r>
                      <a:r>
                        <a:rPr lang="en-US" altLang="ko-KR" sz="1200" dirty="0" smtClean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91308" y="404664"/>
            <a:ext cx="942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dirty="0" smtClean="0">
                <a:latin typeface="HY동녘M" pitchFamily="18" charset="-127"/>
                <a:ea typeface="HY동녘M" pitchFamily="18" charset="-127"/>
              </a:rPr>
              <a:t>2.</a:t>
            </a:r>
            <a:r>
              <a:rPr lang="ko-KR" altLang="en-US" sz="1200" dirty="0" smtClean="0">
                <a:latin typeface="HY동녘M" pitchFamily="18" charset="-127"/>
                <a:ea typeface="HY동녘M" pitchFamily="18" charset="-127"/>
              </a:rPr>
              <a:t>메인화면</a:t>
            </a:r>
            <a:endParaRPr lang="ko-KR" altLang="en-US" sz="1200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>
          <a:xfrm>
            <a:off x="416496" y="1052736"/>
            <a:ext cx="9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설명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누리온 메인화면은 기본정보 표시부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메뉴부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이용 중인 메뉴 표시부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화면부로 구성됩니다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6897216" y="1412776"/>
            <a:ext cx="2736304" cy="4968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>
                <a:latin typeface="+mj-lt"/>
              </a:rPr>
              <a:t>1) </a:t>
            </a:r>
            <a:r>
              <a:rPr lang="ko-KR" altLang="en-US" sz="1000" b="1" dirty="0" smtClean="0">
                <a:latin typeface="+mj-lt"/>
              </a:rPr>
              <a:t>기본정보 확인 및 서비스</a:t>
            </a:r>
            <a:endParaRPr lang="en-US" altLang="ko-KR" sz="1000" dirty="0" smtClean="0">
              <a:latin typeface="+mj-lt"/>
            </a:endParaRP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- </a:t>
            </a:r>
            <a:r>
              <a:rPr lang="ko-KR" altLang="en-US" sz="1000" dirty="0" smtClean="0"/>
              <a:t>기본정보확인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시스템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해당병원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고객센터 전화번호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프로그램버전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접속자아이디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접속일자 정보를 확인합니다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>
                <a:solidFill>
                  <a:srgbClr val="FF0000"/>
                </a:solidFill>
                <a:latin typeface="+mj-lt"/>
              </a:rPr>
              <a:t>   - </a:t>
            </a:r>
            <a:r>
              <a:rPr lang="ko-KR" altLang="en-US" sz="1000" dirty="0" smtClean="0">
                <a:solidFill>
                  <a:srgbClr val="FF0000"/>
                </a:solidFill>
                <a:latin typeface="+mj-lt"/>
              </a:rPr>
              <a:t>화면잠금 </a:t>
            </a:r>
            <a:r>
              <a:rPr lang="en-US" altLang="ko-KR" sz="1000" dirty="0" smtClean="0">
                <a:solidFill>
                  <a:srgbClr val="FF0000"/>
                </a:solidFill>
                <a:latin typeface="+mj-lt"/>
              </a:rPr>
              <a:t>: </a:t>
            </a:r>
            <a:r>
              <a:rPr lang="ko-KR" altLang="en-US" sz="1000" dirty="0" smtClean="0">
                <a:solidFill>
                  <a:srgbClr val="FF0000"/>
                </a:solidFill>
                <a:latin typeface="+mj-lt"/>
              </a:rPr>
              <a:t>장시간 미 이용시 화면잠금처리 합니다</a:t>
            </a:r>
            <a:r>
              <a:rPr lang="en-US" altLang="ko-KR" sz="1000" dirty="0" smtClean="0">
                <a:solidFill>
                  <a:srgbClr val="FF0000"/>
                </a:solidFill>
                <a:latin typeface="+mj-lt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 ※ </a:t>
            </a:r>
            <a:r>
              <a:rPr lang="ko-KR" altLang="en-US" sz="1000" dirty="0" smtClean="0"/>
              <a:t>환경설정 메뉴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뒤쪽 참고</a:t>
            </a:r>
            <a:r>
              <a:rPr lang="en-US" altLang="ko-KR" sz="1000" dirty="0" smtClean="0"/>
              <a:t>)</a:t>
            </a:r>
            <a:endParaRPr lang="en-US" altLang="ko-KR" sz="1000" dirty="0" smtClean="0">
              <a:latin typeface="+mj-lt"/>
            </a:endParaRP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 - </a:t>
            </a:r>
            <a:r>
              <a:rPr lang="ko-KR" altLang="en-US" sz="1000" dirty="0" smtClean="0"/>
              <a:t>마이메뉴 설정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자주 이용하는 메뉴를 등록하여 편리하게 이용할 수 있습니다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 ※ </a:t>
            </a:r>
            <a:r>
              <a:rPr lang="ko-KR" altLang="en-US" sz="1000" dirty="0" smtClean="0"/>
              <a:t>상세설명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뒤쪽 참고</a:t>
            </a:r>
            <a:r>
              <a:rPr lang="en-US" altLang="ko-KR" sz="1000" dirty="0" smtClean="0"/>
              <a:t>)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 - </a:t>
            </a:r>
            <a:r>
              <a:rPr lang="ko-KR" altLang="en-US" sz="1000" dirty="0" smtClean="0"/>
              <a:t>고객원격지원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원격지원서비스 페이지를 호출합니다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 - </a:t>
            </a:r>
            <a:r>
              <a:rPr lang="ko-KR" altLang="en-US" sz="1000" dirty="0" smtClean="0"/>
              <a:t>통합결과지출력</a:t>
            </a:r>
            <a:r>
              <a:rPr lang="en-US" altLang="ko-KR" sz="1000" dirty="0" smtClean="0"/>
              <a:t>, OCS</a:t>
            </a:r>
            <a:r>
              <a:rPr lang="ko-KR" altLang="en-US" sz="1000" dirty="0" smtClean="0"/>
              <a:t>연동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병원정보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해당 관리 프로그램을 호출합니다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 ※ </a:t>
            </a:r>
            <a:r>
              <a:rPr lang="ko-KR" altLang="en-US" sz="1000" dirty="0" smtClean="0"/>
              <a:t>상세설명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별도 메뉴얼 참고</a:t>
            </a:r>
            <a:r>
              <a:rPr lang="en-US" altLang="ko-KR" sz="1000" dirty="0" smtClean="0"/>
              <a:t>)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 - </a:t>
            </a:r>
            <a:r>
              <a:rPr lang="ko-KR" altLang="en-US" sz="1000" dirty="0" smtClean="0"/>
              <a:t>로그아웃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프로그램을 종료합니다</a:t>
            </a:r>
            <a:r>
              <a:rPr lang="en-US" altLang="ko-KR" sz="1000" dirty="0" smtClean="0"/>
              <a:t>. 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/>
              <a:t>2) </a:t>
            </a:r>
            <a:r>
              <a:rPr lang="ko-KR" altLang="en-US" sz="1000" b="1" dirty="0" smtClean="0"/>
              <a:t>메뉴부</a:t>
            </a: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- </a:t>
            </a:r>
            <a:r>
              <a:rPr lang="ko-KR" altLang="en-US" sz="1000" dirty="0" smtClean="0"/>
              <a:t>전체메뉴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누리온 전체메뉴 입니다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- </a:t>
            </a:r>
            <a:r>
              <a:rPr lang="ko-KR" altLang="en-US" sz="1000" dirty="0" smtClean="0"/>
              <a:t>마이메뉴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마이메뉴 설정된 메뉴입니다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>
                <a:solidFill>
                  <a:srgbClr val="FF0000"/>
                </a:solidFill>
              </a:rPr>
              <a:t>   ※ </a:t>
            </a:r>
            <a:r>
              <a:rPr lang="ko-KR" altLang="en-US" sz="1000" dirty="0" smtClean="0">
                <a:solidFill>
                  <a:srgbClr val="FF0000"/>
                </a:solidFill>
              </a:rPr>
              <a:t>메뉴는 닫기</a:t>
            </a:r>
            <a:r>
              <a:rPr lang="en-US" altLang="ko-KR" sz="1000" dirty="0" smtClean="0">
                <a:solidFill>
                  <a:srgbClr val="FF0000"/>
                </a:solidFill>
              </a:rPr>
              <a:t>/</a:t>
            </a:r>
            <a:r>
              <a:rPr lang="ko-KR" altLang="en-US" sz="1000" dirty="0" smtClean="0">
                <a:solidFill>
                  <a:srgbClr val="FF0000"/>
                </a:solidFill>
              </a:rPr>
              <a:t>열기 버튼을 이용하여 필요시 화면에 표시합니다</a:t>
            </a:r>
            <a:r>
              <a:rPr lang="en-US" altLang="ko-KR" sz="1000" dirty="0" smtClean="0">
                <a:solidFill>
                  <a:srgbClr val="FF0000"/>
                </a:solidFill>
              </a:rPr>
              <a:t>.</a:t>
            </a:r>
            <a:r>
              <a:rPr lang="ko-KR" altLang="en-US" sz="1000" dirty="0" smtClean="0">
                <a:solidFill>
                  <a:srgbClr val="FF0000"/>
                </a:solidFill>
              </a:rPr>
              <a:t> </a:t>
            </a:r>
            <a:endParaRPr lang="en-US" altLang="ko-KR" sz="1000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/>
              <a:t>3) </a:t>
            </a:r>
            <a:r>
              <a:rPr lang="ko-KR" altLang="en-US" sz="1000" b="1" dirty="0" smtClean="0"/>
              <a:t>이용 중인 메뉴명 표시부</a:t>
            </a:r>
            <a:endParaRPr lang="en-US" altLang="ko-KR" sz="1000" b="1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- </a:t>
            </a:r>
            <a:r>
              <a:rPr lang="ko-KR" altLang="en-US" sz="1000" dirty="0" smtClean="0"/>
              <a:t>메뉴부에서 선택되어 이용중인 메뉴 목록을 관리합니다</a:t>
            </a:r>
            <a:r>
              <a:rPr lang="en-US" altLang="ko-KR" sz="1000" dirty="0" smtClean="0"/>
              <a:t>.</a:t>
            </a:r>
            <a:endParaRPr lang="en-US" altLang="ko-KR" sz="1000" b="1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/>
              <a:t>4) </a:t>
            </a:r>
            <a:r>
              <a:rPr lang="ko-KR" altLang="en-US" sz="1000" b="1" dirty="0" smtClean="0"/>
              <a:t>화면부</a:t>
            </a:r>
            <a:endParaRPr lang="en-US" altLang="ko-KR" sz="1000" b="1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- </a:t>
            </a:r>
            <a:r>
              <a:rPr lang="ko-KR" altLang="en-US" sz="1000" dirty="0" smtClean="0"/>
              <a:t>선택된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메뉴 화면 표시부 입니다</a:t>
            </a:r>
            <a:r>
              <a:rPr lang="en-US" altLang="ko-KR" sz="1000" dirty="0" smtClean="0"/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1308" y="404664"/>
            <a:ext cx="942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dirty="0" smtClean="0">
                <a:latin typeface="HY동녘M" pitchFamily="18" charset="-127"/>
                <a:ea typeface="HY동녘M" pitchFamily="18" charset="-127"/>
              </a:rPr>
              <a:t>2.</a:t>
            </a:r>
            <a:r>
              <a:rPr lang="ko-KR" altLang="en-US" sz="1200" dirty="0" smtClean="0">
                <a:latin typeface="HY동녘M" pitchFamily="18" charset="-127"/>
                <a:ea typeface="HY동녘M" pitchFamily="18" charset="-127"/>
              </a:rPr>
              <a:t>메인화면</a:t>
            </a:r>
            <a:endParaRPr lang="ko-KR" altLang="en-US" sz="1200" dirty="0">
              <a:latin typeface="HY동녘M" pitchFamily="18" charset="-127"/>
              <a:ea typeface="HY동녘M" pitchFamily="18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1412776"/>
            <a:ext cx="6552728" cy="4723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모서리가 둥근 직사각형 9"/>
          <p:cNvSpPr/>
          <p:nvPr/>
        </p:nvSpPr>
        <p:spPr>
          <a:xfrm>
            <a:off x="334962" y="2060848"/>
            <a:ext cx="1089645" cy="4320480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60512" y="6093296"/>
            <a:ext cx="569387" cy="24622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latin typeface="+mj-lt"/>
              </a:rPr>
              <a:t>메뉴부</a:t>
            </a:r>
            <a:endParaRPr lang="ko-KR" altLang="en-US" sz="1000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72880" y="6165304"/>
            <a:ext cx="569387" cy="24622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latin typeface="+mj-lt"/>
              </a:rPr>
              <a:t>화면부</a:t>
            </a:r>
            <a:endParaRPr lang="ko-KR" altLang="en-US" sz="1000" dirty="0">
              <a:latin typeface="+mj-lt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344488" y="1403251"/>
            <a:ext cx="6552728" cy="504056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344488" y="1916832"/>
            <a:ext cx="6552728" cy="144016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1424608" y="2060848"/>
            <a:ext cx="5472608" cy="4320480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352600" y="1628800"/>
            <a:ext cx="1656184" cy="2462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+mj-lt"/>
              </a:rPr>
              <a:t>기본정보 확인 및 서비스</a:t>
            </a:r>
            <a:endParaRPr lang="ko-KR" altLang="en-US" sz="1000" dirty="0"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360712" y="1916833"/>
            <a:ext cx="1872208" cy="2462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+mj-lt"/>
              </a:rPr>
              <a:t>이용 중인 메뉴명 표시부</a:t>
            </a:r>
            <a:endParaRPr lang="ko-KR" altLang="en-US" sz="1000" dirty="0"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0968" y="785794"/>
            <a:ext cx="1495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HY동녘M" pitchFamily="18" charset="-127"/>
                <a:ea typeface="HY동녘M" pitchFamily="18" charset="-127"/>
              </a:rPr>
              <a:t>2.1 </a:t>
            </a:r>
            <a:r>
              <a:rPr lang="ko-KR" altLang="en-US" sz="1200" dirty="0" smtClean="0">
                <a:latin typeface="HY동녘M" pitchFamily="18" charset="-127"/>
                <a:ea typeface="HY동녘M" pitchFamily="18" charset="-127"/>
              </a:rPr>
              <a:t>메인화면 구성</a:t>
            </a:r>
            <a:endParaRPr lang="ko-KR" altLang="en-US" sz="1200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>
          <a:xfrm>
            <a:off x="416496" y="1052736"/>
            <a:ext cx="9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설명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메인화면 메뉴부</a:t>
            </a:r>
            <a:r>
              <a:rPr lang="en-US" altLang="ko-KR" sz="1200" dirty="0" smtClean="0"/>
              <a:t>-</a:t>
            </a:r>
            <a:r>
              <a:rPr lang="ko-KR" altLang="en-US" sz="1200" dirty="0" smtClean="0"/>
              <a:t>마이메뉴에서 이용 할 메뉴를 등록합니다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5601072" y="1412776"/>
            <a:ext cx="40324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>
                <a:latin typeface="+mj-lt"/>
              </a:rPr>
              <a:t>1) </a:t>
            </a:r>
            <a:r>
              <a:rPr lang="ko-KR" altLang="en-US" sz="1000" b="1" dirty="0" smtClean="0">
                <a:latin typeface="+mj-lt"/>
              </a:rPr>
              <a:t>전체메뉴</a:t>
            </a:r>
            <a:endParaRPr lang="en-US" altLang="ko-KR" sz="1000" dirty="0" smtClean="0">
              <a:latin typeface="+mj-lt"/>
            </a:endParaRP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- </a:t>
            </a:r>
            <a:r>
              <a:rPr lang="ko-KR" altLang="en-US" sz="1000" dirty="0" smtClean="0"/>
              <a:t>누리온 메뉴 전체가 표시됩니다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/>
              <a:t>2) </a:t>
            </a:r>
            <a:r>
              <a:rPr lang="ko-KR" altLang="en-US" sz="1000" b="1" dirty="0" smtClean="0"/>
              <a:t>마이메뉴</a:t>
            </a: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- </a:t>
            </a:r>
            <a:r>
              <a:rPr lang="ko-KR" altLang="en-US" sz="1000" dirty="0" smtClean="0"/>
              <a:t>마이메뉴에서 이용할 메뉴목록이 표시됩니다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/>
              <a:t>3) </a:t>
            </a:r>
            <a:r>
              <a:rPr lang="ko-KR" altLang="en-US" sz="1000" b="1" dirty="0" smtClean="0"/>
              <a:t>마이메뉴 등록 방법</a:t>
            </a:r>
            <a:endParaRPr lang="en-US" altLang="ko-KR" sz="1000" b="1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</a:t>
            </a:r>
            <a:r>
              <a:rPr lang="ko-KR" altLang="ko-KR" sz="1000" dirty="0" smtClean="0"/>
              <a:t>①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그룹추가를 클릭하여 메뉴를 관리할 메뉴그룹을 생성합니다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② </a:t>
            </a:r>
            <a:r>
              <a:rPr lang="ko-KR" altLang="en-US" sz="1000" dirty="0" smtClean="0"/>
              <a:t>생성된 그룹명을 변경합니다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ko-KR" altLang="en-US" sz="1000" dirty="0" smtClean="0"/>
              <a:t>     예</a:t>
            </a:r>
            <a:r>
              <a:rPr lang="en-US" altLang="ko-KR" sz="1000" dirty="0" smtClean="0"/>
              <a:t>) </a:t>
            </a:r>
            <a:r>
              <a:rPr lang="ko-KR" altLang="en-US" sz="1000" dirty="0" smtClean="0"/>
              <a:t>새 그룹 </a:t>
            </a:r>
            <a:r>
              <a:rPr lang="en-US" altLang="ko-KR" sz="1000" dirty="0" smtClean="0"/>
              <a:t>=&gt; </a:t>
            </a:r>
            <a:r>
              <a:rPr lang="ko-KR" altLang="en-US" sz="1000" dirty="0" smtClean="0"/>
              <a:t>예약</a:t>
            </a:r>
            <a:r>
              <a:rPr lang="en-US" altLang="ko-KR" sz="1000" dirty="0" smtClean="0"/>
              <a:t>/</a:t>
            </a:r>
            <a:r>
              <a:rPr lang="ko-KR" altLang="en-US" sz="1000" dirty="0" smtClean="0"/>
              <a:t>접수</a:t>
            </a: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r>
              <a:rPr lang="ko-KR" altLang="en-US" sz="1000" dirty="0" smtClean="0"/>
              <a:t>  ③ 생성된 메뉴그룹에 추가할 메뉴를 전체메뉴에서 선택합니다</a:t>
            </a:r>
            <a:r>
              <a:rPr lang="en-US" altLang="ko-KR" sz="1000" dirty="0" smtClean="0"/>
              <a:t>.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r>
              <a:rPr lang="ko-KR" altLang="en-US" sz="1000" dirty="0" smtClean="0"/>
              <a:t>  ④ 추가버튼</a:t>
            </a:r>
            <a:r>
              <a:rPr lang="en-US" altLang="ko-KR" sz="1000" dirty="0" smtClean="0"/>
              <a:t>(     )</a:t>
            </a:r>
            <a:r>
              <a:rPr lang="ko-KR" altLang="en-US" sz="1000" dirty="0" smtClean="0"/>
              <a:t>을 클릭하여 메뉴를 추가합니다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/>
              <a:t>4) </a:t>
            </a:r>
            <a:r>
              <a:rPr lang="ko-KR" altLang="en-US" sz="1000" b="1" dirty="0" smtClean="0"/>
              <a:t>마이메뉴 메뉴 위치 변경</a:t>
            </a:r>
            <a:endParaRPr lang="en-US" altLang="ko-KR" sz="1000" b="1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-     </a:t>
            </a:r>
            <a:r>
              <a:rPr lang="ko-KR" altLang="en-US" sz="1000" dirty="0" smtClean="0"/>
              <a:t>        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선택된 메뉴를 위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또는 아래로 이동시킵니다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/>
              <a:t>5) </a:t>
            </a:r>
            <a:r>
              <a:rPr lang="ko-KR" altLang="en-US" sz="1000" b="1" dirty="0" smtClean="0"/>
              <a:t>중요 버튼 설명</a:t>
            </a:r>
            <a:endParaRPr lang="en-US" altLang="ko-KR" sz="1000" b="1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- </a:t>
            </a:r>
            <a:r>
              <a:rPr lang="ko-KR" altLang="en-US" sz="1000" dirty="0" smtClean="0"/>
              <a:t>마이메뉴 저장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등록</a:t>
            </a:r>
            <a:r>
              <a:rPr lang="en-US" altLang="ko-KR" sz="1000" dirty="0" smtClean="0"/>
              <a:t>/</a:t>
            </a:r>
            <a:r>
              <a:rPr lang="ko-KR" altLang="en-US" sz="1000" dirty="0" smtClean="0"/>
              <a:t>수정된 마이메뉴를 저장합니다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- </a:t>
            </a:r>
            <a:r>
              <a:rPr lang="ko-KR" altLang="en-US" sz="1000" dirty="0" smtClean="0"/>
              <a:t>닫기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마이메뉴 설정을 종료합니다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endParaRPr lang="en-US" altLang="ko-KR" sz="1000" b="1" dirty="0" smtClean="0"/>
          </a:p>
          <a:p>
            <a:pPr marL="228600" indent="-228600">
              <a:lnSpc>
                <a:spcPct val="120000"/>
              </a:lnSpc>
            </a:pP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endParaRPr lang="en-US" altLang="ko-KR" sz="1000" dirty="0" smtClean="0"/>
          </a:p>
        </p:txBody>
      </p:sp>
      <p:sp>
        <p:nvSpPr>
          <p:cNvPr id="36" name="TextBox 35"/>
          <p:cNvSpPr txBox="1"/>
          <p:nvPr/>
        </p:nvSpPr>
        <p:spPr>
          <a:xfrm>
            <a:off x="8691308" y="404664"/>
            <a:ext cx="942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dirty="0" smtClean="0">
                <a:latin typeface="HY동녘M" pitchFamily="18" charset="-127"/>
                <a:ea typeface="HY동녘M" pitchFamily="18" charset="-127"/>
              </a:rPr>
              <a:t>2.</a:t>
            </a:r>
            <a:r>
              <a:rPr lang="ko-KR" altLang="en-US" sz="1200" dirty="0" smtClean="0">
                <a:latin typeface="HY동녘M" pitchFamily="18" charset="-127"/>
                <a:ea typeface="HY동녘M" pitchFamily="18" charset="-127"/>
              </a:rPr>
              <a:t>메인화면</a:t>
            </a:r>
            <a:endParaRPr lang="ko-KR" altLang="en-US" sz="1200" dirty="0"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44688" y="1556792"/>
            <a:ext cx="1656184" cy="2462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+mj-lt"/>
              </a:rPr>
              <a:t>기본정보 확인 및 서비스</a:t>
            </a:r>
            <a:endParaRPr lang="ko-KR" altLang="en-US" sz="1000" dirty="0"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2564904"/>
            <a:ext cx="5184576" cy="3720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2640" y="1484784"/>
            <a:ext cx="3780420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모서리가 둥근 직사각형 21"/>
          <p:cNvSpPr/>
          <p:nvPr/>
        </p:nvSpPr>
        <p:spPr>
          <a:xfrm>
            <a:off x="2288704" y="1484784"/>
            <a:ext cx="576064" cy="288032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344488" y="2564904"/>
            <a:ext cx="5184576" cy="3744416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아래쪽 화살표 24"/>
          <p:cNvSpPr/>
          <p:nvPr/>
        </p:nvSpPr>
        <p:spPr>
          <a:xfrm>
            <a:off x="2432720" y="1772816"/>
            <a:ext cx="360040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99076" y="3501008"/>
            <a:ext cx="192021" cy="144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17096" y="4005065"/>
            <a:ext cx="552061" cy="216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380968" y="785794"/>
            <a:ext cx="1444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HY동녘M" pitchFamily="18" charset="-127"/>
                <a:ea typeface="HY동녘M" pitchFamily="18" charset="-127"/>
              </a:rPr>
              <a:t>2.2 </a:t>
            </a:r>
            <a:r>
              <a:rPr lang="ko-KR" altLang="en-US" sz="1200" dirty="0" smtClean="0">
                <a:latin typeface="HY동녘M" pitchFamily="18" charset="-127"/>
                <a:ea typeface="HY동녘M" pitchFamily="18" charset="-127"/>
              </a:rPr>
              <a:t>마이메뉴설정</a:t>
            </a:r>
            <a:endParaRPr lang="ko-KR" altLang="en-US" sz="1200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>
          <a:xfrm>
            <a:off x="416496" y="1052736"/>
            <a:ext cx="9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설명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대기시간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분</a:t>
            </a:r>
            <a:r>
              <a:rPr lang="en-US" altLang="ko-KR" sz="1200" dirty="0" smtClean="0"/>
              <a:t>) </a:t>
            </a:r>
            <a:r>
              <a:rPr lang="ko-KR" altLang="en-US" sz="1200" dirty="0" smtClean="0"/>
              <a:t>동안 컴퓨터를 사용하지 않으면 메인화면을 잠금 화면으로 변경하도록 설정합니다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5601072" y="1412776"/>
            <a:ext cx="403244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>
                <a:latin typeface="+mj-lt"/>
              </a:rPr>
              <a:t>1) </a:t>
            </a:r>
            <a:r>
              <a:rPr lang="ko-KR" altLang="en-US" sz="1000" b="1" dirty="0" smtClean="0">
                <a:latin typeface="+mj-lt"/>
              </a:rPr>
              <a:t>환경설정 메뉴이동</a:t>
            </a:r>
            <a:endParaRPr lang="en-US" altLang="ko-KR" sz="1000" dirty="0" smtClean="0">
              <a:latin typeface="+mj-lt"/>
            </a:endParaRP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- </a:t>
            </a:r>
            <a:r>
              <a:rPr lang="ko-KR" altLang="en-US" sz="1000" dirty="0" smtClean="0"/>
              <a:t>메인화면</a:t>
            </a:r>
            <a:r>
              <a:rPr lang="en-US" altLang="ko-KR" sz="1000" dirty="0" smtClean="0"/>
              <a:t>/</a:t>
            </a:r>
            <a:r>
              <a:rPr lang="ko-KR" altLang="en-US" sz="1000" dirty="0" smtClean="0"/>
              <a:t>우측 상단 환경설정 버튼을 클릭합니다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/>
              <a:t>2) </a:t>
            </a:r>
            <a:r>
              <a:rPr lang="ko-KR" altLang="en-US" sz="1000" b="1" dirty="0" smtClean="0"/>
              <a:t>화면잠금 등록</a:t>
            </a: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- </a:t>
            </a:r>
            <a:r>
              <a:rPr lang="ko-KR" altLang="en-US" sz="1000" dirty="0" smtClean="0"/>
              <a:t>화면잠금 실행여부 </a:t>
            </a:r>
            <a:r>
              <a:rPr lang="en-US" altLang="ko-KR" sz="1000" dirty="0" smtClean="0"/>
              <a:t>: ‘</a:t>
            </a:r>
            <a:r>
              <a:rPr lang="ko-KR" altLang="en-US" sz="1000" dirty="0" smtClean="0"/>
              <a:t>예</a:t>
            </a:r>
            <a:r>
              <a:rPr lang="en-US" altLang="ko-KR" sz="1000" dirty="0" smtClean="0"/>
              <a:t>’</a:t>
            </a:r>
            <a:r>
              <a:rPr lang="ko-KR" altLang="en-US" sz="1000" dirty="0" smtClean="0"/>
              <a:t>를 선택합니다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- </a:t>
            </a:r>
            <a:r>
              <a:rPr lang="ko-KR" altLang="en-US" sz="1000" dirty="0" smtClean="0"/>
              <a:t>대기시간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분</a:t>
            </a:r>
            <a:r>
              <a:rPr lang="en-US" altLang="ko-KR" sz="1000" dirty="0" smtClean="0"/>
              <a:t>) : </a:t>
            </a:r>
            <a:r>
              <a:rPr lang="ko-KR" altLang="en-US" sz="1000" dirty="0" smtClean="0"/>
              <a:t>잠금 대기시간을 분단위로 입력합니다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- </a:t>
            </a:r>
            <a:r>
              <a:rPr lang="ko-KR" altLang="en-US" sz="1000" dirty="0" smtClean="0"/>
              <a:t>해제 비밀번호</a:t>
            </a:r>
            <a:r>
              <a:rPr lang="en-US" altLang="ko-KR" sz="1000" dirty="0" smtClean="0"/>
              <a:t> : </a:t>
            </a:r>
            <a:r>
              <a:rPr lang="ko-KR" altLang="en-US" sz="1000" dirty="0" smtClean="0"/>
              <a:t>잠금화면을 해제할 비밀번호 및 비밀번호 확인을 입력합니다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/>
              <a:t>3) </a:t>
            </a:r>
            <a:r>
              <a:rPr lang="ko-KR" altLang="en-US" sz="1000" b="1" dirty="0" smtClean="0"/>
              <a:t>중요 버튼 설명</a:t>
            </a:r>
            <a:endParaRPr lang="en-US" altLang="ko-KR" sz="1000" b="1" dirty="0" smtClean="0"/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- </a:t>
            </a:r>
            <a:r>
              <a:rPr lang="ko-KR" altLang="en-US" sz="1000" dirty="0" smtClean="0"/>
              <a:t>저장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화면잠금 설정을 저장합니다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/>
              <a:t>  - </a:t>
            </a:r>
            <a:r>
              <a:rPr lang="ko-KR" altLang="en-US" sz="1000" dirty="0" smtClean="0"/>
              <a:t>취소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화면잠금 설정 화면을 종료합니다</a:t>
            </a:r>
            <a:r>
              <a:rPr lang="en-US" altLang="ko-KR" sz="1000" dirty="0" smtClean="0"/>
              <a:t>.</a:t>
            </a:r>
          </a:p>
          <a:p>
            <a:pPr marL="228600" indent="-228600">
              <a:lnSpc>
                <a:spcPct val="120000"/>
              </a:lnSpc>
            </a:pPr>
            <a:endParaRPr lang="en-US" altLang="ko-KR" sz="1000" b="1" dirty="0" smtClean="0"/>
          </a:p>
          <a:p>
            <a:pPr marL="228600" indent="-228600">
              <a:lnSpc>
                <a:spcPct val="120000"/>
              </a:lnSpc>
            </a:pP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endParaRPr lang="en-US" altLang="ko-KR" sz="1000" dirty="0" smtClean="0"/>
          </a:p>
          <a:p>
            <a:pPr marL="228600" indent="-228600">
              <a:lnSpc>
                <a:spcPct val="120000"/>
              </a:lnSpc>
            </a:pPr>
            <a:endParaRPr lang="en-US" altLang="ko-KR" sz="1000" dirty="0" smtClean="0"/>
          </a:p>
        </p:txBody>
      </p:sp>
      <p:sp>
        <p:nvSpPr>
          <p:cNvPr id="36" name="TextBox 35"/>
          <p:cNvSpPr txBox="1"/>
          <p:nvPr/>
        </p:nvSpPr>
        <p:spPr>
          <a:xfrm>
            <a:off x="8691308" y="404664"/>
            <a:ext cx="942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dirty="0" smtClean="0">
                <a:latin typeface="HY동녘M" pitchFamily="18" charset="-127"/>
                <a:ea typeface="HY동녘M" pitchFamily="18" charset="-127"/>
              </a:rPr>
              <a:t>2.</a:t>
            </a:r>
            <a:r>
              <a:rPr lang="ko-KR" altLang="en-US" sz="1200" dirty="0" smtClean="0">
                <a:latin typeface="HY동녘M" pitchFamily="18" charset="-127"/>
                <a:ea typeface="HY동녘M" pitchFamily="18" charset="-127"/>
              </a:rPr>
              <a:t>메인화면</a:t>
            </a:r>
            <a:endParaRPr lang="ko-KR" altLang="en-US" sz="1200" dirty="0"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44688" y="1556792"/>
            <a:ext cx="1656184" cy="2462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+mj-lt"/>
              </a:rPr>
              <a:t>기본정보 확인 및 서비스</a:t>
            </a:r>
            <a:endParaRPr lang="ko-KR" altLang="en-US" sz="1000" dirty="0">
              <a:latin typeface="+mj-lt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2640" y="1484784"/>
            <a:ext cx="3780420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모서리가 둥근 직사각형 21"/>
          <p:cNvSpPr/>
          <p:nvPr/>
        </p:nvSpPr>
        <p:spPr>
          <a:xfrm>
            <a:off x="4304928" y="1772816"/>
            <a:ext cx="576064" cy="288032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아래쪽 화살표 24"/>
          <p:cNvSpPr/>
          <p:nvPr/>
        </p:nvSpPr>
        <p:spPr>
          <a:xfrm>
            <a:off x="4376936" y="2132856"/>
            <a:ext cx="360040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4488" y="2564904"/>
            <a:ext cx="5184576" cy="372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모서리가 둥근 직사각형 14"/>
          <p:cNvSpPr/>
          <p:nvPr/>
        </p:nvSpPr>
        <p:spPr>
          <a:xfrm>
            <a:off x="344488" y="2564904"/>
            <a:ext cx="5184576" cy="3744416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496888" y="2924944"/>
            <a:ext cx="783704" cy="288032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80968" y="785794"/>
            <a:ext cx="1495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HY동녘M" pitchFamily="18" charset="-127"/>
                <a:ea typeface="HY동녘M" pitchFamily="18" charset="-127"/>
              </a:rPr>
              <a:t>2.3 </a:t>
            </a:r>
            <a:r>
              <a:rPr lang="ko-KR" altLang="en-US" sz="1200" dirty="0" smtClean="0">
                <a:latin typeface="HY동녘M" pitchFamily="18" charset="-127"/>
                <a:ea typeface="HY동녘M" pitchFamily="18" charset="-127"/>
              </a:rPr>
              <a:t>화면잠금 설정</a:t>
            </a:r>
            <a:endParaRPr lang="ko-KR" altLang="en-US" sz="1200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2" descr="C:\1. 아름누리IT\5. AILISS 시스템\메뉴얼\내원접수관리.PN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57239" y="1866102"/>
            <a:ext cx="6924653" cy="4268753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80968" y="785794"/>
            <a:ext cx="19656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HY동녘M" pitchFamily="18" charset="-127"/>
                <a:ea typeface="HY동녘M" pitchFamily="18" charset="-127"/>
              </a:rPr>
              <a:t>3. </a:t>
            </a:r>
            <a:r>
              <a:rPr lang="ko-KR" altLang="en-US" sz="1400" dirty="0" smtClean="0">
                <a:latin typeface="HY동녘M" pitchFamily="18" charset="-127"/>
                <a:ea typeface="HY동녘M" pitchFamily="18" charset="-127"/>
              </a:rPr>
              <a:t>월중행사 및 계획표</a:t>
            </a:r>
            <a:endParaRPr lang="ko-KR" altLang="en-US" sz="1400" dirty="0"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452406" y="2428868"/>
            <a:ext cx="6929486" cy="3714776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809596" y="5715016"/>
            <a:ext cx="1056700" cy="24622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+mj-lt"/>
              </a:rPr>
              <a:t>1.1.1 </a:t>
            </a:r>
            <a:r>
              <a:rPr lang="ko-KR" altLang="en-US" sz="1000" dirty="0" smtClean="0">
                <a:latin typeface="+mj-lt"/>
              </a:rPr>
              <a:t>행사 조회</a:t>
            </a:r>
            <a:endParaRPr lang="en-US" altLang="ko-KR" sz="1000" dirty="0" smtClean="0">
              <a:latin typeface="+mj-lt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3452802" y="3857628"/>
            <a:ext cx="5857916" cy="2286016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7468200" y="5715016"/>
            <a:ext cx="1787669" cy="24622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+mj-lt"/>
              </a:rPr>
              <a:t>1.1.2 </a:t>
            </a:r>
            <a:r>
              <a:rPr lang="ko-KR" altLang="en-US" sz="1000" dirty="0" smtClean="0">
                <a:latin typeface="+mj-lt"/>
              </a:rPr>
              <a:t>일별 행사 및 계획관리</a:t>
            </a:r>
            <a:endParaRPr lang="en-US" altLang="ko-KR" sz="1000" dirty="0" smtClean="0">
              <a:latin typeface="+mj-lt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2339546" y="2800866"/>
            <a:ext cx="1041818" cy="609600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꺾인 연결선 51"/>
          <p:cNvCxnSpPr>
            <a:stCxn id="49" idx="1"/>
            <a:endCxn id="45" idx="1"/>
          </p:cNvCxnSpPr>
          <p:nvPr/>
        </p:nvCxnSpPr>
        <p:spPr>
          <a:xfrm rot="10800000" flipH="1" flipV="1">
            <a:off x="2339546" y="3105666"/>
            <a:ext cx="1113256" cy="1894970"/>
          </a:xfrm>
          <a:prstGeom prst="bentConnector3">
            <a:avLst>
              <a:gd name="adj1" fmla="val -50133"/>
            </a:avLst>
          </a:prstGeom>
          <a:ln w="190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452538" y="3143248"/>
            <a:ext cx="697627" cy="24622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latin typeface="+mj-lt"/>
              </a:rPr>
              <a:t>더블클릭</a:t>
            </a:r>
            <a:endParaRPr lang="en-US" altLang="ko-KR" sz="1000" dirty="0" smtClean="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73163" y="404664"/>
            <a:ext cx="16610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dirty="0" smtClean="0">
                <a:latin typeface="HY동녘M" pitchFamily="18" charset="-127"/>
                <a:ea typeface="HY동녘M" pitchFamily="18" charset="-127"/>
              </a:rPr>
              <a:t>3.</a:t>
            </a:r>
            <a:r>
              <a:rPr lang="ko-KR" altLang="en-US" sz="1200" dirty="0" smtClean="0">
                <a:latin typeface="HY동녘M" pitchFamily="18" charset="-127"/>
                <a:ea typeface="HY동녘M" pitchFamily="18" charset="-127"/>
              </a:rPr>
              <a:t>월중행사 및 계획표</a:t>
            </a:r>
            <a:endParaRPr lang="ko-KR" altLang="en-US" sz="1200" dirty="0"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6496" y="1052736"/>
            <a:ext cx="900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설명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월중행사 및 계획을 조회하고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관리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등록</a:t>
            </a:r>
            <a:r>
              <a:rPr lang="en-US" altLang="ko-KR" sz="1200" dirty="0" smtClean="0"/>
              <a:t>,</a:t>
            </a:r>
            <a:r>
              <a:rPr lang="ko-KR" altLang="en-US" sz="1200" dirty="0" smtClean="0"/>
              <a:t>수정</a:t>
            </a:r>
            <a:r>
              <a:rPr lang="en-US" altLang="ko-KR" sz="1200" dirty="0" smtClean="0"/>
              <a:t>,</a:t>
            </a:r>
            <a:r>
              <a:rPr lang="ko-KR" altLang="en-US" sz="1200" dirty="0" smtClean="0"/>
              <a:t>삭제</a:t>
            </a:r>
            <a:r>
              <a:rPr lang="en-US" altLang="ko-KR" sz="1200" dirty="0" smtClean="0"/>
              <a:t>) </a:t>
            </a:r>
            <a:r>
              <a:rPr lang="ko-KR" altLang="en-US" sz="1200" dirty="0" smtClean="0"/>
              <a:t>할 수 있습니다</a:t>
            </a:r>
            <a:r>
              <a:rPr lang="en-US" altLang="ko-KR" sz="1200" dirty="0" smtClean="0"/>
              <a:t>.</a:t>
            </a:r>
            <a:endParaRPr lang="ko-KR" altLang="en-US" sz="1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0968" y="872474"/>
            <a:ext cx="28151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HY동녘M" pitchFamily="18" charset="-127"/>
                <a:ea typeface="HY동녘M" pitchFamily="18" charset="-127"/>
              </a:rPr>
              <a:t>○ </a:t>
            </a:r>
            <a:r>
              <a:rPr lang="ko-KR" altLang="en-US" sz="1400" dirty="0" smtClean="0">
                <a:latin typeface="HY동녘M" pitchFamily="18" charset="-127"/>
                <a:ea typeface="HY동녘M" pitchFamily="18" charset="-127"/>
              </a:rPr>
              <a:t>월중행사 및 계획표 주요 업무</a:t>
            </a:r>
            <a:endParaRPr lang="ko-KR" altLang="en-US" sz="1400" dirty="0">
              <a:latin typeface="HY동녘M" pitchFamily="18" charset="-127"/>
              <a:ea typeface="HY동녘M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52406" y="1229664"/>
          <a:ext cx="8786874" cy="101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330"/>
                <a:gridCol w="4714908"/>
                <a:gridCol w="1571636"/>
              </a:tblGrid>
              <a:tr h="3254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관리부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주요 업무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비고</a:t>
                      </a:r>
                      <a:endParaRPr lang="ko-KR" altLang="en-US" dirty="0"/>
                    </a:p>
                  </a:txBody>
                  <a:tcPr/>
                </a:tc>
              </a:tr>
              <a:tr h="3254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3.1 </a:t>
                      </a:r>
                      <a:r>
                        <a:rPr lang="ko-KR" altLang="en-US" sz="1200" dirty="0" smtClean="0"/>
                        <a:t>행사조회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월별 행사 및 계획을 조회한다</a:t>
                      </a:r>
                      <a:r>
                        <a:rPr lang="en-US" altLang="ko-KR" sz="1200" dirty="0" smtClean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</a:tr>
              <a:tr h="3254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3.2 </a:t>
                      </a:r>
                      <a:r>
                        <a:rPr lang="ko-KR" altLang="en-US" sz="1200" dirty="0" smtClean="0"/>
                        <a:t>일별 행사 및 계획 관리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해당 일의 행사 및</a:t>
                      </a:r>
                      <a:r>
                        <a:rPr lang="ko-KR" altLang="en-US" sz="1200" baseline="0" dirty="0" smtClean="0"/>
                        <a:t> 상세메모를 조회하고 관리한다</a:t>
                      </a:r>
                      <a:r>
                        <a:rPr lang="en-US" altLang="ko-KR" sz="1200" baseline="0" dirty="0" smtClean="0"/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73163" y="404664"/>
            <a:ext cx="16610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dirty="0" smtClean="0">
                <a:latin typeface="HY동녘M" pitchFamily="18" charset="-127"/>
                <a:ea typeface="HY동녘M" pitchFamily="18" charset="-127"/>
              </a:rPr>
              <a:t>3.</a:t>
            </a:r>
            <a:r>
              <a:rPr lang="ko-KR" altLang="en-US" sz="1200" dirty="0" smtClean="0">
                <a:latin typeface="HY동녘M" pitchFamily="18" charset="-127"/>
                <a:ea typeface="HY동녘M" pitchFamily="18" charset="-127"/>
              </a:rPr>
              <a:t>월중행사 및 계획표</a:t>
            </a:r>
            <a:endParaRPr lang="ko-KR" altLang="en-US" sz="1200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0968" y="785794"/>
            <a:ext cx="1141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HY동녘M" pitchFamily="18" charset="-127"/>
                <a:ea typeface="HY동녘M" pitchFamily="18" charset="-127"/>
              </a:rPr>
              <a:t>3.1 </a:t>
            </a:r>
            <a:r>
              <a:rPr lang="ko-KR" altLang="en-US" sz="1200" dirty="0" smtClean="0">
                <a:latin typeface="HY동녘M" pitchFamily="18" charset="-127"/>
                <a:ea typeface="HY동녘M" pitchFamily="18" charset="-127"/>
              </a:rPr>
              <a:t>행사 조회</a:t>
            </a:r>
            <a:endParaRPr lang="ko-KR" altLang="en-US" sz="1200" dirty="0"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2406" y="1264535"/>
            <a:ext cx="4786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000" b="1" dirty="0" smtClean="0">
                <a:latin typeface="+mj-lt"/>
              </a:rPr>
              <a:t>월별 행사 및 계획 조회</a:t>
            </a:r>
            <a:endParaRPr lang="en-US" altLang="ko-KR" sz="1000" b="1" dirty="0" smtClean="0">
              <a:latin typeface="+mj-lt"/>
            </a:endParaRPr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>
                <a:solidFill>
                  <a:srgbClr val="FF0000"/>
                </a:solidFill>
                <a:latin typeface="+mj-lt"/>
              </a:rPr>
              <a:t>   </a:t>
            </a:r>
            <a:r>
              <a:rPr lang="en-US" altLang="ko-KR" sz="1000" dirty="0" smtClean="0">
                <a:latin typeface="+mj-lt"/>
              </a:rPr>
              <a:t>- </a:t>
            </a:r>
            <a:r>
              <a:rPr lang="ko-KR" altLang="en-US" sz="1000" dirty="0" smtClean="0">
                <a:latin typeface="+mj-lt"/>
              </a:rPr>
              <a:t>해당 월의 전체 행사 및 계획의 제목을 조회합니다</a:t>
            </a:r>
            <a:r>
              <a:rPr lang="en-US" altLang="ko-KR" sz="1000" dirty="0" smtClean="0">
                <a:latin typeface="+mj-lt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>
                <a:latin typeface="+mj-lt"/>
              </a:rPr>
              <a:t>   - </a:t>
            </a:r>
            <a:r>
              <a:rPr lang="ko-KR" altLang="en-US" sz="1000" dirty="0" smtClean="0">
                <a:latin typeface="+mj-lt"/>
              </a:rPr>
              <a:t>각 날짜 칸을 더블클릭 하면</a:t>
            </a:r>
            <a:r>
              <a:rPr lang="en-US" altLang="ko-KR" sz="1000" dirty="0" smtClean="0">
                <a:latin typeface="+mj-lt"/>
              </a:rPr>
              <a:t>, </a:t>
            </a:r>
            <a:r>
              <a:rPr lang="ko-KR" altLang="en-US" sz="1000" dirty="0" smtClean="0">
                <a:latin typeface="+mj-lt"/>
              </a:rPr>
              <a:t>행사 및 계획 관리 창을 표시합니다</a:t>
            </a:r>
            <a:r>
              <a:rPr lang="en-US" altLang="ko-KR" sz="1000" dirty="0" smtClean="0">
                <a:latin typeface="+mj-lt"/>
              </a:rPr>
              <a:t>.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80968" y="2571744"/>
            <a:ext cx="7037404" cy="3786214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2" descr="C:\1. 아름누리IT\5. AILISS 시스템\메뉴얼\내원접수관리.PN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52406" y="2643182"/>
            <a:ext cx="6924653" cy="3701524"/>
          </a:xfrm>
          <a:prstGeom prst="rect">
            <a:avLst/>
          </a:prstGeom>
          <a:noFill/>
        </p:spPr>
      </p:pic>
      <p:grpSp>
        <p:nvGrpSpPr>
          <p:cNvPr id="2" name="그룹 15"/>
          <p:cNvGrpSpPr/>
          <p:nvPr/>
        </p:nvGrpSpPr>
        <p:grpSpPr>
          <a:xfrm>
            <a:off x="5095876" y="1214422"/>
            <a:ext cx="4143404" cy="646331"/>
            <a:chOff x="5453066" y="1425347"/>
            <a:chExt cx="4143404" cy="646331"/>
          </a:xfrm>
        </p:grpSpPr>
        <p:sp>
          <p:nvSpPr>
            <p:cNvPr id="15" name="TextBox 14"/>
            <p:cNvSpPr txBox="1"/>
            <p:nvPr/>
          </p:nvSpPr>
          <p:spPr>
            <a:xfrm>
              <a:off x="5524504" y="1425347"/>
              <a:ext cx="40719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lnSpc>
                  <a:spcPct val="120000"/>
                </a:lnSpc>
              </a:pPr>
              <a:r>
                <a:rPr lang="en-US" altLang="ko-KR" sz="1000" b="1" dirty="0" smtClean="0">
                  <a:latin typeface="+mj-lt"/>
                </a:rPr>
                <a:t>   ,         : 1</a:t>
              </a:r>
              <a:r>
                <a:rPr lang="ko-KR" altLang="en-US" sz="1000" b="1" dirty="0" smtClean="0">
                  <a:latin typeface="+mj-lt"/>
                </a:rPr>
                <a:t>년 단위로 이동</a:t>
              </a:r>
              <a:endParaRPr lang="en-US" altLang="ko-KR" sz="1000" b="1" dirty="0" smtClean="0">
                <a:latin typeface="+mj-lt"/>
              </a:endParaRPr>
            </a:p>
            <a:p>
              <a:pPr marL="228600" indent="-228600">
                <a:lnSpc>
                  <a:spcPct val="120000"/>
                </a:lnSpc>
              </a:pPr>
              <a:endParaRPr lang="en-US" altLang="ko-KR" sz="1000" b="1" dirty="0" smtClean="0">
                <a:latin typeface="+mj-lt"/>
              </a:endParaRPr>
            </a:p>
            <a:p>
              <a:pPr marL="228600" indent="-228600">
                <a:lnSpc>
                  <a:spcPct val="120000"/>
                </a:lnSpc>
              </a:pPr>
              <a:r>
                <a:rPr lang="en-US" altLang="ko-KR" sz="1000" b="1" dirty="0" smtClean="0">
                  <a:latin typeface="+mj-lt"/>
                </a:rPr>
                <a:t>   ,         : 1</a:t>
              </a:r>
              <a:r>
                <a:rPr lang="ko-KR" altLang="en-US" sz="1000" b="1" dirty="0" smtClean="0">
                  <a:latin typeface="+mj-lt"/>
                </a:rPr>
                <a:t>개월 단위로 이동</a:t>
              </a:r>
              <a:endParaRPr lang="en-US" altLang="ko-KR" sz="1000" b="1" dirty="0" smtClean="0">
                <a:latin typeface="+mj-lt"/>
              </a:endParaRPr>
            </a:p>
          </p:txBody>
        </p:sp>
        <p:pic>
          <p:nvPicPr>
            <p:cNvPr id="10" name="그림 9" descr="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3066" y="1436974"/>
              <a:ext cx="266737" cy="238158"/>
            </a:xfrm>
            <a:prstGeom prst="rect">
              <a:avLst/>
            </a:prstGeom>
          </p:spPr>
        </p:pic>
        <p:pic>
          <p:nvPicPr>
            <p:cNvPr id="11" name="그림 10" descr="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flipH="1">
              <a:off x="5802018" y="1436974"/>
              <a:ext cx="266737" cy="238158"/>
            </a:xfrm>
            <a:prstGeom prst="rect">
              <a:avLst/>
            </a:prstGeom>
          </p:spPr>
        </p:pic>
        <p:pic>
          <p:nvPicPr>
            <p:cNvPr id="12" name="그림 11" descr="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3066" y="1748539"/>
              <a:ext cx="266737" cy="235959"/>
            </a:xfrm>
            <a:prstGeom prst="rect">
              <a:avLst/>
            </a:prstGeom>
          </p:spPr>
        </p:pic>
        <p:pic>
          <p:nvPicPr>
            <p:cNvPr id="14" name="그림 13" descr="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flipH="1">
              <a:off x="5810256" y="1747440"/>
              <a:ext cx="266737" cy="235959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/>
        </p:nvSpPr>
        <p:spPr>
          <a:xfrm>
            <a:off x="7973163" y="404664"/>
            <a:ext cx="16610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dirty="0" smtClean="0">
                <a:latin typeface="HY동녘M" pitchFamily="18" charset="-127"/>
                <a:ea typeface="HY동녘M" pitchFamily="18" charset="-127"/>
              </a:rPr>
              <a:t>3.</a:t>
            </a:r>
            <a:r>
              <a:rPr lang="ko-KR" altLang="en-US" sz="1200" dirty="0" smtClean="0">
                <a:latin typeface="HY동녘M" pitchFamily="18" charset="-127"/>
                <a:ea typeface="HY동녘M" pitchFamily="18" charset="-127"/>
              </a:rPr>
              <a:t>월중행사 및 계획표</a:t>
            </a:r>
            <a:endParaRPr lang="ko-KR" altLang="en-US" sz="1200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0968" y="785794"/>
            <a:ext cx="2111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HY동녘M" pitchFamily="18" charset="-127"/>
                <a:ea typeface="HY동녘M" pitchFamily="18" charset="-127"/>
              </a:rPr>
              <a:t>3.2 </a:t>
            </a:r>
            <a:r>
              <a:rPr lang="ko-KR" altLang="en-US" sz="1200" dirty="0" smtClean="0">
                <a:latin typeface="HY동녘M" pitchFamily="18" charset="-127"/>
                <a:ea typeface="HY동녘M" pitchFamily="18" charset="-127"/>
              </a:rPr>
              <a:t>일별 행사 및 계획 관리</a:t>
            </a:r>
            <a:endParaRPr lang="ko-KR" altLang="en-US" sz="1200" dirty="0"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2406" y="1142984"/>
            <a:ext cx="36433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buAutoNum type="arabicParenR"/>
            </a:pPr>
            <a:r>
              <a:rPr lang="ko-KR" altLang="en-US" sz="1000" b="1" dirty="0" smtClean="0">
                <a:latin typeface="+mj-lt"/>
              </a:rPr>
              <a:t>행사 및 계획 목록</a:t>
            </a:r>
            <a:endParaRPr lang="en-US" altLang="ko-KR" sz="1000" b="1" dirty="0" smtClean="0">
              <a:latin typeface="+mj-lt"/>
            </a:endParaRPr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>
                <a:solidFill>
                  <a:srgbClr val="FF0000"/>
                </a:solidFill>
                <a:latin typeface="+mj-lt"/>
              </a:rPr>
              <a:t>   </a:t>
            </a:r>
            <a:r>
              <a:rPr lang="en-US" altLang="ko-KR" sz="1000" dirty="0" smtClean="0">
                <a:latin typeface="+mj-lt"/>
              </a:rPr>
              <a:t>- </a:t>
            </a:r>
            <a:r>
              <a:rPr lang="ko-KR" altLang="en-US" sz="1000" dirty="0" smtClean="0">
                <a:latin typeface="+mj-lt"/>
              </a:rPr>
              <a:t>해당 날짜에 기 등록되어 있는 행사 및 계획목록입니다</a:t>
            </a:r>
            <a:r>
              <a:rPr lang="en-US" altLang="ko-KR" sz="1000" dirty="0" smtClean="0">
                <a:latin typeface="+mj-lt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>
                <a:latin typeface="+mj-lt"/>
              </a:rPr>
              <a:t>   - </a:t>
            </a:r>
            <a:r>
              <a:rPr lang="ko-KR" altLang="en-US" sz="1000" dirty="0" err="1" smtClean="0">
                <a:latin typeface="+mj-lt"/>
              </a:rPr>
              <a:t>계획별</a:t>
            </a:r>
            <a:r>
              <a:rPr lang="ko-KR" altLang="en-US" sz="1000" dirty="0" smtClean="0">
                <a:latin typeface="+mj-lt"/>
              </a:rPr>
              <a:t> 순번</a:t>
            </a:r>
            <a:r>
              <a:rPr lang="en-US" altLang="ko-KR" sz="1000" dirty="0" smtClean="0">
                <a:latin typeface="+mj-lt"/>
              </a:rPr>
              <a:t>, </a:t>
            </a:r>
            <a:r>
              <a:rPr lang="ko-KR" altLang="en-US" sz="1000" dirty="0" smtClean="0">
                <a:latin typeface="+mj-lt"/>
              </a:rPr>
              <a:t>표기메모</a:t>
            </a:r>
            <a:r>
              <a:rPr lang="en-US" altLang="ko-KR" sz="1000" dirty="0" smtClean="0">
                <a:latin typeface="+mj-lt"/>
              </a:rPr>
              <a:t>(</a:t>
            </a:r>
            <a:r>
              <a:rPr lang="ko-KR" altLang="en-US" sz="1000" dirty="0" smtClean="0">
                <a:latin typeface="+mj-lt"/>
              </a:rPr>
              <a:t>제목</a:t>
            </a:r>
            <a:r>
              <a:rPr lang="en-US" altLang="ko-KR" sz="1000" dirty="0" smtClean="0">
                <a:latin typeface="+mj-lt"/>
              </a:rPr>
              <a:t>)</a:t>
            </a:r>
            <a:r>
              <a:rPr lang="ko-KR" altLang="en-US" sz="1000" dirty="0" smtClean="0">
                <a:latin typeface="+mj-lt"/>
              </a:rPr>
              <a:t>를 표시합니다</a:t>
            </a:r>
            <a:r>
              <a:rPr lang="en-US" altLang="ko-KR" sz="1000" dirty="0" smtClean="0">
                <a:latin typeface="+mj-lt"/>
              </a:rPr>
              <a:t>.</a:t>
            </a:r>
          </a:p>
          <a:p>
            <a:pPr marL="228600" indent="-228600">
              <a:lnSpc>
                <a:spcPct val="120000"/>
              </a:lnSpc>
              <a:buAutoNum type="arabicParenR" startAt="2"/>
            </a:pPr>
            <a:r>
              <a:rPr lang="ko-KR" altLang="en-US" sz="1000" b="1" dirty="0" smtClean="0">
                <a:latin typeface="+mj-lt"/>
              </a:rPr>
              <a:t>메모 정보</a:t>
            </a:r>
            <a:endParaRPr lang="en-US" altLang="ko-KR" sz="1000" b="1" dirty="0" smtClean="0">
              <a:latin typeface="+mj-lt"/>
            </a:endParaRP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>
                <a:latin typeface="+mj-lt"/>
              </a:rPr>
              <a:t>   - </a:t>
            </a:r>
            <a:r>
              <a:rPr lang="ko-KR" altLang="en-US" sz="1000" dirty="0" smtClean="0">
                <a:latin typeface="+mj-lt"/>
              </a:rPr>
              <a:t>순번은 자동생성 됩니다</a:t>
            </a:r>
            <a:r>
              <a:rPr lang="en-US" altLang="ko-KR" sz="1000" dirty="0" smtClean="0">
                <a:latin typeface="+mj-lt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>
                <a:latin typeface="+mj-lt"/>
              </a:rPr>
              <a:t>   - </a:t>
            </a:r>
            <a:r>
              <a:rPr lang="ko-KR" altLang="en-US" sz="1000" dirty="0" smtClean="0">
                <a:latin typeface="+mj-lt"/>
              </a:rPr>
              <a:t>표기메모 </a:t>
            </a:r>
            <a:r>
              <a:rPr lang="en-US" altLang="ko-KR" sz="1000" dirty="0" smtClean="0">
                <a:latin typeface="+mj-lt"/>
              </a:rPr>
              <a:t>: </a:t>
            </a:r>
            <a:r>
              <a:rPr lang="ko-KR" altLang="en-US" sz="1000" dirty="0" smtClean="0">
                <a:latin typeface="+mj-lt"/>
              </a:rPr>
              <a:t>행사 및 계획의 제목입니다</a:t>
            </a:r>
            <a:r>
              <a:rPr lang="en-US" altLang="ko-KR" sz="1000" dirty="0" smtClean="0">
                <a:latin typeface="+mj-lt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>
                <a:latin typeface="+mj-lt"/>
              </a:rPr>
              <a:t>   - </a:t>
            </a:r>
            <a:r>
              <a:rPr lang="ko-KR" altLang="en-US" sz="1000" dirty="0" smtClean="0">
                <a:latin typeface="+mj-lt"/>
              </a:rPr>
              <a:t>세부메모 </a:t>
            </a:r>
            <a:r>
              <a:rPr lang="en-US" altLang="ko-KR" sz="1000" dirty="0" smtClean="0">
                <a:latin typeface="+mj-lt"/>
              </a:rPr>
              <a:t>: </a:t>
            </a:r>
            <a:r>
              <a:rPr lang="ko-KR" altLang="en-US" sz="1000" dirty="0" smtClean="0">
                <a:latin typeface="+mj-lt"/>
              </a:rPr>
              <a:t>행사 및 계획의 세부내용입니다</a:t>
            </a:r>
            <a:r>
              <a:rPr lang="en-US" altLang="ko-KR" sz="1000" dirty="0" smtClean="0">
                <a:latin typeface="+mj-lt"/>
              </a:rPr>
              <a:t>.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80968" y="2571744"/>
            <a:ext cx="6643734" cy="3786214"/>
          </a:xfrm>
          <a:prstGeom prst="roundRect">
            <a:avLst>
              <a:gd name="adj" fmla="val 3618"/>
            </a:avLst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2" descr="C:\1. 아름누리IT\5. AILISS 시스템\메뉴얼\내원접수관리.PN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67646" y="2643182"/>
            <a:ext cx="6465544" cy="3701524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4238620" y="1142984"/>
            <a:ext cx="46434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20000"/>
              </a:lnSpc>
              <a:buAutoNum type="arabicParenR" startAt="3"/>
            </a:pPr>
            <a:r>
              <a:rPr lang="ko-KR" altLang="en-US" sz="1000" b="1" dirty="0" smtClean="0">
                <a:latin typeface="+mj-lt"/>
              </a:rPr>
              <a:t>관리 버튼</a:t>
            </a:r>
            <a:endParaRPr lang="en-US" altLang="ko-KR" sz="1000" b="1" dirty="0" smtClean="0">
              <a:latin typeface="+mj-lt"/>
            </a:endParaRPr>
          </a:p>
          <a:p>
            <a:pPr marL="228600" indent="-228600">
              <a:lnSpc>
                <a:spcPct val="120000"/>
              </a:lnSpc>
            </a:pPr>
            <a:r>
              <a:rPr lang="en-US" altLang="ko-KR" sz="1000" b="1" dirty="0" smtClean="0">
                <a:latin typeface="+mj-lt"/>
              </a:rPr>
              <a:t>   </a:t>
            </a:r>
            <a:r>
              <a:rPr lang="en-US" altLang="ko-KR" sz="1000" dirty="0" smtClean="0">
                <a:latin typeface="+mj-lt"/>
              </a:rPr>
              <a:t>- </a:t>
            </a:r>
            <a:r>
              <a:rPr lang="ko-KR" altLang="en-US" sz="1000" dirty="0" smtClean="0">
                <a:latin typeface="+mj-lt"/>
              </a:rPr>
              <a:t>등록 </a:t>
            </a:r>
            <a:r>
              <a:rPr lang="en-US" altLang="ko-KR" sz="1000" dirty="0" smtClean="0">
                <a:latin typeface="+mj-lt"/>
              </a:rPr>
              <a:t>: </a:t>
            </a:r>
            <a:r>
              <a:rPr lang="ko-KR" altLang="en-US" sz="1000" dirty="0" smtClean="0">
                <a:latin typeface="+mj-lt"/>
              </a:rPr>
              <a:t>신규로 입력할 계획순번을 생성하고</a:t>
            </a:r>
            <a:r>
              <a:rPr lang="en-US" altLang="ko-KR" sz="1000" dirty="0" smtClean="0">
                <a:latin typeface="+mj-lt"/>
              </a:rPr>
              <a:t>, </a:t>
            </a:r>
            <a:r>
              <a:rPr lang="ko-KR" altLang="en-US" sz="1000" dirty="0" smtClean="0">
                <a:latin typeface="+mj-lt"/>
              </a:rPr>
              <a:t>입력 받습니다</a:t>
            </a:r>
            <a:r>
              <a:rPr lang="en-US" altLang="ko-KR" sz="1000" dirty="0" smtClean="0">
                <a:latin typeface="+mj-lt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>
                <a:latin typeface="+mj-lt"/>
              </a:rPr>
              <a:t>   - </a:t>
            </a:r>
            <a:r>
              <a:rPr lang="ko-KR" altLang="en-US" sz="1000" dirty="0" smtClean="0">
                <a:latin typeface="+mj-lt"/>
              </a:rPr>
              <a:t>저장 </a:t>
            </a:r>
            <a:r>
              <a:rPr lang="en-US" altLang="ko-KR" sz="1000" dirty="0" smtClean="0">
                <a:latin typeface="+mj-lt"/>
              </a:rPr>
              <a:t>: </a:t>
            </a:r>
            <a:r>
              <a:rPr lang="ko-KR" altLang="en-US" sz="1000" dirty="0" smtClean="0">
                <a:latin typeface="+mj-lt"/>
              </a:rPr>
              <a:t>기존내용을 수정하거나</a:t>
            </a:r>
            <a:r>
              <a:rPr lang="en-US" altLang="ko-KR" sz="1000" dirty="0" smtClean="0">
                <a:latin typeface="+mj-lt"/>
              </a:rPr>
              <a:t>, </a:t>
            </a:r>
            <a:r>
              <a:rPr lang="ko-KR" altLang="en-US" sz="1000" dirty="0" smtClean="0">
                <a:latin typeface="+mj-lt"/>
              </a:rPr>
              <a:t>신규로 </a:t>
            </a:r>
            <a:r>
              <a:rPr lang="ko-KR" altLang="en-US" sz="1000" dirty="0" err="1" smtClean="0">
                <a:latin typeface="+mj-lt"/>
              </a:rPr>
              <a:t>입력받은</a:t>
            </a:r>
            <a:r>
              <a:rPr lang="ko-KR" altLang="en-US" sz="1000" dirty="0" smtClean="0">
                <a:latin typeface="+mj-lt"/>
              </a:rPr>
              <a:t> 내용을 저장합니다</a:t>
            </a:r>
            <a:r>
              <a:rPr lang="en-US" altLang="ko-KR" sz="1000" dirty="0" smtClean="0">
                <a:latin typeface="+mj-lt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>
                <a:latin typeface="+mj-lt"/>
              </a:rPr>
              <a:t>   - </a:t>
            </a:r>
            <a:r>
              <a:rPr lang="ko-KR" altLang="en-US" sz="1000" dirty="0" smtClean="0">
                <a:latin typeface="+mj-lt"/>
              </a:rPr>
              <a:t>삭제 </a:t>
            </a:r>
            <a:r>
              <a:rPr lang="en-US" altLang="ko-KR" sz="1000" dirty="0" smtClean="0">
                <a:latin typeface="+mj-lt"/>
              </a:rPr>
              <a:t>: </a:t>
            </a:r>
            <a:r>
              <a:rPr lang="ko-KR" altLang="en-US" sz="1000" dirty="0" smtClean="0">
                <a:latin typeface="+mj-lt"/>
              </a:rPr>
              <a:t>계획목록에서 선택한 항목을 삭제합니다</a:t>
            </a:r>
            <a:r>
              <a:rPr lang="en-US" altLang="ko-KR" sz="1000" dirty="0" smtClean="0">
                <a:latin typeface="+mj-lt"/>
              </a:rPr>
              <a:t>.</a:t>
            </a:r>
          </a:p>
          <a:p>
            <a:pPr marL="228600" indent="-228600">
              <a:lnSpc>
                <a:spcPct val="120000"/>
              </a:lnSpc>
            </a:pPr>
            <a:r>
              <a:rPr lang="en-US" altLang="ko-KR" sz="1000" dirty="0" smtClean="0">
                <a:latin typeface="+mj-lt"/>
              </a:rPr>
              <a:t>   - </a:t>
            </a:r>
            <a:r>
              <a:rPr lang="ko-KR" altLang="en-US" sz="1000" dirty="0" smtClean="0">
                <a:latin typeface="+mj-lt"/>
              </a:rPr>
              <a:t>취소 </a:t>
            </a:r>
            <a:r>
              <a:rPr lang="en-US" altLang="ko-KR" sz="1000" dirty="0" smtClean="0">
                <a:latin typeface="+mj-lt"/>
              </a:rPr>
              <a:t>: </a:t>
            </a:r>
            <a:r>
              <a:rPr lang="ko-KR" altLang="en-US" sz="1000" dirty="0" smtClean="0">
                <a:latin typeface="+mj-lt"/>
              </a:rPr>
              <a:t>수정 혹은 신규로 입력하던 내용을 취소하고 되돌립니다</a:t>
            </a:r>
            <a:r>
              <a:rPr lang="en-US" altLang="ko-KR" sz="1000" dirty="0" smtClean="0">
                <a:latin typeface="+mj-lt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163" y="404664"/>
            <a:ext cx="16610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dirty="0" smtClean="0">
                <a:latin typeface="HY동녘M" pitchFamily="18" charset="-127"/>
                <a:ea typeface="HY동녘M" pitchFamily="18" charset="-127"/>
              </a:rPr>
              <a:t>3.</a:t>
            </a:r>
            <a:r>
              <a:rPr lang="ko-KR" altLang="en-US" sz="1200" dirty="0" smtClean="0">
                <a:latin typeface="HY동녘M" pitchFamily="18" charset="-127"/>
                <a:ea typeface="HY동녘M" pitchFamily="18" charset="-127"/>
              </a:rPr>
              <a:t>월중행사 및 계획표</a:t>
            </a:r>
            <a:endParaRPr lang="ko-KR" altLang="en-US" sz="1200" dirty="0">
              <a:latin typeface="HY동녘M" pitchFamily="18" charset="-127"/>
              <a:ea typeface="HY동녘M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rgbClr val="7030A0"/>
          </a:solidFill>
          <a:tailEnd type="stealt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7028</TotalTime>
  <Words>931</Words>
  <Application>Microsoft Office PowerPoint</Application>
  <PresentationFormat>A4 용지(210x297mm)</PresentationFormat>
  <Paragraphs>160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디자인 사용자 지정</vt:lpstr>
      <vt:lpstr>슬라이드 0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Registered User</dc:creator>
  <cp:lastModifiedBy>MCH_desk</cp:lastModifiedBy>
  <cp:revision>666</cp:revision>
  <dcterms:created xsi:type="dcterms:W3CDTF">2015-12-03T08:16:51Z</dcterms:created>
  <dcterms:modified xsi:type="dcterms:W3CDTF">2016-08-26T00:31:01Z</dcterms:modified>
</cp:coreProperties>
</file>