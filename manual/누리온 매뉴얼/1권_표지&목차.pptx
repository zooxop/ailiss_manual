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407" r:id="rId2"/>
    <p:sldId id="400" r:id="rId3"/>
  </p:sldIdLst>
  <p:sldSz cx="9906000" cy="6858000" type="A4"/>
  <p:notesSz cx="9144000" cy="6858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7262" autoAdjust="0"/>
    <p:restoredTop sz="94660" autoAdjust="0"/>
  </p:normalViewPr>
  <p:slideViewPr>
    <p:cSldViewPr>
      <p:cViewPr>
        <p:scale>
          <a:sx n="80" d="100"/>
          <a:sy n="80" d="100"/>
        </p:scale>
        <p:origin x="-2772" y="-858"/>
      </p:cViewPr>
      <p:guideLst>
        <p:guide orient="horz" pos="935"/>
        <p:guide pos="51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2" d="100"/>
          <a:sy n="92" d="100"/>
        </p:scale>
        <p:origin x="-1404" y="-102"/>
      </p:cViewPr>
      <p:guideLst>
        <p:guide orient="horz" pos="2160"/>
        <p:guide pos="288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E3BC38-6B88-48E1-946D-21E545C3368A}" type="datetimeFigureOut">
              <a:rPr lang="ko-KR" altLang="en-US" smtClean="0"/>
              <a:pPr/>
              <a:t>2016-08-04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F0EC1D-3534-4B3A-8CB3-E6F221D9FA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A33571-A313-4801-8FCB-C6EB3B94E46D}" type="datetimeFigureOut">
              <a:rPr lang="ko-KR" altLang="en-US" smtClean="0"/>
              <a:pPr/>
              <a:t>2016-08-04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714625" y="514350"/>
            <a:ext cx="371475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275355-C4FD-4FBD-9908-FB753DE1AAE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fld id="{FED36DFB-A57B-4746-B5E7-E11F8B1474F2}" type="datetimeFigureOut">
              <a:rPr lang="ko-KR" altLang="en-US" smtClean="0"/>
              <a:pPr/>
              <a:t>2016-08-04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D9B53-0516-4E5C-999F-1BAEBD0694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fld id="{FED36DFB-A57B-4746-B5E7-E11F8B1474F2}" type="datetimeFigureOut">
              <a:rPr lang="ko-KR" altLang="en-US" smtClean="0"/>
              <a:pPr/>
              <a:t>2016-08-04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D9B53-0516-4E5C-999F-1BAEBD0694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fld id="{FED36DFB-A57B-4746-B5E7-E11F8B1474F2}" type="datetimeFigureOut">
              <a:rPr lang="ko-KR" altLang="en-US" smtClean="0"/>
              <a:pPr/>
              <a:t>2016-08-04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D9B53-0516-4E5C-999F-1BAEBD0694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fld id="{FED36DFB-A57B-4746-B5E7-E11F8B1474F2}" type="datetimeFigureOut">
              <a:rPr lang="ko-KR" altLang="en-US" smtClean="0"/>
              <a:pPr/>
              <a:t>2016-08-04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D9B53-0516-4E5C-999F-1BAEBD0694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fld id="{FED36DFB-A57B-4746-B5E7-E11F8B1474F2}" type="datetimeFigureOut">
              <a:rPr lang="ko-KR" altLang="en-US" smtClean="0"/>
              <a:pPr/>
              <a:t>2016-08-04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D9B53-0516-4E5C-999F-1BAEBD0694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fld id="{FED36DFB-A57B-4746-B5E7-E11F8B1474F2}" type="datetimeFigureOut">
              <a:rPr lang="ko-KR" altLang="en-US" smtClean="0"/>
              <a:pPr/>
              <a:t>2016-08-04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D9B53-0516-4E5C-999F-1BAEBD0694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fld id="{FED36DFB-A57B-4746-B5E7-E11F8B1474F2}" type="datetimeFigureOut">
              <a:rPr lang="ko-KR" altLang="en-US" smtClean="0"/>
              <a:pPr/>
              <a:t>2016-08-04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D9B53-0516-4E5C-999F-1BAEBD0694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fld id="{FED36DFB-A57B-4746-B5E7-E11F8B1474F2}" type="datetimeFigureOut">
              <a:rPr lang="ko-KR" altLang="en-US" smtClean="0"/>
              <a:pPr/>
              <a:t>2016-08-04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D9B53-0516-4E5C-999F-1BAEBD0694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fld id="{FED36DFB-A57B-4746-B5E7-E11F8B1474F2}" type="datetimeFigureOut">
              <a:rPr lang="ko-KR" altLang="en-US" smtClean="0"/>
              <a:pPr/>
              <a:t>2016-08-04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D9B53-0516-4E5C-999F-1BAEBD0694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pattFill prst="dotGrid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그룹 8"/>
          <p:cNvGrpSpPr/>
          <p:nvPr userDrawn="1"/>
        </p:nvGrpSpPr>
        <p:grpSpPr>
          <a:xfrm>
            <a:off x="3367407" y="-434345"/>
            <a:ext cx="7142735" cy="3829023"/>
            <a:chOff x="2018199" y="-506915"/>
            <a:chExt cx="7756041" cy="4504283"/>
          </a:xfrm>
        </p:grpSpPr>
        <p:sp>
          <p:nvSpPr>
            <p:cNvPr id="10" name="평행 사변형 5"/>
            <p:cNvSpPr/>
            <p:nvPr/>
          </p:nvSpPr>
          <p:spPr>
            <a:xfrm rot="17707921">
              <a:off x="2874147" y="482805"/>
              <a:ext cx="1873550" cy="512790"/>
            </a:xfrm>
            <a:custGeom>
              <a:avLst/>
              <a:gdLst/>
              <a:ahLst/>
              <a:cxnLst/>
              <a:rect l="l" t="t" r="r" b="b"/>
              <a:pathLst>
                <a:path w="1873550" h="512790">
                  <a:moveTo>
                    <a:pt x="1632992" y="0"/>
                  </a:moveTo>
                  <a:lnTo>
                    <a:pt x="1873550" y="512790"/>
                  </a:lnTo>
                  <a:lnTo>
                    <a:pt x="0" y="512790"/>
                  </a:lnTo>
                  <a:lnTo>
                    <a:pt x="1517817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6"/>
            <p:cNvSpPr/>
            <p:nvPr/>
          </p:nvSpPr>
          <p:spPr>
            <a:xfrm rot="17707921">
              <a:off x="1993962" y="-389537"/>
              <a:ext cx="1632992" cy="1584518"/>
            </a:xfrm>
            <a:custGeom>
              <a:avLst/>
              <a:gdLst/>
              <a:ahLst/>
              <a:cxnLst/>
              <a:rect l="l" t="t" r="r" b="b"/>
              <a:pathLst>
                <a:path w="1632992" h="1584518">
                  <a:moveTo>
                    <a:pt x="889669" y="0"/>
                  </a:moveTo>
                  <a:lnTo>
                    <a:pt x="1632992" y="1584518"/>
                  </a:lnTo>
                  <a:lnTo>
                    <a:pt x="0" y="15845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7"/>
            <p:cNvSpPr/>
            <p:nvPr/>
          </p:nvSpPr>
          <p:spPr>
            <a:xfrm rot="17707921">
              <a:off x="3609711" y="55832"/>
              <a:ext cx="2616872" cy="1584518"/>
            </a:xfrm>
            <a:custGeom>
              <a:avLst/>
              <a:gdLst/>
              <a:ahLst/>
              <a:cxnLst/>
              <a:rect l="l" t="t" r="r" b="b"/>
              <a:pathLst>
                <a:path w="2616872" h="1584518">
                  <a:moveTo>
                    <a:pt x="1873549" y="0"/>
                  </a:moveTo>
                  <a:lnTo>
                    <a:pt x="2616872" y="1584518"/>
                  </a:lnTo>
                  <a:lnTo>
                    <a:pt x="0" y="15845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8"/>
            <p:cNvSpPr/>
            <p:nvPr/>
          </p:nvSpPr>
          <p:spPr>
            <a:xfrm rot="17707921">
              <a:off x="5225462" y="501203"/>
              <a:ext cx="3600754" cy="1584518"/>
            </a:xfrm>
            <a:custGeom>
              <a:avLst/>
              <a:gdLst/>
              <a:ahLst/>
              <a:cxnLst/>
              <a:rect l="l" t="t" r="r" b="b"/>
              <a:pathLst>
                <a:path w="3600754" h="1584518">
                  <a:moveTo>
                    <a:pt x="2857432" y="0"/>
                  </a:moveTo>
                  <a:lnTo>
                    <a:pt x="3600754" y="1584518"/>
                  </a:lnTo>
                  <a:lnTo>
                    <a:pt x="0" y="15845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9"/>
            <p:cNvSpPr/>
            <p:nvPr/>
          </p:nvSpPr>
          <p:spPr>
            <a:xfrm rot="17707921">
              <a:off x="7046488" y="1269616"/>
              <a:ext cx="3870984" cy="1584520"/>
            </a:xfrm>
            <a:custGeom>
              <a:avLst/>
              <a:gdLst/>
              <a:ahLst/>
              <a:cxnLst/>
              <a:rect l="l" t="t" r="r" b="b"/>
              <a:pathLst>
                <a:path w="3870984" h="1584520">
                  <a:moveTo>
                    <a:pt x="3841312" y="0"/>
                  </a:moveTo>
                  <a:lnTo>
                    <a:pt x="3870984" y="63252"/>
                  </a:lnTo>
                  <a:lnTo>
                    <a:pt x="628142" y="1584520"/>
                  </a:lnTo>
                  <a:lnTo>
                    <a:pt x="0" y="15845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평행 사변형 10"/>
            <p:cNvSpPr/>
            <p:nvPr/>
          </p:nvSpPr>
          <p:spPr>
            <a:xfrm rot="17707921">
              <a:off x="4489895" y="928173"/>
              <a:ext cx="2857430" cy="512791"/>
            </a:xfrm>
            <a:custGeom>
              <a:avLst/>
              <a:gdLst/>
              <a:ahLst/>
              <a:cxnLst/>
              <a:rect l="l" t="t" r="r" b="b"/>
              <a:pathLst>
                <a:path w="2857430" h="512791">
                  <a:moveTo>
                    <a:pt x="2616872" y="0"/>
                  </a:moveTo>
                  <a:lnTo>
                    <a:pt x="2857430" y="512791"/>
                  </a:lnTo>
                  <a:lnTo>
                    <a:pt x="0" y="512791"/>
                  </a:lnTo>
                  <a:lnTo>
                    <a:pt x="1517817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평행 사변형 11"/>
            <p:cNvSpPr/>
            <p:nvPr/>
          </p:nvSpPr>
          <p:spPr>
            <a:xfrm rot="17707921">
              <a:off x="6137133" y="1423096"/>
              <a:ext cx="3731838" cy="512791"/>
            </a:xfrm>
            <a:custGeom>
              <a:avLst/>
              <a:gdLst/>
              <a:ahLst/>
              <a:cxnLst/>
              <a:rect l="l" t="t" r="r" b="b"/>
              <a:pathLst>
                <a:path w="3731838" h="512791">
                  <a:moveTo>
                    <a:pt x="3600752" y="0"/>
                  </a:moveTo>
                  <a:lnTo>
                    <a:pt x="3731838" y="279432"/>
                  </a:lnTo>
                  <a:lnTo>
                    <a:pt x="3041114" y="512791"/>
                  </a:lnTo>
                  <a:lnTo>
                    <a:pt x="0" y="512791"/>
                  </a:lnTo>
                  <a:lnTo>
                    <a:pt x="1517817" y="1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xmlns="" val="13826396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800872" y="6492875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D9B53-0516-4E5C-999F-1BAEBD06949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3800872" y="6492875"/>
            <a:ext cx="2311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A07E4F-6DD0-4CC4-88B7-868E7B7710E0}" type="slidenum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" name="그림 7" descr="로고1.png"/>
          <p:cNvPicPr>
            <a:picLocks noChangeAspect="1"/>
          </p:cNvPicPr>
          <p:nvPr userDrawn="1"/>
        </p:nvPicPr>
        <p:blipFill>
          <a:blip r:embed="rId12" cstate="print"/>
          <a:srcRect l="23255" t="44750" r="23254" b="45800"/>
          <a:stretch>
            <a:fillRect/>
          </a:stretch>
        </p:blipFill>
        <p:spPr>
          <a:xfrm>
            <a:off x="7204298" y="6472386"/>
            <a:ext cx="1105808" cy="276452"/>
          </a:xfrm>
          <a:prstGeom prst="rect">
            <a:avLst/>
          </a:prstGeom>
        </p:spPr>
      </p:pic>
      <p:sp>
        <p:nvSpPr>
          <p:cNvPr id="9" name="모서리가 둥근 직사각형 8"/>
          <p:cNvSpPr/>
          <p:nvPr userDrawn="1"/>
        </p:nvSpPr>
        <p:spPr>
          <a:xfrm>
            <a:off x="200472" y="714356"/>
            <a:ext cx="9505056" cy="5738832"/>
          </a:xfrm>
          <a:prstGeom prst="roundRect">
            <a:avLst>
              <a:gd name="adj" fmla="val 2184"/>
            </a:avLst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Picture 4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272480" y="260648"/>
            <a:ext cx="1323906" cy="31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직선 연결선 10"/>
          <p:cNvCxnSpPr/>
          <p:nvPr userDrawn="1"/>
        </p:nvCxnSpPr>
        <p:spPr>
          <a:xfrm>
            <a:off x="1856656" y="302204"/>
            <a:ext cx="0" cy="230969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 userDrawn="1"/>
        </p:nvSpPr>
        <p:spPr>
          <a:xfrm>
            <a:off x="8265584" y="6530683"/>
            <a:ext cx="151195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>
                    <a:lumMod val="65000"/>
                  </a:schemeClr>
                </a:solidFill>
              </a:rPr>
              <a:t>Copyright </a:t>
            </a:r>
            <a:r>
              <a:rPr lang="en-US" altLang="ko-KR" sz="700" b="1" dirty="0" smtClean="0">
                <a:solidFill>
                  <a:schemeClr val="bg1">
                    <a:lumMod val="65000"/>
                  </a:schemeClr>
                </a:solidFill>
              </a:rPr>
              <a:t>ⓒ </a:t>
            </a:r>
            <a:r>
              <a:rPr lang="ko-KR" altLang="en-US" sz="700" b="1" dirty="0" smtClean="0">
                <a:solidFill>
                  <a:schemeClr val="bg1">
                    <a:lumMod val="65000"/>
                  </a:schemeClr>
                </a:solidFill>
              </a:rPr>
              <a:t>㈜ 아름누리메디컴</a:t>
            </a:r>
            <a:endParaRPr lang="ko-KR" altLang="en-US" sz="7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3" name="직사각형 12"/>
          <p:cNvSpPr/>
          <p:nvPr userDrawn="1"/>
        </p:nvSpPr>
        <p:spPr>
          <a:xfrm>
            <a:off x="1738290" y="214290"/>
            <a:ext cx="2723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dirty="0" smtClean="0">
                <a:latin typeface="HY동녘M" pitchFamily="18" charset="-127"/>
                <a:ea typeface="HY동녘M" pitchFamily="18" charset="-127"/>
              </a:rPr>
              <a:t>□ </a:t>
            </a:r>
            <a:r>
              <a:rPr lang="ko-KR" altLang="en-US" sz="1800" dirty="0" smtClean="0">
                <a:latin typeface="HY동녘M" pitchFamily="18" charset="-127"/>
                <a:ea typeface="HY동녘M" pitchFamily="18" charset="-127"/>
              </a:rPr>
              <a:t>메인화면 및 공통사항</a:t>
            </a:r>
            <a:endParaRPr lang="ko-KR" altLang="en-US" sz="1800" dirty="0">
              <a:latin typeface="HY동녘M" pitchFamily="18" charset="-127"/>
              <a:ea typeface="HY동녘M" pitchFamily="18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 descr="151008-누리온브로셔(표지)(인쇄)1.jpg"/>
          <p:cNvPicPr>
            <a:picLocks noChangeAspect="1"/>
          </p:cNvPicPr>
          <p:nvPr/>
        </p:nvPicPr>
        <p:blipFill>
          <a:blip r:embed="rId2" cstate="print"/>
          <a:srcRect b="2074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4488" y="4581128"/>
            <a:ext cx="2560866" cy="43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TextBox 20"/>
          <p:cNvSpPr txBox="1"/>
          <p:nvPr/>
        </p:nvSpPr>
        <p:spPr>
          <a:xfrm>
            <a:off x="344488" y="3861048"/>
            <a:ext cx="4176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Manual Vol.01</a:t>
            </a:r>
            <a:endParaRPr lang="ko-KR" altLang="en-US" sz="3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13590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65808" y="836712"/>
            <a:ext cx="221406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/>
            <a:r>
              <a:rPr lang="en-US" altLang="ko-KR" sz="1400" b="1" dirty="0" smtClean="0">
                <a:solidFill>
                  <a:srgbClr val="0070C0"/>
                </a:solidFill>
              </a:rPr>
              <a:t>Ⅰ. </a:t>
            </a:r>
            <a:r>
              <a:rPr lang="ko-KR" altLang="en-US" sz="1400" b="1" dirty="0" err="1" smtClean="0">
                <a:solidFill>
                  <a:srgbClr val="0070C0"/>
                </a:solidFill>
              </a:rPr>
              <a:t>메인화면</a:t>
            </a:r>
            <a:r>
              <a:rPr lang="ko-KR" altLang="en-US" sz="1400" b="1" dirty="0" smtClean="0">
                <a:solidFill>
                  <a:srgbClr val="0070C0"/>
                </a:solidFill>
              </a:rPr>
              <a:t> 및 공통사항</a:t>
            </a:r>
            <a:endParaRPr lang="en-US" altLang="ko-KR" sz="1400" dirty="0" smtClean="0">
              <a:solidFill>
                <a:srgbClr val="0070C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로그인</a:t>
            </a:r>
            <a:endParaRPr lang="en-US" altLang="ko-KR" sz="1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메인화면</a:t>
            </a:r>
            <a:endParaRPr lang="en-US" altLang="ko-KR" sz="1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월중행사 및 계획표</a:t>
            </a:r>
            <a:endParaRPr lang="en-US" altLang="ko-KR" sz="1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34" name="그룹 33"/>
          <p:cNvGrpSpPr/>
          <p:nvPr/>
        </p:nvGrpSpPr>
        <p:grpSpPr>
          <a:xfrm>
            <a:off x="992560" y="836712"/>
            <a:ext cx="1296144" cy="369332"/>
            <a:chOff x="2216696" y="404664"/>
            <a:chExt cx="1296144" cy="369332"/>
          </a:xfrm>
        </p:grpSpPr>
        <p:sp>
          <p:nvSpPr>
            <p:cNvPr id="32" name="직사각형 31"/>
            <p:cNvSpPr/>
            <p:nvPr/>
          </p:nvSpPr>
          <p:spPr>
            <a:xfrm>
              <a:off x="2216696" y="476672"/>
              <a:ext cx="72007" cy="28803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288704" y="404664"/>
              <a:ext cx="12241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>
                  <a:solidFill>
                    <a:srgbClr val="002060"/>
                  </a:solidFill>
                </a:rPr>
                <a:t>Contents</a:t>
              </a:r>
              <a:endParaRPr lang="ko-KR" altLang="en-US" b="1" dirty="0">
                <a:solidFill>
                  <a:srgbClr val="002060"/>
                </a:solidFill>
              </a:endParaR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2565808" y="1841916"/>
            <a:ext cx="2008883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/>
            <a:r>
              <a:rPr lang="en-US" altLang="ko-KR" sz="1400" b="1" dirty="0" smtClean="0">
                <a:solidFill>
                  <a:srgbClr val="0070C0"/>
                </a:solidFill>
              </a:rPr>
              <a:t>Ⅱ. </a:t>
            </a:r>
            <a:r>
              <a:rPr lang="ko-KR" altLang="en-US" sz="1400" b="1" dirty="0" smtClean="0">
                <a:solidFill>
                  <a:srgbClr val="0070C0"/>
                </a:solidFill>
              </a:rPr>
              <a:t>예약업무</a:t>
            </a:r>
            <a:endParaRPr lang="en-US" altLang="ko-KR" sz="1400" b="1" dirty="0" smtClean="0">
              <a:solidFill>
                <a:srgbClr val="0070C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예약관리</a:t>
            </a:r>
            <a:endParaRPr lang="en-US" altLang="ko-KR" sz="1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예약이력</a:t>
            </a:r>
            <a:endParaRPr lang="en-US" altLang="ko-KR" sz="1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예약현황</a:t>
            </a:r>
            <a:endParaRPr lang="en-US" altLang="ko-KR" sz="1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[</a:t>
            </a: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예약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]</a:t>
            </a: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장비설정관리</a:t>
            </a:r>
            <a:endParaRPr lang="en-US" altLang="ko-KR" sz="1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[</a:t>
            </a: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예약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]</a:t>
            </a: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장비스케줄관리</a:t>
            </a:r>
            <a:endParaRPr lang="en-US" altLang="ko-KR" sz="1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65808" y="3216452"/>
            <a:ext cx="1454244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/>
            <a:r>
              <a:rPr lang="en-US" altLang="ko-KR" sz="1400" b="1" dirty="0" smtClean="0">
                <a:solidFill>
                  <a:srgbClr val="0070C0"/>
                </a:solidFill>
              </a:rPr>
              <a:t>Ⅲ. </a:t>
            </a:r>
            <a:r>
              <a:rPr lang="ko-KR" altLang="en-US" sz="1400" b="1" dirty="0" smtClean="0">
                <a:solidFill>
                  <a:srgbClr val="0070C0"/>
                </a:solidFill>
              </a:rPr>
              <a:t>접수업무</a:t>
            </a:r>
            <a:endParaRPr lang="en-US" altLang="ko-KR" sz="1400" b="1" dirty="0" smtClean="0">
              <a:solidFill>
                <a:srgbClr val="0070C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접수관리</a:t>
            </a:r>
            <a:endParaRPr lang="en-US" altLang="ko-KR" sz="1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오더변경</a:t>
            </a:r>
            <a:endParaRPr lang="en-US" altLang="ko-KR" sz="1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학생접수</a:t>
            </a:r>
            <a:endParaRPr lang="en-US" altLang="ko-KR" sz="1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접수현황</a:t>
            </a:r>
            <a:endParaRPr lang="en-US" altLang="ko-KR" sz="1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묶음건수현황</a:t>
            </a:r>
            <a:endParaRPr lang="en-US" altLang="ko-KR" sz="1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65808" y="4590987"/>
            <a:ext cx="2387192" cy="19697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/>
            <a:r>
              <a:rPr lang="en-US" altLang="ko-KR" sz="1400" b="1" dirty="0" smtClean="0">
                <a:solidFill>
                  <a:srgbClr val="0070C0"/>
                </a:solidFill>
              </a:rPr>
              <a:t>Ⅳ. </a:t>
            </a:r>
            <a:r>
              <a:rPr lang="ko-KR" altLang="en-US" sz="1400" b="1" dirty="0" smtClean="0">
                <a:solidFill>
                  <a:srgbClr val="0070C0"/>
                </a:solidFill>
              </a:rPr>
              <a:t>청구관리</a:t>
            </a:r>
            <a:endParaRPr lang="en-US" altLang="ko-KR" sz="1400" b="1" dirty="0" smtClean="0">
              <a:solidFill>
                <a:srgbClr val="0070C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청구검진결과 성적확인</a:t>
            </a:r>
            <a:endParaRPr lang="en-US" altLang="ko-KR" sz="1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건강검진 청구파일 생성</a:t>
            </a:r>
            <a:endParaRPr lang="en-US" altLang="ko-KR" sz="1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건강검진 청구파일 확인</a:t>
            </a:r>
            <a:endParaRPr lang="en-US" altLang="ko-KR" sz="1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건보</a:t>
            </a: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청구파일 </a:t>
            </a:r>
            <a:r>
              <a:rPr lang="ko-KR" altLang="en-US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미생성</a:t>
            </a: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조회</a:t>
            </a:r>
            <a:endParaRPr lang="en-US" altLang="ko-KR" sz="1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사업장 청구 자료생성</a:t>
            </a:r>
            <a:endParaRPr lang="en-US" altLang="ko-KR" sz="1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청구사업장 조회</a:t>
            </a:r>
            <a:endParaRPr lang="en-US" altLang="ko-KR" sz="1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산보청구성적 확인</a:t>
            </a:r>
            <a:endParaRPr lang="en-US" altLang="ko-KR" sz="1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산보청구파일 생성</a:t>
            </a:r>
            <a:endParaRPr lang="en-US" altLang="ko-KR" sz="1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산보청구파일 확인</a:t>
            </a:r>
            <a:endParaRPr lang="en-US" altLang="ko-KR" sz="1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12320" y="836712"/>
            <a:ext cx="2239716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/>
            <a:r>
              <a:rPr lang="en-US" altLang="ko-KR" sz="1400" b="1" dirty="0" smtClean="0">
                <a:solidFill>
                  <a:srgbClr val="0070C0"/>
                </a:solidFill>
              </a:rPr>
              <a:t>Ⅴ. </a:t>
            </a:r>
            <a:r>
              <a:rPr lang="ko-KR" altLang="en-US" sz="1400" b="1" dirty="0" smtClean="0">
                <a:solidFill>
                  <a:srgbClr val="0070C0"/>
                </a:solidFill>
              </a:rPr>
              <a:t>수납업무</a:t>
            </a:r>
            <a:endParaRPr lang="en-US" altLang="ko-KR" sz="1400" b="1" dirty="0" smtClean="0">
              <a:solidFill>
                <a:srgbClr val="0070C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수납관리</a:t>
            </a:r>
            <a:endParaRPr lang="en-US" altLang="ko-KR" sz="1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수납조회환불</a:t>
            </a:r>
            <a:endParaRPr lang="en-US" altLang="ko-KR" sz="1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건보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산보 청구 일괄수납</a:t>
            </a:r>
            <a:endParaRPr lang="en-US" altLang="ko-KR" sz="1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수입일보</a:t>
            </a:r>
            <a:endParaRPr lang="en-US" altLang="ko-KR" sz="1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12320" y="2211248"/>
            <a:ext cx="150874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/>
            <a:r>
              <a:rPr lang="en-US" altLang="ko-KR" sz="1400" b="1" dirty="0" smtClean="0">
                <a:solidFill>
                  <a:srgbClr val="0070C0"/>
                </a:solidFill>
              </a:rPr>
              <a:t>Ⅵ. </a:t>
            </a:r>
            <a:r>
              <a:rPr lang="ko-KR" altLang="en-US" sz="1400" b="1" dirty="0" smtClean="0">
                <a:solidFill>
                  <a:srgbClr val="0070C0"/>
                </a:solidFill>
              </a:rPr>
              <a:t>결과업무</a:t>
            </a:r>
            <a:endParaRPr lang="en-US" altLang="ko-KR" sz="1400" b="1" dirty="0" smtClean="0">
              <a:solidFill>
                <a:srgbClr val="0070C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문진관리</a:t>
            </a:r>
            <a:endParaRPr lang="en-US" altLang="ko-KR" sz="1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검진결과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관리</a:t>
            </a:r>
            <a:endParaRPr lang="en-US" altLang="ko-KR" sz="1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미결과 리스트</a:t>
            </a:r>
            <a:endParaRPr lang="en-US" altLang="ko-KR" sz="1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12320" y="3401118"/>
            <a:ext cx="2164375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/>
            <a:r>
              <a:rPr lang="en-US" altLang="ko-KR" sz="1400" b="1" dirty="0" smtClean="0">
                <a:solidFill>
                  <a:srgbClr val="0070C0"/>
                </a:solidFill>
              </a:rPr>
              <a:t>Ⅶ. </a:t>
            </a:r>
            <a:r>
              <a:rPr lang="ko-KR" altLang="en-US" sz="1400" b="1" dirty="0" smtClean="0">
                <a:solidFill>
                  <a:srgbClr val="0070C0"/>
                </a:solidFill>
              </a:rPr>
              <a:t>판정업무</a:t>
            </a:r>
            <a:endParaRPr lang="en-US" altLang="ko-KR" sz="1400" b="1" dirty="0" smtClean="0">
              <a:solidFill>
                <a:srgbClr val="0070C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일반검진 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차 판정</a:t>
            </a:r>
            <a:endParaRPr lang="en-US" altLang="ko-KR" sz="1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일반검진 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차 판정</a:t>
            </a:r>
            <a:endParaRPr lang="en-US" altLang="ko-KR" sz="1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구강검진 판정</a:t>
            </a:r>
            <a:endParaRPr lang="en-US" altLang="ko-KR" sz="1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암검진</a:t>
            </a: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판정</a:t>
            </a:r>
            <a:endParaRPr lang="en-US" altLang="ko-KR" sz="1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일검</a:t>
            </a: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일괄결과확정</a:t>
            </a:r>
            <a:endParaRPr lang="en-US" altLang="ko-KR" sz="1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차 검진 대상자 리스트</a:t>
            </a:r>
            <a:endParaRPr lang="en-US" altLang="ko-KR" sz="1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12320" y="5144985"/>
            <a:ext cx="2541080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/>
            <a:r>
              <a:rPr lang="en-US" altLang="ko-KR" sz="1400" b="1" dirty="0" smtClean="0">
                <a:solidFill>
                  <a:srgbClr val="0070C0"/>
                </a:solidFill>
              </a:rPr>
              <a:t>Ⅷ. </a:t>
            </a:r>
            <a:r>
              <a:rPr lang="ko-KR" altLang="en-US" sz="1400" b="1" dirty="0" smtClean="0">
                <a:solidFill>
                  <a:srgbClr val="0070C0"/>
                </a:solidFill>
              </a:rPr>
              <a:t>출력</a:t>
            </a:r>
            <a:r>
              <a:rPr lang="en-US" altLang="ko-KR" sz="1400" b="1" dirty="0" smtClean="0">
                <a:solidFill>
                  <a:srgbClr val="0070C0"/>
                </a:solidFill>
              </a:rPr>
              <a:t>[</a:t>
            </a:r>
            <a:r>
              <a:rPr lang="ko-KR" altLang="en-US" sz="1400" b="1" dirty="0" smtClean="0">
                <a:solidFill>
                  <a:srgbClr val="0070C0"/>
                </a:solidFill>
              </a:rPr>
              <a:t>건강보험공단</a:t>
            </a:r>
            <a:r>
              <a:rPr lang="en-US" altLang="ko-KR" sz="1400" b="1" dirty="0" smtClean="0">
                <a:solidFill>
                  <a:srgbClr val="0070C0"/>
                </a:solidFill>
              </a:rPr>
              <a:t>] </a:t>
            </a:r>
            <a:r>
              <a:rPr lang="ko-KR" altLang="en-US" sz="1400" b="1" dirty="0" smtClean="0">
                <a:solidFill>
                  <a:srgbClr val="0070C0"/>
                </a:solidFill>
              </a:rPr>
              <a:t>업무</a:t>
            </a:r>
            <a:endParaRPr lang="en-US" altLang="ko-KR" sz="1400" b="1" dirty="0" smtClean="0">
              <a:solidFill>
                <a:srgbClr val="0070C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흉부 방사선 필름판독 소견서</a:t>
            </a:r>
            <a:endParaRPr lang="en-US" altLang="ko-KR" sz="1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건강검진 결과통보서 출력</a:t>
            </a:r>
            <a:endParaRPr lang="en-US" altLang="ko-KR" sz="1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건강 진단 사후관리 소견서</a:t>
            </a:r>
            <a:endParaRPr lang="en-US" altLang="ko-KR" sz="1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일반 건강진단 결과표</a:t>
            </a:r>
            <a:endParaRPr lang="en-US" altLang="ko-KR" sz="1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기타 검진 </a:t>
            </a:r>
            <a:r>
              <a:rPr lang="ko-KR" altLang="en-US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출력지</a:t>
            </a:r>
            <a:endParaRPr lang="en-US" altLang="ko-KR" sz="1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발송대장</a:t>
            </a:r>
            <a:endParaRPr lang="en-US" altLang="ko-KR" sz="1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solidFill>
            <a:srgbClr val="7030A0"/>
          </a:solidFill>
          <a:tailEnd type="stealth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7207</TotalTime>
  <Words>127</Words>
  <Application>Microsoft Office PowerPoint</Application>
  <PresentationFormat>A4 용지(210x297mm)</PresentationFormat>
  <Paragraphs>51</Paragraphs>
  <Slides>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디자인 사용자 지정</vt:lpstr>
      <vt:lpstr>슬라이드 1</vt:lpstr>
      <vt:lpstr>슬라이드 2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Registered User</dc:creator>
  <cp:lastModifiedBy>MCH_desk</cp:lastModifiedBy>
  <cp:revision>665</cp:revision>
  <dcterms:created xsi:type="dcterms:W3CDTF">2015-12-03T08:16:51Z</dcterms:created>
  <dcterms:modified xsi:type="dcterms:W3CDTF">2016-08-04T05:40:46Z</dcterms:modified>
</cp:coreProperties>
</file>